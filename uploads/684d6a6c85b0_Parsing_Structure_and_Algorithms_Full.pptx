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2" r:id="rId5"/>
    <p:sldId id="273" r:id="rId6"/>
    <p:sldId id="274" r:id="rId7"/>
    <p:sldId id="275" r:id="rId8"/>
    <p:sldId id="276" r:id="rId9"/>
    <p:sldId id="257" r:id="rId10"/>
    <p:sldId id="258" r:id="rId11"/>
    <p:sldId id="259" r:id="rId12"/>
    <p:sldId id="277" r:id="rId13"/>
    <p:sldId id="260" r:id="rId14"/>
    <p:sldId id="261" r:id="rId15"/>
    <p:sldId id="278" r:id="rId16"/>
    <p:sldId id="280" r:id="rId17"/>
    <p:sldId id="281" r:id="rId18"/>
    <p:sldId id="279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Example: “The operations of the three products vary widely.” Summary: “The operations of the products vary.”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Breakdown of the Nameen: Language (English).core: Capabilities (includes vocabulary, syntax, entities, and vectors).web: Genre (trained on blogs, news, and online articles).</a:t>
            </a:r>
            <a:endParaRPr lang="en-US" altLang="en-US" dirty="0"/>
          </a:p>
          <a:p>
            <a:r>
              <a:rPr lang="en-US" altLang="en-US" dirty="0"/>
              <a:t>sm: Size (Small; does not include real word vectors, only context tensors).Other Available SizesYou can swap sm in the name to load larger, more accurate models:en_core_web_md: Medium size (includes real word vectors).</a:t>
            </a:r>
            <a:endParaRPr lang="en-US" altLang="en-US" dirty="0"/>
          </a:p>
          <a:p>
            <a:r>
              <a:rPr lang="en-US" altLang="en-US" dirty="0"/>
              <a:t>en_core_web_lg: Large size (more accurate, larger vocabulary).</a:t>
            </a:r>
            <a:endParaRPr lang="en-US" altLang="en-US" dirty="0"/>
          </a:p>
          <a:p>
            <a:r>
              <a:rPr lang="en-US" altLang="en-US" dirty="0"/>
              <a:t>en_core_web_trf: Transformer-based (highest accuracy, requires GPU, very slow on CPU).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The big dog chased the cat 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514" y="299165"/>
            <a:ext cx="10863792" cy="1909763"/>
          </a:xfrm>
        </p:spPr>
        <p:txBody>
          <a:bodyPr lIns="0" tIns="0" rIns="0" bIns="0"/>
          <a:lstStyle>
            <a:lvl1pPr>
              <a:defRPr sz="3250" b="0" i="0">
                <a:solidFill>
                  <a:srgbClr val="403B4E"/>
                </a:solidFill>
                <a:latin typeface="Malgun Gothic Semilight" panose="020B0502040204020203" charset="-122"/>
                <a:cs typeface="Malgun Gothic Semilight" panose="020B0502040204020203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00" y="1186209"/>
            <a:ext cx="6293548" cy="2334717"/>
          </a:xfrm>
        </p:spPr>
        <p:txBody>
          <a:bodyPr lIns="0" tIns="0" rIns="0" bIns="0"/>
          <a:lstStyle>
            <a:lvl1pPr>
              <a:defRPr sz="2665" b="0" i="0">
                <a:solidFill>
                  <a:srgbClr val="403B4E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48640"/>
            <a:ext cx="2560320" cy="2560320"/>
          </a:xfrm>
          <a:prstGeom prst="ellipse">
            <a:avLst/>
          </a:prstGeom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-411480"/>
            <a:ext cx="4480560" cy="4480560"/>
          </a:xfrm>
          <a:prstGeom prst="ellipse">
            <a:avLst/>
          </a:prstGeom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371600"/>
            <a:ext cx="6400800" cy="6400800"/>
          </a:xfrm>
          <a:prstGeom prst="ellipse">
            <a:avLst/>
          </a:prstGeom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0" y="-2331720"/>
            <a:ext cx="8321040" cy="8321040"/>
          </a:xfrm>
          <a:prstGeom prst="ellipse">
            <a:avLst/>
          </a:prstGeom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 · UNIT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96012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Representing &amp; Parsing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Syntactic Structure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graphs, phrase structure trees, and the algorithms that build them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800600"/>
            <a:ext cx="1005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Dependency Trees · Phrase Structure · spaCy · Shift-Reduce · CYK / CNF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206883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1087" y="2945193"/>
            <a:ext cx="3297238" cy="5092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spc="254" dirty="0"/>
              <a:t> </a:t>
            </a:r>
            <a:r>
              <a:rPr spc="85" dirty="0"/>
              <a:t>is</a:t>
            </a:r>
            <a:r>
              <a:rPr spc="645" dirty="0"/>
              <a:t> </a:t>
            </a:r>
            <a:r>
              <a:rPr spc="160" dirty="0"/>
              <a:t>Pars</a:t>
            </a:r>
            <a:r>
              <a:rPr spc="-520" dirty="0"/>
              <a:t> </a:t>
            </a:r>
            <a:r>
              <a:rPr spc="90" dirty="0"/>
              <a:t>ing?</a:t>
            </a:r>
            <a:endParaRPr spc="90" dirty="0"/>
          </a:p>
        </p:txBody>
      </p:sp>
      <p:sp>
        <p:nvSpPr>
          <p:cNvPr id="4" name="object 4"/>
          <p:cNvSpPr/>
          <p:nvPr/>
        </p:nvSpPr>
        <p:spPr>
          <a:xfrm>
            <a:off x="664844" y="3743325"/>
            <a:ext cx="3513138" cy="2206096"/>
          </a:xfrm>
          <a:custGeom>
            <a:avLst/>
            <a:gdLst/>
            <a:ahLst/>
            <a:cxnLst/>
            <a:rect l="l" t="t" r="r" b="b"/>
            <a:pathLst>
              <a:path w="4215765" h="2647315">
                <a:moveTo>
                  <a:pt x="0" y="83312"/>
                </a:moveTo>
                <a:lnTo>
                  <a:pt x="6549" y="50899"/>
                </a:lnTo>
                <a:lnTo>
                  <a:pt x="24409" y="24415"/>
                </a:lnTo>
                <a:lnTo>
                  <a:pt x="50899" y="6552"/>
                </a:lnTo>
                <a:lnTo>
                  <a:pt x="83337" y="0"/>
                </a:lnTo>
                <a:lnTo>
                  <a:pt x="4132072" y="0"/>
                </a:lnTo>
                <a:lnTo>
                  <a:pt x="4164484" y="6552"/>
                </a:lnTo>
                <a:lnTo>
                  <a:pt x="4190968" y="24415"/>
                </a:lnTo>
                <a:lnTo>
                  <a:pt x="4208831" y="50899"/>
                </a:lnTo>
                <a:lnTo>
                  <a:pt x="4215384" y="83312"/>
                </a:lnTo>
                <a:lnTo>
                  <a:pt x="4215384" y="2563850"/>
                </a:lnTo>
                <a:lnTo>
                  <a:pt x="4208831" y="2596288"/>
                </a:lnTo>
                <a:lnTo>
                  <a:pt x="4190968" y="2622778"/>
                </a:lnTo>
                <a:lnTo>
                  <a:pt x="4164484" y="2640638"/>
                </a:lnTo>
                <a:lnTo>
                  <a:pt x="4132072" y="2647188"/>
                </a:lnTo>
                <a:lnTo>
                  <a:pt x="83337" y="2647188"/>
                </a:lnTo>
                <a:lnTo>
                  <a:pt x="50899" y="2640638"/>
                </a:lnTo>
                <a:lnTo>
                  <a:pt x="24409" y="2622778"/>
                </a:lnTo>
                <a:lnTo>
                  <a:pt x="6549" y="2596288"/>
                </a:lnTo>
                <a:lnTo>
                  <a:pt x="0" y="2563850"/>
                </a:lnTo>
                <a:lnTo>
                  <a:pt x="0" y="83312"/>
                </a:lnTo>
                <a:close/>
              </a:path>
            </a:pathLst>
          </a:custGeom>
          <a:ln w="22859">
            <a:solidFill>
              <a:srgbClr val="E4BDB1"/>
            </a:solidFill>
          </a:ln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5" name="object 5"/>
          <p:cNvSpPr txBox="1"/>
          <p:nvPr/>
        </p:nvSpPr>
        <p:spPr>
          <a:xfrm>
            <a:off x="835490" y="3902244"/>
            <a:ext cx="3141133" cy="1708150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25" spc="40" dirty="0">
                <a:solidFill>
                  <a:srgbClr val="403B4E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Definition</a:t>
            </a:r>
            <a:endParaRPr sz="1625">
              <a:latin typeface="Malgun Gothic Semilight" panose="020B0502040204020203" charset="-122"/>
              <a:cs typeface="Malgun Gothic Semilight" panose="020B0502040204020203" charset="-122"/>
            </a:endParaRPr>
          </a:p>
          <a:p>
            <a:pPr marL="12700" marR="5080">
              <a:lnSpc>
                <a:spcPct val="135000"/>
              </a:lnSpc>
              <a:spcBef>
                <a:spcPts val="870"/>
              </a:spcBef>
            </a:pPr>
            <a:r>
              <a:rPr sz="129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Parsing</a:t>
            </a:r>
            <a:r>
              <a:rPr sz="1290" spc="9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analyzes</a:t>
            </a:r>
            <a:r>
              <a:rPr sz="129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290" spc="10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grammatical </a:t>
            </a:r>
            <a:r>
              <a:rPr sz="129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structure</a:t>
            </a:r>
            <a:r>
              <a:rPr sz="1290" spc="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290" spc="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 sentence</a:t>
            </a:r>
            <a:r>
              <a:rPr sz="129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figure</a:t>
            </a:r>
            <a:r>
              <a:rPr sz="129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out</a:t>
            </a:r>
            <a:r>
              <a:rPr sz="129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how </a:t>
            </a:r>
            <a:r>
              <a:rPr sz="129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words</a:t>
            </a:r>
            <a:r>
              <a:rPr sz="1290" spc="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relate</a:t>
            </a:r>
            <a:r>
              <a:rPr sz="1290" spc="-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29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each</a:t>
            </a:r>
            <a:r>
              <a:rPr sz="1290" spc="-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other.</a:t>
            </a:r>
            <a:r>
              <a:rPr sz="1290" spc="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-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It</a:t>
            </a:r>
            <a:r>
              <a:rPr sz="1290" spc="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identifies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subjects,</a:t>
            </a:r>
            <a:r>
              <a:rPr sz="1290" spc="8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verbs,</a:t>
            </a:r>
            <a:r>
              <a:rPr sz="129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objects,</a:t>
            </a:r>
            <a:r>
              <a:rPr sz="129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129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their </a:t>
            </a:r>
            <a:r>
              <a:rPr sz="129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connections.</a:t>
            </a:r>
            <a:endParaRPr sz="129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41495" y="3743325"/>
            <a:ext cx="3513138" cy="2206096"/>
          </a:xfrm>
          <a:custGeom>
            <a:avLst/>
            <a:gdLst/>
            <a:ahLst/>
            <a:cxnLst/>
            <a:rect l="l" t="t" r="r" b="b"/>
            <a:pathLst>
              <a:path w="4215765" h="2647315">
                <a:moveTo>
                  <a:pt x="0" y="83312"/>
                </a:moveTo>
                <a:lnTo>
                  <a:pt x="6552" y="50899"/>
                </a:lnTo>
                <a:lnTo>
                  <a:pt x="24415" y="24415"/>
                </a:lnTo>
                <a:lnTo>
                  <a:pt x="50899" y="6552"/>
                </a:lnTo>
                <a:lnTo>
                  <a:pt x="83311" y="0"/>
                </a:lnTo>
                <a:lnTo>
                  <a:pt x="4132072" y="0"/>
                </a:lnTo>
                <a:lnTo>
                  <a:pt x="4164484" y="6552"/>
                </a:lnTo>
                <a:lnTo>
                  <a:pt x="4190968" y="24415"/>
                </a:lnTo>
                <a:lnTo>
                  <a:pt x="4208831" y="50899"/>
                </a:lnTo>
                <a:lnTo>
                  <a:pt x="4215383" y="83312"/>
                </a:lnTo>
                <a:lnTo>
                  <a:pt x="4215383" y="2563850"/>
                </a:lnTo>
                <a:lnTo>
                  <a:pt x="4208831" y="2596288"/>
                </a:lnTo>
                <a:lnTo>
                  <a:pt x="4190968" y="2622778"/>
                </a:lnTo>
                <a:lnTo>
                  <a:pt x="4164484" y="2640638"/>
                </a:lnTo>
                <a:lnTo>
                  <a:pt x="4132072" y="2647188"/>
                </a:lnTo>
                <a:lnTo>
                  <a:pt x="83311" y="2647188"/>
                </a:lnTo>
                <a:lnTo>
                  <a:pt x="50899" y="2640638"/>
                </a:lnTo>
                <a:lnTo>
                  <a:pt x="24415" y="2622778"/>
                </a:lnTo>
                <a:lnTo>
                  <a:pt x="6552" y="2596288"/>
                </a:lnTo>
                <a:lnTo>
                  <a:pt x="0" y="2563850"/>
                </a:lnTo>
                <a:lnTo>
                  <a:pt x="0" y="83312"/>
                </a:lnTo>
                <a:close/>
              </a:path>
            </a:pathLst>
          </a:custGeom>
          <a:ln w="22860">
            <a:solidFill>
              <a:srgbClr val="E4BDB1"/>
            </a:solidFill>
          </a:ln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7" name="object 7"/>
          <p:cNvSpPr txBox="1"/>
          <p:nvPr/>
        </p:nvSpPr>
        <p:spPr>
          <a:xfrm>
            <a:off x="4514638" y="3902244"/>
            <a:ext cx="2661179" cy="935355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25" spc="70" dirty="0">
                <a:solidFill>
                  <a:srgbClr val="403B4E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Example</a:t>
            </a:r>
            <a:endParaRPr sz="1625">
              <a:latin typeface="Malgun Gothic Semilight" panose="020B0502040204020203" charset="-122"/>
              <a:cs typeface="Malgun Gothic Semilight" panose="020B0502040204020203" charset="-122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29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1290" spc="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"The</a:t>
            </a:r>
            <a:r>
              <a:rPr sz="129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boy</a:t>
            </a:r>
            <a:r>
              <a:rPr sz="1290" spc="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eats</a:t>
            </a:r>
            <a:r>
              <a:rPr sz="1290" spc="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</a:t>
            </a:r>
            <a:r>
              <a:rPr sz="1290" spc="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apple,"</a:t>
            </a:r>
            <a:r>
              <a:rPr sz="1290" spc="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parsing</a:t>
            </a:r>
            <a:endParaRPr sz="129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9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identifies:</a:t>
            </a:r>
            <a:endParaRPr sz="129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4637" y="4938818"/>
            <a:ext cx="2824691" cy="1038860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Subject</a:t>
            </a:r>
            <a:r>
              <a:rPr sz="1290" spc="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(Noun</a:t>
            </a:r>
            <a:r>
              <a:rPr sz="1290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Phrase):</a:t>
            </a:r>
            <a:r>
              <a:rPr sz="1290" spc="114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"The</a:t>
            </a:r>
            <a:r>
              <a:rPr sz="1290" spc="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boy"</a:t>
            </a:r>
            <a:endParaRPr sz="1290">
              <a:latin typeface="Tahoma" panose="020B0604030504040204"/>
              <a:cs typeface="Tahoma" panose="020B0604030504040204"/>
            </a:endParaRPr>
          </a:p>
          <a:p>
            <a:pPr marL="355600" indent="-342900">
              <a:lnSpc>
                <a:spcPct val="100000"/>
              </a:lnSpc>
              <a:spcBef>
                <a:spcPts val="1190"/>
              </a:spcBef>
              <a:buChar char="•"/>
              <a:tabLst>
                <a:tab pos="355600" algn="l"/>
              </a:tabLst>
            </a:pPr>
            <a:r>
              <a:rPr sz="129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Predicate</a:t>
            </a:r>
            <a:r>
              <a:rPr sz="1290" spc="-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(Verb</a:t>
            </a:r>
            <a:r>
              <a:rPr sz="1290" spc="-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Phrase):</a:t>
            </a:r>
            <a:r>
              <a:rPr sz="129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"eats </a:t>
            </a:r>
            <a:r>
              <a:rPr sz="1290" spc="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</a:t>
            </a:r>
            <a:endParaRPr sz="1290">
              <a:latin typeface="Tahoma" panose="020B0604030504040204"/>
              <a:cs typeface="Tahoma" panose="020B0604030504040204"/>
            </a:endParaRPr>
          </a:p>
          <a:p>
            <a:pPr marL="355600">
              <a:lnSpc>
                <a:spcPct val="100000"/>
              </a:lnSpc>
              <a:spcBef>
                <a:spcPts val="660"/>
              </a:spcBef>
            </a:pPr>
            <a:r>
              <a:rPr sz="129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apple"</a:t>
            </a:r>
            <a:endParaRPr sz="129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18144" y="3743325"/>
            <a:ext cx="3513138" cy="2206096"/>
          </a:xfrm>
          <a:custGeom>
            <a:avLst/>
            <a:gdLst/>
            <a:ahLst/>
            <a:cxnLst/>
            <a:rect l="l" t="t" r="r" b="b"/>
            <a:pathLst>
              <a:path w="4215765" h="2647315">
                <a:moveTo>
                  <a:pt x="0" y="83312"/>
                </a:moveTo>
                <a:lnTo>
                  <a:pt x="6552" y="50899"/>
                </a:lnTo>
                <a:lnTo>
                  <a:pt x="24415" y="24415"/>
                </a:lnTo>
                <a:lnTo>
                  <a:pt x="50899" y="6552"/>
                </a:lnTo>
                <a:lnTo>
                  <a:pt x="83311" y="0"/>
                </a:lnTo>
                <a:lnTo>
                  <a:pt x="4132072" y="0"/>
                </a:lnTo>
                <a:lnTo>
                  <a:pt x="4164484" y="6552"/>
                </a:lnTo>
                <a:lnTo>
                  <a:pt x="4190968" y="24415"/>
                </a:lnTo>
                <a:lnTo>
                  <a:pt x="4208831" y="50899"/>
                </a:lnTo>
                <a:lnTo>
                  <a:pt x="4215383" y="83312"/>
                </a:lnTo>
                <a:lnTo>
                  <a:pt x="4215383" y="2563850"/>
                </a:lnTo>
                <a:lnTo>
                  <a:pt x="4208831" y="2596288"/>
                </a:lnTo>
                <a:lnTo>
                  <a:pt x="4190968" y="2622778"/>
                </a:lnTo>
                <a:lnTo>
                  <a:pt x="4164484" y="2640638"/>
                </a:lnTo>
                <a:lnTo>
                  <a:pt x="4132072" y="2647188"/>
                </a:lnTo>
                <a:lnTo>
                  <a:pt x="83311" y="2647188"/>
                </a:lnTo>
                <a:lnTo>
                  <a:pt x="50899" y="2640638"/>
                </a:lnTo>
                <a:lnTo>
                  <a:pt x="24415" y="2622778"/>
                </a:lnTo>
                <a:lnTo>
                  <a:pt x="6552" y="2596288"/>
                </a:lnTo>
                <a:lnTo>
                  <a:pt x="0" y="2563850"/>
                </a:lnTo>
                <a:lnTo>
                  <a:pt x="0" y="83312"/>
                </a:lnTo>
                <a:close/>
              </a:path>
            </a:pathLst>
          </a:custGeom>
          <a:ln w="22860">
            <a:solidFill>
              <a:srgbClr val="E4BDB1"/>
            </a:solidFill>
          </a:ln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10" name="object 10"/>
          <p:cNvSpPr txBox="1"/>
          <p:nvPr/>
        </p:nvSpPr>
        <p:spPr>
          <a:xfrm>
            <a:off x="8194146" y="3902244"/>
            <a:ext cx="3136371" cy="1433830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25" dirty="0">
                <a:solidFill>
                  <a:srgbClr val="403B4E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Grammar</a:t>
            </a:r>
            <a:r>
              <a:rPr sz="1625" spc="229" dirty="0">
                <a:solidFill>
                  <a:srgbClr val="403B4E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625" spc="60" dirty="0">
                <a:solidFill>
                  <a:srgbClr val="403B4E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Rules</a:t>
            </a:r>
            <a:endParaRPr sz="1625">
              <a:latin typeface="Malgun Gothic Semilight" panose="020B0502040204020203" charset="-122"/>
              <a:cs typeface="Malgun Gothic Semilight" panose="020B0502040204020203" charset="-122"/>
            </a:endParaRPr>
          </a:p>
          <a:p>
            <a:pPr marL="12700" marR="5080">
              <a:lnSpc>
                <a:spcPct val="134000"/>
              </a:lnSpc>
              <a:spcBef>
                <a:spcPts val="875"/>
              </a:spcBef>
            </a:pPr>
            <a:r>
              <a:rPr sz="129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Parsing</a:t>
            </a:r>
            <a:r>
              <a:rPr sz="1290" spc="-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enforces</a:t>
            </a:r>
            <a:r>
              <a:rPr sz="129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grammar</a:t>
            </a:r>
            <a:r>
              <a:rPr sz="1290" spc="-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rules. </a:t>
            </a:r>
            <a:r>
              <a:rPr sz="129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"The </a:t>
            </a:r>
            <a:r>
              <a:rPr sz="129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school</a:t>
            </a:r>
            <a:r>
              <a:rPr sz="129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goes</a:t>
            </a:r>
            <a:r>
              <a:rPr sz="1290" spc="1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29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boy"</a:t>
            </a:r>
            <a:r>
              <a:rPr sz="1290" spc="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fails</a:t>
            </a:r>
            <a:r>
              <a:rPr sz="129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parsing</a:t>
            </a:r>
            <a:r>
              <a:rPr sz="129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because </a:t>
            </a:r>
            <a:r>
              <a:rPr sz="12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it</a:t>
            </a:r>
            <a:r>
              <a:rPr sz="1290" spc="-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doesn't</a:t>
            </a:r>
            <a:r>
              <a:rPr sz="129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follow</a:t>
            </a:r>
            <a:r>
              <a:rPr sz="1290" spc="-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correct</a:t>
            </a:r>
            <a:r>
              <a:rPr sz="1290" spc="-1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9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grammatical </a:t>
            </a:r>
            <a:r>
              <a:rPr sz="129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structure.</a:t>
            </a:r>
            <a:endParaRPr sz="129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7839" y="6438899"/>
            <a:ext cx="280416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387839" y="6438899"/>
            <a:ext cx="2804160" cy="4191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0875" y="340995"/>
            <a:ext cx="6805295" cy="567690"/>
          </a:xfrm>
          <a:prstGeom prst="rect">
            <a:avLst/>
          </a:prstGeom>
        </p:spPr>
        <p:txBody>
          <a:bodyPr vert="horz" wrap="square" lIns="0" tIns="142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b="1" dirty="0">
                <a:latin typeface="Arial" panose="020B0604020202020204"/>
                <a:cs typeface="Arial" panose="020B0604020202020204"/>
              </a:rPr>
              <a:t>Why</a:t>
            </a:r>
            <a:r>
              <a:rPr sz="3600" b="1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3600" b="1" dirty="0">
                <a:latin typeface="Arial" panose="020B0604020202020204"/>
                <a:cs typeface="Arial" panose="020B0604020202020204"/>
              </a:rPr>
              <a:t>Do</a:t>
            </a:r>
            <a:r>
              <a:rPr sz="3600" b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3600" b="1" dirty="0">
                <a:latin typeface="Arial" panose="020B0604020202020204"/>
                <a:cs typeface="Arial" panose="020B0604020202020204"/>
              </a:rPr>
              <a:t>We</a:t>
            </a:r>
            <a:r>
              <a:rPr sz="36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3600" b="1" spc="-10" dirty="0">
                <a:latin typeface="Arial" panose="020B0604020202020204"/>
                <a:cs typeface="Arial" panose="020B0604020202020204"/>
              </a:rPr>
              <a:t>Parse?</a:t>
            </a:r>
            <a:endParaRPr sz="3600" b="1"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175" y="1999615"/>
            <a:ext cx="4565015" cy="3784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Understanding</a:t>
            </a:r>
            <a:r>
              <a:rPr sz="2400" b="1" spc="-60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Meaning</a:t>
            </a:r>
            <a:endParaRPr sz="2400" b="1" spc="-10" dirty="0">
              <a:solidFill>
                <a:srgbClr val="2E5496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595" y="2609215"/>
            <a:ext cx="4379595" cy="467360"/>
          </a:xfrm>
          <a:prstGeom prst="rect">
            <a:avLst/>
          </a:prstGeom>
        </p:spPr>
        <p:txBody>
          <a:bodyPr vert="horz" wrap="square" lIns="0" tIns="10054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"Ali</a:t>
            </a:r>
            <a:r>
              <a:rPr sz="1600" spc="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eats</a:t>
            </a:r>
            <a:r>
              <a:rPr sz="1600" spc="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</a:t>
            </a:r>
            <a:r>
              <a:rPr sz="160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apple"</a:t>
            </a:r>
            <a:r>
              <a:rPr sz="1600" spc="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-254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≠</a:t>
            </a:r>
            <a:r>
              <a:rPr sz="1600" spc="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"An</a:t>
            </a:r>
            <a:r>
              <a:rPr sz="1600" spc="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apple</a:t>
            </a:r>
            <a:r>
              <a:rPr sz="1600" spc="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eats</a:t>
            </a:r>
            <a:r>
              <a:rPr sz="1600" spc="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Ali"</a:t>
            </a:r>
            <a:endParaRPr sz="1600" spc="-20" dirty="0">
              <a:solidFill>
                <a:srgbClr val="403B4E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387" y="3113512"/>
            <a:ext cx="5201179" cy="1271905"/>
          </a:xfrm>
          <a:prstGeom prst="rect">
            <a:avLst/>
          </a:prstGeom>
        </p:spPr>
        <p:txBody>
          <a:bodyPr vert="horz" wrap="square" lIns="0" tIns="799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Same</a:t>
            </a:r>
            <a:r>
              <a:rPr spc="114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words,</a:t>
            </a:r>
            <a:r>
              <a:rPr spc="1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different</a:t>
            </a:r>
            <a:r>
              <a:rPr spc="2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structure</a:t>
            </a:r>
            <a:r>
              <a:rPr spc="1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creates</a:t>
            </a:r>
            <a:r>
              <a:rPr spc="9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entirely</a:t>
            </a:r>
            <a:r>
              <a:rPr spc="1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different</a:t>
            </a:r>
            <a:r>
              <a:rPr spc="2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meanings.</a:t>
            </a:r>
            <a:endParaRPr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Parsing</a:t>
            </a:r>
            <a:r>
              <a:rPr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helps</a:t>
            </a:r>
            <a:r>
              <a:rPr spc="-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computers</a:t>
            </a:r>
            <a:r>
              <a:rPr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understand</a:t>
            </a:r>
            <a:r>
              <a:rPr spc="8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these</a:t>
            </a:r>
            <a:r>
              <a:rPr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differences.</a:t>
            </a:r>
            <a:endParaRPr spc="-10" dirty="0">
              <a:solidFill>
                <a:srgbClr val="403B4E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3190" y="2098675"/>
            <a:ext cx="4561840" cy="3784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spc="-20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Foundation</a:t>
            </a:r>
            <a:r>
              <a:rPr sz="2400" b="1" spc="-65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b="1" spc="-120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NLP</a:t>
            </a:r>
            <a:r>
              <a:rPr sz="2400" b="1" spc="-35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Arial" panose="020B0604020202020204"/>
                <a:cs typeface="Arial" panose="020B0604020202020204"/>
              </a:rPr>
              <a:t>Tasks</a:t>
            </a:r>
            <a:endParaRPr sz="2400" b="1" spc="-25" dirty="0">
              <a:solidFill>
                <a:srgbClr val="2E5496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5495" y="2749931"/>
            <a:ext cx="4916488" cy="2301240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355600" marR="5080" indent="-342900">
              <a:lnSpc>
                <a:spcPct val="136000"/>
              </a:lnSpc>
              <a:spcBef>
                <a:spcPts val="100"/>
              </a:spcBef>
              <a:buFont typeface="Tahoma" panose="020B0604030504040204"/>
              <a:buChar char="•"/>
              <a:tabLst>
                <a:tab pos="355600" algn="l"/>
              </a:tabLst>
            </a:pPr>
            <a:r>
              <a:rPr sz="1600" b="1" spc="-100" dirty="0">
                <a:latin typeface="Tahoma" panose="020B0604030504040204"/>
                <a:cs typeface="Tahoma" panose="020B0604030504040204"/>
              </a:rPr>
              <a:t>Text-</a:t>
            </a:r>
            <a:r>
              <a:rPr sz="1600" b="1" spc="-114" dirty="0">
                <a:latin typeface="Tahoma" panose="020B0604030504040204"/>
                <a:cs typeface="Tahoma" panose="020B0604030504040204"/>
              </a:rPr>
              <a:t>to-</a:t>
            </a:r>
            <a:r>
              <a:rPr sz="1600" b="1" spc="-90" dirty="0">
                <a:latin typeface="Tahoma" panose="020B0604030504040204"/>
                <a:cs typeface="Tahoma" panose="020B0604030504040204"/>
              </a:rPr>
              <a:t>Speech</a:t>
            </a:r>
            <a:r>
              <a:rPr sz="1600" spc="-90" dirty="0">
                <a:latin typeface="Tahoma" panose="020B0604030504040204"/>
                <a:cs typeface="Tahoma" panose="020B0604030504040204"/>
              </a:rPr>
              <a:t>:</a:t>
            </a:r>
            <a:r>
              <a:rPr sz="16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For </a:t>
            </a:r>
            <a:r>
              <a:rPr sz="1600" spc="55" dirty="0">
                <a:latin typeface="Tahoma" panose="020B0604030504040204"/>
                <a:cs typeface="Tahoma" panose="020B0604030504040204"/>
              </a:rPr>
              <a:t>correct</a:t>
            </a:r>
            <a:r>
              <a:rPr sz="16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5" dirty="0">
                <a:latin typeface="Tahoma" panose="020B0604030504040204"/>
                <a:cs typeface="Tahoma" panose="020B0604030504040204"/>
              </a:rPr>
              <a:t>intonation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(e.g.,</a:t>
            </a:r>
            <a:r>
              <a:rPr sz="16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"The</a:t>
            </a:r>
            <a:r>
              <a:rPr sz="16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cat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lives"</a:t>
            </a:r>
            <a:r>
              <a:rPr sz="16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25" dirty="0">
                <a:latin typeface="Tahoma" panose="020B0604030504040204"/>
                <a:cs typeface="Tahoma" panose="020B0604030504040204"/>
              </a:rPr>
              <a:t>as </a:t>
            </a:r>
            <a:r>
              <a:rPr sz="1600" dirty="0">
                <a:latin typeface="Tahoma" panose="020B0604030504040204"/>
                <a:cs typeface="Tahoma" panose="020B0604030504040204"/>
              </a:rPr>
              <a:t>verb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vs.</a:t>
            </a:r>
            <a:r>
              <a:rPr sz="160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"The</a:t>
            </a:r>
            <a:r>
              <a:rPr sz="16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cat</a:t>
            </a:r>
            <a:r>
              <a:rPr sz="16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has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5" dirty="0">
                <a:latin typeface="Tahoma" panose="020B0604030504040204"/>
                <a:cs typeface="Tahoma" panose="020B0604030504040204"/>
              </a:rPr>
              <a:t>nine</a:t>
            </a:r>
            <a:r>
              <a:rPr sz="1600" dirty="0">
                <a:latin typeface="Tahoma" panose="020B0604030504040204"/>
                <a:cs typeface="Tahoma" panose="020B0604030504040204"/>
              </a:rPr>
              <a:t> lives"</a:t>
            </a:r>
            <a:r>
              <a:rPr sz="16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as</a:t>
            </a:r>
            <a:r>
              <a:rPr sz="16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10" dirty="0">
                <a:latin typeface="Tahoma" panose="020B0604030504040204"/>
                <a:cs typeface="Tahoma" panose="020B0604030504040204"/>
              </a:rPr>
              <a:t>noun)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354965" indent="-342265">
              <a:lnSpc>
                <a:spcPct val="100000"/>
              </a:lnSpc>
              <a:spcBef>
                <a:spcPts val="1170"/>
              </a:spcBef>
              <a:buFont typeface="Tahoma" panose="020B0604030504040204"/>
              <a:buChar char="•"/>
              <a:tabLst>
                <a:tab pos="354965" algn="l"/>
              </a:tabLst>
            </a:pPr>
            <a:r>
              <a:rPr sz="1600" b="1" spc="-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Summarization</a:t>
            </a:r>
            <a:r>
              <a:rPr sz="1600" spc="-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:</a:t>
            </a:r>
            <a:r>
              <a:rPr sz="1600" spc="-1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Identifying</a:t>
            </a:r>
            <a:r>
              <a:rPr sz="160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important</a:t>
            </a:r>
            <a:r>
              <a:rPr sz="1600" spc="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parts</a:t>
            </a:r>
            <a:r>
              <a:rPr sz="16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600" spc="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sentences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354965" indent="-342265">
              <a:lnSpc>
                <a:spcPct val="100000"/>
              </a:lnSpc>
              <a:spcBef>
                <a:spcPts val="1185"/>
              </a:spcBef>
              <a:buFont typeface="Tahoma" panose="020B0604030504040204"/>
              <a:buChar char="•"/>
              <a:tabLst>
                <a:tab pos="354965" algn="l"/>
              </a:tabLst>
            </a:pPr>
            <a:r>
              <a:rPr sz="1600" b="1" spc="-45" dirty="0">
                <a:latin typeface="Tahoma" panose="020B0604030504040204"/>
                <a:cs typeface="Tahoma" panose="020B0604030504040204"/>
              </a:rPr>
              <a:t>Question </a:t>
            </a:r>
            <a:r>
              <a:rPr sz="1600" b="1" spc="-85" dirty="0">
                <a:latin typeface="Tahoma" panose="020B0604030504040204"/>
                <a:cs typeface="Tahoma" panose="020B0604030504040204"/>
              </a:rPr>
              <a:t>Answering</a:t>
            </a:r>
            <a:r>
              <a:rPr sz="1600" spc="-85" dirty="0">
                <a:latin typeface="Tahoma" panose="020B0604030504040204"/>
                <a:cs typeface="Tahoma" panose="020B0604030504040204"/>
              </a:rPr>
              <a:t>:</a:t>
            </a:r>
            <a:r>
              <a:rPr sz="16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Finding</a:t>
            </a:r>
            <a:r>
              <a:rPr sz="1600" spc="1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relevant</a:t>
            </a:r>
            <a:r>
              <a:rPr sz="1600" spc="14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answer</a:t>
            </a:r>
            <a:r>
              <a:rPr sz="1600" spc="2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40" dirty="0">
                <a:latin typeface="Tahoma" panose="020B0604030504040204"/>
                <a:cs typeface="Tahoma" panose="020B0604030504040204"/>
              </a:rPr>
              <a:t>phrases</a:t>
            </a:r>
            <a:endParaRPr sz="1600" spc="4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2757" y="5643668"/>
            <a:ext cx="10203921" cy="318770"/>
          </a:xfrm>
          <a:prstGeom prst="rect">
            <a:avLst/>
          </a:prstGeom>
        </p:spPr>
        <p:txBody>
          <a:bodyPr vert="horz" wrap="square" lIns="0" tIns="116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b="1" spc="-10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Parsing</a:t>
            </a:r>
            <a:r>
              <a:rPr sz="2000" b="1" spc="-17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8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provides</a:t>
            </a:r>
            <a:r>
              <a:rPr sz="2000" b="1" spc="-15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7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000" b="1" spc="-10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9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structural</a:t>
            </a:r>
            <a:r>
              <a:rPr sz="2000" b="1" spc="-15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9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understanding</a:t>
            </a:r>
            <a:r>
              <a:rPr sz="2000" b="1" spc="-17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0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that</a:t>
            </a:r>
            <a:r>
              <a:rPr sz="2000" b="1" spc="-11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0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makes</a:t>
            </a:r>
            <a:r>
              <a:rPr sz="2000" b="1" spc="-114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8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these</a:t>
            </a:r>
            <a:r>
              <a:rPr sz="2000" b="1" spc="-13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9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applications</a:t>
            </a:r>
            <a:r>
              <a:rPr sz="2000" b="1" spc="-12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possible.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11445" y="412284"/>
            <a:ext cx="5928254" cy="1228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790"/>
              </a:lnSpc>
            </a:pPr>
            <a:r>
              <a:rPr sz="3165" b="1" spc="-20" dirty="0">
                <a:latin typeface="Arial" panose="020B0604020202020204"/>
                <a:cs typeface="Arial" panose="020B0604020202020204"/>
              </a:rPr>
              <a:t>Treebanks:</a:t>
            </a:r>
            <a:r>
              <a:rPr sz="3165" b="1" spc="-195" dirty="0">
                <a:latin typeface="Arial" panose="020B0604020202020204"/>
                <a:cs typeface="Arial" panose="020B0604020202020204"/>
              </a:rPr>
              <a:t> </a:t>
            </a:r>
            <a:r>
              <a:rPr sz="3165" b="1" spc="-25" dirty="0">
                <a:latin typeface="Arial" panose="020B0604020202020204"/>
                <a:cs typeface="Arial" panose="020B0604020202020204"/>
              </a:rPr>
              <a:t>Teaching</a:t>
            </a:r>
            <a:r>
              <a:rPr sz="3165" b="1" spc="-200" dirty="0">
                <a:latin typeface="Arial" panose="020B0604020202020204"/>
                <a:cs typeface="Arial" panose="020B0604020202020204"/>
              </a:rPr>
              <a:t> </a:t>
            </a:r>
            <a:r>
              <a:rPr sz="3165" b="1" spc="-10" dirty="0">
                <a:latin typeface="Arial" panose="020B0604020202020204"/>
                <a:cs typeface="Arial" panose="020B0604020202020204"/>
              </a:rPr>
              <a:t>Machines Grammar</a:t>
            </a:r>
            <a:endParaRPr sz="3165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15889" y="1699259"/>
            <a:ext cx="3090333" cy="3094038"/>
            <a:chOff x="6259067" y="2039111"/>
            <a:chExt cx="3708400" cy="3712845"/>
          </a:xfrm>
        </p:grpSpPr>
        <p:sp>
          <p:nvSpPr>
            <p:cNvPr id="5" name="object 5"/>
            <p:cNvSpPr/>
            <p:nvPr/>
          </p:nvSpPr>
          <p:spPr>
            <a:xfrm>
              <a:off x="6263639" y="2043683"/>
              <a:ext cx="3698875" cy="3703320"/>
            </a:xfrm>
            <a:custGeom>
              <a:avLst/>
              <a:gdLst/>
              <a:ahLst/>
              <a:cxnLst/>
              <a:rect l="l" t="t" r="r" b="b"/>
              <a:pathLst>
                <a:path w="3698875" h="3703320">
                  <a:moveTo>
                    <a:pt x="3616960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3621531"/>
                  </a:lnTo>
                  <a:lnTo>
                    <a:pt x="6421" y="3653385"/>
                  </a:lnTo>
                  <a:lnTo>
                    <a:pt x="23939" y="3679380"/>
                  </a:lnTo>
                  <a:lnTo>
                    <a:pt x="49934" y="3696898"/>
                  </a:lnTo>
                  <a:lnTo>
                    <a:pt x="81787" y="3703320"/>
                  </a:lnTo>
                  <a:lnTo>
                    <a:pt x="3616960" y="3703320"/>
                  </a:lnTo>
                  <a:lnTo>
                    <a:pt x="3648813" y="3696898"/>
                  </a:lnTo>
                  <a:lnTo>
                    <a:pt x="3674808" y="3679380"/>
                  </a:lnTo>
                  <a:lnTo>
                    <a:pt x="3692326" y="3653385"/>
                  </a:lnTo>
                  <a:lnTo>
                    <a:pt x="3698748" y="3621531"/>
                  </a:lnTo>
                  <a:lnTo>
                    <a:pt x="3698748" y="81787"/>
                  </a:lnTo>
                  <a:lnTo>
                    <a:pt x="3692326" y="49934"/>
                  </a:lnTo>
                  <a:lnTo>
                    <a:pt x="3674808" y="23939"/>
                  </a:lnTo>
                  <a:lnTo>
                    <a:pt x="3648813" y="6421"/>
                  </a:lnTo>
                  <a:lnTo>
                    <a:pt x="3616960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>
              <a:endParaRPr sz="1500"/>
            </a:p>
          </p:txBody>
        </p:sp>
        <p:sp>
          <p:nvSpPr>
            <p:cNvPr id="6" name="object 6"/>
            <p:cNvSpPr/>
            <p:nvPr/>
          </p:nvSpPr>
          <p:spPr>
            <a:xfrm>
              <a:off x="6263639" y="2043683"/>
              <a:ext cx="3698875" cy="3703320"/>
            </a:xfrm>
            <a:custGeom>
              <a:avLst/>
              <a:gdLst/>
              <a:ahLst/>
              <a:cxnLst/>
              <a:rect l="l" t="t" r="r" b="b"/>
              <a:pathLst>
                <a:path w="3698875" h="3703320">
                  <a:moveTo>
                    <a:pt x="0" y="81787"/>
                  </a:moveTo>
                  <a:lnTo>
                    <a:pt x="6421" y="49934"/>
                  </a:lnTo>
                  <a:lnTo>
                    <a:pt x="23939" y="23939"/>
                  </a:lnTo>
                  <a:lnTo>
                    <a:pt x="49934" y="6421"/>
                  </a:lnTo>
                  <a:lnTo>
                    <a:pt x="81787" y="0"/>
                  </a:lnTo>
                  <a:lnTo>
                    <a:pt x="3616960" y="0"/>
                  </a:lnTo>
                  <a:lnTo>
                    <a:pt x="3648813" y="6421"/>
                  </a:lnTo>
                  <a:lnTo>
                    <a:pt x="3674808" y="23939"/>
                  </a:lnTo>
                  <a:lnTo>
                    <a:pt x="3692326" y="49934"/>
                  </a:lnTo>
                  <a:lnTo>
                    <a:pt x="3698748" y="81787"/>
                  </a:lnTo>
                  <a:lnTo>
                    <a:pt x="3698748" y="3621531"/>
                  </a:lnTo>
                  <a:lnTo>
                    <a:pt x="3692326" y="3653385"/>
                  </a:lnTo>
                  <a:lnTo>
                    <a:pt x="3674808" y="3679380"/>
                  </a:lnTo>
                  <a:lnTo>
                    <a:pt x="3648813" y="3696898"/>
                  </a:lnTo>
                  <a:lnTo>
                    <a:pt x="3616960" y="3703320"/>
                  </a:lnTo>
                  <a:lnTo>
                    <a:pt x="81787" y="3703320"/>
                  </a:lnTo>
                  <a:lnTo>
                    <a:pt x="49934" y="3696898"/>
                  </a:lnTo>
                  <a:lnTo>
                    <a:pt x="23939" y="3679380"/>
                  </a:lnTo>
                  <a:lnTo>
                    <a:pt x="6421" y="3653385"/>
                  </a:lnTo>
                  <a:lnTo>
                    <a:pt x="0" y="3621531"/>
                  </a:lnTo>
                  <a:lnTo>
                    <a:pt x="0" y="81787"/>
                  </a:lnTo>
                  <a:close/>
                </a:path>
              </a:pathLst>
            </a:custGeom>
            <a:ln w="9144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 sz="15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79825" y="1848972"/>
            <a:ext cx="2737378" cy="1962785"/>
          </a:xfrm>
          <a:prstGeom prst="rect">
            <a:avLst/>
          </a:prstGeom>
        </p:spPr>
        <p:txBody>
          <a:bodyPr vert="horz" wrap="square" lIns="0" tIns="116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85" b="1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What</a:t>
            </a:r>
            <a:r>
              <a:rPr sz="1585" b="1" spc="25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85" b="1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585" b="1" spc="-70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85" b="1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85" b="1" spc="-40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85" b="1" spc="-10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Treebank?</a:t>
            </a:r>
            <a:endParaRPr sz="1585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39000"/>
              </a:lnSpc>
              <a:spcBef>
                <a:spcPts val="805"/>
              </a:spcBef>
            </a:pP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250" spc="-8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dataset</a:t>
            </a:r>
            <a:r>
              <a:rPr sz="1250" spc="-1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where</a:t>
            </a:r>
            <a:r>
              <a:rPr sz="1250" spc="-1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each</a:t>
            </a:r>
            <a:r>
              <a:rPr sz="1250" spc="-1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sentence</a:t>
            </a:r>
            <a:r>
              <a:rPr sz="1250" spc="-2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is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annotated</a:t>
            </a:r>
            <a:r>
              <a:rPr sz="1250" spc="-8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with</a:t>
            </a:r>
            <a:r>
              <a:rPr sz="1250" spc="-8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its</a:t>
            </a:r>
            <a:r>
              <a:rPr sz="1250" spc="-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syntactic</a:t>
            </a:r>
            <a:r>
              <a:rPr sz="1250" spc="5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structure</a:t>
            </a:r>
            <a:r>
              <a:rPr sz="1250" spc="-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(parse</a:t>
            </a:r>
            <a:r>
              <a:rPr sz="1250" spc="-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tree).</a:t>
            </a:r>
            <a:r>
              <a:rPr sz="1250" spc="-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Think</a:t>
            </a:r>
            <a:r>
              <a:rPr sz="1250" spc="-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250" spc="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it</a:t>
            </a:r>
            <a:r>
              <a:rPr sz="1250" spc="-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as</a:t>
            </a:r>
            <a:r>
              <a:rPr sz="1250" spc="1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grammar</a:t>
            </a:r>
            <a:r>
              <a:rPr sz="1250" spc="-114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textbook</a:t>
            </a:r>
            <a:r>
              <a:rPr sz="1250" spc="-1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1250" spc="-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machines,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with</a:t>
            </a:r>
            <a:r>
              <a:rPr sz="1250" spc="-1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examples</a:t>
            </a:r>
            <a:r>
              <a:rPr sz="1250" spc="-1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250" spc="-9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correct</a:t>
            </a:r>
            <a:r>
              <a:rPr sz="1250" spc="-9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sentence </a:t>
            </a:r>
            <a:r>
              <a:rPr sz="1250" spc="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structures.</a:t>
            </a:r>
            <a:endParaRPr sz="125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458200" y="1699259"/>
            <a:ext cx="3090333" cy="3094038"/>
            <a:chOff x="10149840" y="2039111"/>
            <a:chExt cx="3708400" cy="3712845"/>
          </a:xfrm>
        </p:grpSpPr>
        <p:sp>
          <p:nvSpPr>
            <p:cNvPr id="9" name="object 9"/>
            <p:cNvSpPr/>
            <p:nvPr/>
          </p:nvSpPr>
          <p:spPr>
            <a:xfrm>
              <a:off x="10154412" y="2043683"/>
              <a:ext cx="3698875" cy="3703320"/>
            </a:xfrm>
            <a:custGeom>
              <a:avLst/>
              <a:gdLst/>
              <a:ahLst/>
              <a:cxnLst/>
              <a:rect l="l" t="t" r="r" b="b"/>
              <a:pathLst>
                <a:path w="3698875" h="3703320">
                  <a:moveTo>
                    <a:pt x="3616959" y="0"/>
                  </a:moveTo>
                  <a:lnTo>
                    <a:pt x="81788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3621531"/>
                  </a:lnTo>
                  <a:lnTo>
                    <a:pt x="6421" y="3653385"/>
                  </a:lnTo>
                  <a:lnTo>
                    <a:pt x="23939" y="3679380"/>
                  </a:lnTo>
                  <a:lnTo>
                    <a:pt x="49934" y="3696898"/>
                  </a:lnTo>
                  <a:lnTo>
                    <a:pt x="81788" y="3703320"/>
                  </a:lnTo>
                  <a:lnTo>
                    <a:pt x="3616959" y="3703320"/>
                  </a:lnTo>
                  <a:lnTo>
                    <a:pt x="3648813" y="3696898"/>
                  </a:lnTo>
                  <a:lnTo>
                    <a:pt x="3674808" y="3679380"/>
                  </a:lnTo>
                  <a:lnTo>
                    <a:pt x="3692326" y="3653385"/>
                  </a:lnTo>
                  <a:lnTo>
                    <a:pt x="3698748" y="3621531"/>
                  </a:lnTo>
                  <a:lnTo>
                    <a:pt x="3698748" y="81787"/>
                  </a:lnTo>
                  <a:lnTo>
                    <a:pt x="3692326" y="49934"/>
                  </a:lnTo>
                  <a:lnTo>
                    <a:pt x="3674808" y="23939"/>
                  </a:lnTo>
                  <a:lnTo>
                    <a:pt x="3648813" y="6421"/>
                  </a:lnTo>
                  <a:lnTo>
                    <a:pt x="3616959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>
              <a:endParaRPr sz="15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54412" y="2043683"/>
              <a:ext cx="3698875" cy="3703320"/>
            </a:xfrm>
            <a:custGeom>
              <a:avLst/>
              <a:gdLst/>
              <a:ahLst/>
              <a:cxnLst/>
              <a:rect l="l" t="t" r="r" b="b"/>
              <a:pathLst>
                <a:path w="3698875" h="3703320">
                  <a:moveTo>
                    <a:pt x="0" y="81787"/>
                  </a:moveTo>
                  <a:lnTo>
                    <a:pt x="6421" y="49934"/>
                  </a:lnTo>
                  <a:lnTo>
                    <a:pt x="23939" y="23939"/>
                  </a:lnTo>
                  <a:lnTo>
                    <a:pt x="49934" y="6421"/>
                  </a:lnTo>
                  <a:lnTo>
                    <a:pt x="81788" y="0"/>
                  </a:lnTo>
                  <a:lnTo>
                    <a:pt x="3616959" y="0"/>
                  </a:lnTo>
                  <a:lnTo>
                    <a:pt x="3648813" y="6421"/>
                  </a:lnTo>
                  <a:lnTo>
                    <a:pt x="3674808" y="23939"/>
                  </a:lnTo>
                  <a:lnTo>
                    <a:pt x="3692326" y="49934"/>
                  </a:lnTo>
                  <a:lnTo>
                    <a:pt x="3698748" y="81787"/>
                  </a:lnTo>
                  <a:lnTo>
                    <a:pt x="3698748" y="3621531"/>
                  </a:lnTo>
                  <a:lnTo>
                    <a:pt x="3692326" y="3653385"/>
                  </a:lnTo>
                  <a:lnTo>
                    <a:pt x="3674808" y="3679380"/>
                  </a:lnTo>
                  <a:lnTo>
                    <a:pt x="3648813" y="3696898"/>
                  </a:lnTo>
                  <a:lnTo>
                    <a:pt x="3616959" y="3703320"/>
                  </a:lnTo>
                  <a:lnTo>
                    <a:pt x="81788" y="3703320"/>
                  </a:lnTo>
                  <a:lnTo>
                    <a:pt x="49934" y="3696898"/>
                  </a:lnTo>
                  <a:lnTo>
                    <a:pt x="23939" y="3679380"/>
                  </a:lnTo>
                  <a:lnTo>
                    <a:pt x="6421" y="3653385"/>
                  </a:lnTo>
                  <a:lnTo>
                    <a:pt x="0" y="3621531"/>
                  </a:lnTo>
                  <a:lnTo>
                    <a:pt x="0" y="81787"/>
                  </a:lnTo>
                  <a:close/>
                </a:path>
              </a:pathLst>
            </a:custGeom>
            <a:ln w="9144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 sz="15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623405" y="1848972"/>
            <a:ext cx="2528358" cy="640715"/>
          </a:xfrm>
          <a:prstGeom prst="rect">
            <a:avLst/>
          </a:prstGeom>
        </p:spPr>
        <p:txBody>
          <a:bodyPr vert="horz" wrap="square" lIns="0" tIns="116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85" b="1" spc="-25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Annotation</a:t>
            </a:r>
            <a:r>
              <a:rPr sz="1585" b="1" spc="-65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85" b="1" spc="-10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Example</a:t>
            </a:r>
            <a:endParaRPr sz="1585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"The</a:t>
            </a:r>
            <a:r>
              <a:rPr sz="1250" spc="-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boy</a:t>
            </a:r>
            <a:r>
              <a:rPr sz="1250" spc="-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eats</a:t>
            </a:r>
            <a:r>
              <a:rPr sz="1250" spc="-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apple"</a:t>
            </a:r>
            <a:r>
              <a:rPr sz="1250" spc="-1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becomes:</a:t>
            </a:r>
            <a:endParaRPr sz="12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23405" y="2605892"/>
            <a:ext cx="2759075" cy="741045"/>
          </a:xfrm>
          <a:prstGeom prst="rect">
            <a:avLst/>
          </a:prstGeom>
        </p:spPr>
        <p:txBody>
          <a:bodyPr vert="horz" wrap="square" lIns="0" tIns="121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5"/>
              </a:spcBef>
              <a:buChar char="•"/>
              <a:tabLst>
                <a:tab pos="355600" algn="l"/>
              </a:tabLst>
            </a:pP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250" spc="-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250" spc="20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Determiner</a:t>
            </a:r>
            <a:r>
              <a:rPr sz="1250" spc="-19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(DT)</a:t>
            </a:r>
            <a:endParaRPr sz="1250">
              <a:latin typeface="Tahoma" panose="020B0604030504040204"/>
              <a:cs typeface="Tahoma" panose="020B0604030504040204"/>
            </a:endParaRPr>
          </a:p>
          <a:p>
            <a:pPr marL="355600" indent="-342900">
              <a:lnSpc>
                <a:spcPct val="100000"/>
              </a:lnSpc>
              <a:spcBef>
                <a:spcPts val="1185"/>
              </a:spcBef>
              <a:buChar char="•"/>
              <a:tabLst>
                <a:tab pos="355600" algn="l"/>
              </a:tabLst>
            </a:pP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boy</a:t>
            </a:r>
            <a:r>
              <a:rPr sz="1250" spc="-9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250" spc="-5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Noun</a:t>
            </a:r>
            <a:r>
              <a:rPr sz="1250" spc="-8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(NN),</a:t>
            </a:r>
            <a:r>
              <a:rPr sz="1250" spc="-1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subject</a:t>
            </a:r>
            <a:r>
              <a:rPr sz="1250" spc="-1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250" spc="-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eats</a:t>
            </a:r>
            <a:endParaRPr sz="12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23405" y="3498215"/>
            <a:ext cx="2463271" cy="1369695"/>
          </a:xfrm>
          <a:prstGeom prst="rect">
            <a:avLst/>
          </a:prstGeom>
        </p:spPr>
        <p:txBody>
          <a:bodyPr vert="horz" wrap="square" lIns="0" tIns="11641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Char char="•"/>
              <a:tabLst>
                <a:tab pos="355600" algn="l"/>
              </a:tabLst>
            </a:pP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eats</a:t>
            </a:r>
            <a:r>
              <a:rPr sz="1250" spc="-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250" spc="40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Verb</a:t>
            </a:r>
            <a:r>
              <a:rPr sz="1250" spc="-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(VBZ),</a:t>
            </a:r>
            <a:r>
              <a:rPr sz="1250" spc="-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root</a:t>
            </a:r>
            <a:endParaRPr sz="1250">
              <a:latin typeface="Tahoma" panose="020B0604030504040204"/>
              <a:cs typeface="Tahoma" panose="020B0604030504040204"/>
            </a:endParaRPr>
          </a:p>
          <a:p>
            <a:pPr marL="355600" indent="-342900">
              <a:lnSpc>
                <a:spcPct val="100000"/>
              </a:lnSpc>
              <a:spcBef>
                <a:spcPts val="1185"/>
              </a:spcBef>
              <a:buChar char="•"/>
              <a:tabLst>
                <a:tab pos="355600" algn="l"/>
              </a:tabLst>
            </a:pP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</a:t>
            </a:r>
            <a:r>
              <a:rPr sz="1250" spc="-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250" spc="-15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Determiner</a:t>
            </a:r>
            <a:r>
              <a:rPr sz="1250" spc="-18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(DT)</a:t>
            </a:r>
            <a:endParaRPr sz="1250">
              <a:latin typeface="Tahoma" panose="020B0604030504040204"/>
              <a:cs typeface="Tahoma" panose="020B0604030504040204"/>
            </a:endParaRPr>
          </a:p>
          <a:p>
            <a:pPr marL="355600" indent="-342900">
              <a:lnSpc>
                <a:spcPct val="100000"/>
              </a:lnSpc>
              <a:spcBef>
                <a:spcPts val="1190"/>
              </a:spcBef>
              <a:buChar char="•"/>
              <a:tabLst>
                <a:tab pos="355600" algn="l"/>
              </a:tabLst>
            </a:pPr>
            <a:r>
              <a:rPr sz="1250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apple</a:t>
            </a:r>
            <a:r>
              <a:rPr sz="1250" spc="-114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250" spc="90" dirty="0">
                <a:solidFill>
                  <a:srgbClr val="403B4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Noun</a:t>
            </a:r>
            <a:r>
              <a:rPr sz="1250" spc="-8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(NN),</a:t>
            </a:r>
            <a:r>
              <a:rPr sz="1250" spc="-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object</a:t>
            </a:r>
            <a:r>
              <a:rPr sz="1250" spc="-1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of</a:t>
            </a:r>
            <a:endParaRPr sz="1250">
              <a:latin typeface="Tahoma" panose="020B0604030504040204"/>
              <a:cs typeface="Tahoma" panose="020B0604030504040204"/>
            </a:endParaRPr>
          </a:p>
          <a:p>
            <a:pPr marL="355600">
              <a:lnSpc>
                <a:spcPct val="100000"/>
              </a:lnSpc>
              <a:spcBef>
                <a:spcPts val="720"/>
              </a:spcBef>
            </a:pPr>
            <a:r>
              <a:rPr sz="125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eats</a:t>
            </a:r>
            <a:endParaRPr sz="125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15731" y="4945221"/>
            <a:ext cx="6332538" cy="1474788"/>
            <a:chOff x="6258877" y="5934265"/>
            <a:chExt cx="7599045" cy="1769745"/>
          </a:xfrm>
        </p:grpSpPr>
        <p:sp>
          <p:nvSpPr>
            <p:cNvPr id="15" name="object 15"/>
            <p:cNvSpPr/>
            <p:nvPr/>
          </p:nvSpPr>
          <p:spPr>
            <a:xfrm>
              <a:off x="6263640" y="5939028"/>
              <a:ext cx="7589520" cy="1760220"/>
            </a:xfrm>
            <a:custGeom>
              <a:avLst/>
              <a:gdLst/>
              <a:ahLst/>
              <a:cxnLst/>
              <a:rect l="l" t="t" r="r" b="b"/>
              <a:pathLst>
                <a:path w="7589519" h="1760220">
                  <a:moveTo>
                    <a:pt x="7507731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8"/>
                  </a:lnTo>
                  <a:lnTo>
                    <a:pt x="0" y="1678444"/>
                  </a:lnTo>
                  <a:lnTo>
                    <a:pt x="6421" y="1710274"/>
                  </a:lnTo>
                  <a:lnTo>
                    <a:pt x="23939" y="1736267"/>
                  </a:lnTo>
                  <a:lnTo>
                    <a:pt x="49934" y="1753793"/>
                  </a:lnTo>
                  <a:lnTo>
                    <a:pt x="81787" y="1760220"/>
                  </a:lnTo>
                  <a:lnTo>
                    <a:pt x="7507731" y="1760220"/>
                  </a:lnTo>
                  <a:lnTo>
                    <a:pt x="7539585" y="1753793"/>
                  </a:lnTo>
                  <a:lnTo>
                    <a:pt x="7565580" y="1736267"/>
                  </a:lnTo>
                  <a:lnTo>
                    <a:pt x="7583098" y="1710274"/>
                  </a:lnTo>
                  <a:lnTo>
                    <a:pt x="7589519" y="1678444"/>
                  </a:lnTo>
                  <a:lnTo>
                    <a:pt x="7589519" y="81788"/>
                  </a:lnTo>
                  <a:lnTo>
                    <a:pt x="7583098" y="49934"/>
                  </a:lnTo>
                  <a:lnTo>
                    <a:pt x="7565580" y="23939"/>
                  </a:lnTo>
                  <a:lnTo>
                    <a:pt x="7539585" y="6421"/>
                  </a:lnTo>
                  <a:lnTo>
                    <a:pt x="7507731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>
              <a:endParaRPr sz="15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263640" y="5939028"/>
              <a:ext cx="7589520" cy="1760220"/>
            </a:xfrm>
            <a:custGeom>
              <a:avLst/>
              <a:gdLst/>
              <a:ahLst/>
              <a:cxnLst/>
              <a:rect l="l" t="t" r="r" b="b"/>
              <a:pathLst>
                <a:path w="7589519" h="1760220">
                  <a:moveTo>
                    <a:pt x="0" y="81788"/>
                  </a:moveTo>
                  <a:lnTo>
                    <a:pt x="6421" y="49934"/>
                  </a:lnTo>
                  <a:lnTo>
                    <a:pt x="23939" y="23939"/>
                  </a:lnTo>
                  <a:lnTo>
                    <a:pt x="49934" y="6421"/>
                  </a:lnTo>
                  <a:lnTo>
                    <a:pt x="81787" y="0"/>
                  </a:lnTo>
                  <a:lnTo>
                    <a:pt x="7507731" y="0"/>
                  </a:lnTo>
                  <a:lnTo>
                    <a:pt x="7539585" y="6421"/>
                  </a:lnTo>
                  <a:lnTo>
                    <a:pt x="7565580" y="23939"/>
                  </a:lnTo>
                  <a:lnTo>
                    <a:pt x="7583098" y="49934"/>
                  </a:lnTo>
                  <a:lnTo>
                    <a:pt x="7589519" y="81788"/>
                  </a:lnTo>
                  <a:lnTo>
                    <a:pt x="7589519" y="1678444"/>
                  </a:lnTo>
                  <a:lnTo>
                    <a:pt x="7583098" y="1710274"/>
                  </a:lnTo>
                  <a:lnTo>
                    <a:pt x="7565580" y="1736267"/>
                  </a:lnTo>
                  <a:lnTo>
                    <a:pt x="7539585" y="1753793"/>
                  </a:lnTo>
                  <a:lnTo>
                    <a:pt x="7507731" y="1760220"/>
                  </a:lnTo>
                  <a:lnTo>
                    <a:pt x="81787" y="1760220"/>
                  </a:lnTo>
                  <a:lnTo>
                    <a:pt x="49934" y="1753793"/>
                  </a:lnTo>
                  <a:lnTo>
                    <a:pt x="23939" y="1736267"/>
                  </a:lnTo>
                  <a:lnTo>
                    <a:pt x="6421" y="1710274"/>
                  </a:lnTo>
                  <a:lnTo>
                    <a:pt x="0" y="1678444"/>
                  </a:lnTo>
                  <a:lnTo>
                    <a:pt x="0" y="81788"/>
                  </a:lnTo>
                  <a:close/>
                </a:path>
              </a:pathLst>
            </a:custGeom>
            <a:ln w="9143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 sz="15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79825" y="5098584"/>
            <a:ext cx="5584296" cy="1160145"/>
          </a:xfrm>
          <a:prstGeom prst="rect">
            <a:avLst/>
          </a:prstGeom>
        </p:spPr>
        <p:txBody>
          <a:bodyPr vert="horz" wrap="square" lIns="0" tIns="116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85" b="1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Why</a:t>
            </a:r>
            <a:r>
              <a:rPr sz="1585" b="1" spc="-95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85" b="1" spc="-25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Treebanks</a:t>
            </a:r>
            <a:r>
              <a:rPr sz="1585" b="1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85" b="1" spc="-10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Matter</a:t>
            </a:r>
            <a:endParaRPr sz="1585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39000"/>
              </a:lnSpc>
              <a:spcBef>
                <a:spcPts val="800"/>
              </a:spcBef>
            </a:pPr>
            <a:r>
              <a:rPr sz="1250" spc="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Writing</a:t>
            </a:r>
            <a:r>
              <a:rPr sz="1250" spc="-1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all</a:t>
            </a:r>
            <a:r>
              <a:rPr sz="1250" spc="-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grammar</a:t>
            </a:r>
            <a:r>
              <a:rPr sz="1250" spc="-8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rules</a:t>
            </a:r>
            <a:r>
              <a:rPr sz="1250" spc="-1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1250" spc="-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too</a:t>
            </a:r>
            <a:r>
              <a:rPr sz="1250" spc="-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complex.</a:t>
            </a:r>
            <a:r>
              <a:rPr sz="1250" spc="-1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Treebanks</a:t>
            </a:r>
            <a:r>
              <a:rPr sz="1250" spc="-1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help</a:t>
            </a:r>
            <a:r>
              <a:rPr sz="1250" spc="-1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computers</a:t>
            </a:r>
            <a:r>
              <a:rPr sz="1250" spc="-1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learn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grammar</a:t>
            </a:r>
            <a:r>
              <a:rPr sz="1250" spc="-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automatically</a:t>
            </a:r>
            <a:r>
              <a:rPr sz="1250" spc="-1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from</a:t>
            </a:r>
            <a:r>
              <a:rPr sz="1250" spc="-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data.</a:t>
            </a:r>
            <a:r>
              <a:rPr sz="1250" spc="-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They</a:t>
            </a:r>
            <a:r>
              <a:rPr sz="1250" spc="-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resolve</a:t>
            </a:r>
            <a:r>
              <a:rPr sz="1250" spc="-1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ambiguity</a:t>
            </a:r>
            <a:r>
              <a:rPr sz="1250" spc="-1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1250" spc="-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help</a:t>
            </a:r>
            <a:r>
              <a:rPr sz="1250" spc="-1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parsers </a:t>
            </a:r>
            <a:r>
              <a:rPr sz="1250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predict</a:t>
            </a:r>
            <a:r>
              <a:rPr sz="1250" spc="-1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250" spc="-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most</a:t>
            </a:r>
            <a:r>
              <a:rPr sz="1250" spc="-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likely</a:t>
            </a:r>
            <a:r>
              <a:rPr sz="1250" spc="-14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structure</a:t>
            </a:r>
            <a:r>
              <a:rPr sz="1250" spc="-1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1250" spc="-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new</a:t>
            </a:r>
            <a:r>
              <a:rPr sz="1250" spc="-8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50" spc="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sentences.</a:t>
            </a:r>
            <a:endParaRPr sz="125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7839" y="6416039"/>
            <a:ext cx="280416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63640" y="1123949"/>
            <a:ext cx="5928783" cy="5734049"/>
            <a:chOff x="7516368" y="1348739"/>
            <a:chExt cx="7114540" cy="6880859"/>
          </a:xfrm>
        </p:grpSpPr>
        <p:pic>
          <p:nvPicPr>
            <p:cNvPr id="3" name="object 3" descr="preencoded.png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16368" y="1348739"/>
              <a:ext cx="6487668" cy="64876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65408" y="7726679"/>
              <a:ext cx="3364992" cy="50292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18753" y="334073"/>
            <a:ext cx="3268133" cy="407670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85" b="1" spc="-25" dirty="0">
                <a:latin typeface="Arial" panose="020B0604020202020204"/>
                <a:cs typeface="Arial" panose="020B0604020202020204"/>
              </a:rPr>
              <a:t>Ambiguity</a:t>
            </a:r>
            <a:r>
              <a:rPr sz="2585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585" b="1" dirty="0">
                <a:latin typeface="Arial" panose="020B0604020202020204"/>
                <a:cs typeface="Arial" panose="020B0604020202020204"/>
              </a:rPr>
              <a:t>in</a:t>
            </a:r>
            <a:r>
              <a:rPr sz="2585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585" b="1" spc="-10" dirty="0">
                <a:latin typeface="Arial" panose="020B0604020202020204"/>
                <a:cs typeface="Arial" panose="020B0604020202020204"/>
              </a:rPr>
              <a:t>Parsing</a:t>
            </a:r>
            <a:endParaRPr sz="2585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9590" y="1805939"/>
            <a:ext cx="19050" cy="213783"/>
          </a:xfrm>
          <a:custGeom>
            <a:avLst/>
            <a:gdLst/>
            <a:ahLst/>
            <a:cxnLst/>
            <a:rect l="l" t="t" r="r" b="b"/>
            <a:pathLst>
              <a:path w="22859" h="256539">
                <a:moveTo>
                  <a:pt x="22859" y="0"/>
                </a:moveTo>
                <a:lnTo>
                  <a:pt x="0" y="0"/>
                </a:lnTo>
                <a:lnTo>
                  <a:pt x="0" y="256032"/>
                </a:lnTo>
                <a:lnTo>
                  <a:pt x="22859" y="256032"/>
                </a:lnTo>
                <a:lnTo>
                  <a:pt x="22859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7" name="object 7"/>
          <p:cNvSpPr txBox="1"/>
          <p:nvPr/>
        </p:nvSpPr>
        <p:spPr>
          <a:xfrm>
            <a:off x="518753" y="1071244"/>
            <a:ext cx="4070879" cy="3629025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b="1" spc="-25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403B4E"/>
                </a:solidFill>
                <a:latin typeface="Arial" panose="020B0604020202020204"/>
                <a:cs typeface="Arial" panose="020B0604020202020204"/>
              </a:rPr>
              <a:t>Challenge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165" spc="8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Many</a:t>
            </a:r>
            <a:r>
              <a:rPr sz="1165" spc="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sentences</a:t>
            </a:r>
            <a:r>
              <a:rPr sz="1500" spc="-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have</a:t>
            </a:r>
            <a:r>
              <a:rPr sz="1165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65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multiple</a:t>
            </a:r>
            <a:r>
              <a:rPr sz="1165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65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possible</a:t>
            </a:r>
            <a:r>
              <a:rPr sz="1165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65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interpretations.</a:t>
            </a:r>
            <a:r>
              <a:rPr sz="1165" spc="1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65" spc="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Consider:</a:t>
            </a:r>
            <a:endParaRPr sz="1165">
              <a:latin typeface="Tahoma" panose="020B0604030504040204"/>
              <a:cs typeface="Tahoma" panose="020B0604030504040204"/>
            </a:endParaRPr>
          </a:p>
          <a:p>
            <a:pPr marL="12700" marR="1631950" indent="237490">
              <a:lnSpc>
                <a:spcPct val="181000"/>
              </a:lnSpc>
              <a:spcBef>
                <a:spcPts val="335"/>
              </a:spcBef>
            </a:pPr>
            <a:r>
              <a:rPr sz="15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"John</a:t>
            </a:r>
            <a:r>
              <a:rPr sz="1500" spc="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saw</a:t>
            </a:r>
            <a:r>
              <a:rPr sz="1500" spc="-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500" spc="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dog</a:t>
            </a:r>
            <a:r>
              <a:rPr sz="1500" spc="4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with</a:t>
            </a:r>
            <a:r>
              <a:rPr sz="1500" spc="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500" spc="-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telescope." </a:t>
            </a:r>
            <a:r>
              <a:rPr sz="150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This</a:t>
            </a:r>
            <a:r>
              <a:rPr sz="1500" spc="-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has</a:t>
            </a:r>
            <a:r>
              <a:rPr sz="1500" spc="-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two</a:t>
            </a:r>
            <a:r>
              <a:rPr sz="2000" spc="-1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possible</a:t>
            </a:r>
            <a:r>
              <a:rPr sz="1500" spc="-1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-1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interpretations: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354330" indent="-341630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354330" algn="l"/>
              </a:tabLst>
            </a:pPr>
            <a:r>
              <a:rPr sz="23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John</a:t>
            </a:r>
            <a:r>
              <a:rPr sz="2335" spc="-229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85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used</a:t>
            </a:r>
            <a:r>
              <a:rPr sz="1500" spc="-45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65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500" spc="-65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70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telescope</a:t>
            </a:r>
            <a:r>
              <a:rPr sz="1500" spc="20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8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500" spc="-6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see</a:t>
            </a:r>
            <a:r>
              <a:rPr sz="1500" spc="-3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8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500" spc="-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-2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dog.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354330" indent="-341630">
              <a:lnSpc>
                <a:spcPct val="100000"/>
              </a:lnSpc>
              <a:spcBef>
                <a:spcPts val="1035"/>
              </a:spcBef>
              <a:buAutoNum type="arabicPeriod"/>
              <a:tabLst>
                <a:tab pos="354330" algn="l"/>
              </a:tabLst>
            </a:pPr>
            <a:r>
              <a:rPr sz="233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335" spc="-114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spc="7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dog</a:t>
            </a:r>
            <a:r>
              <a:rPr sz="2335" spc="-7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spc="100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had</a:t>
            </a:r>
            <a:r>
              <a:rPr sz="2335" spc="-110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spc="60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335" spc="-65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spc="70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telescope</a:t>
            </a:r>
            <a:r>
              <a:rPr sz="2335" spc="-140" dirty="0">
                <a:solidFill>
                  <a:srgbClr val="FFAC93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spc="60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with</a:t>
            </a:r>
            <a:r>
              <a:rPr sz="2335" spc="-114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spc="-25" dirty="0">
                <a:solidFill>
                  <a:srgbClr val="403B4E"/>
                </a:solidFill>
                <a:latin typeface="Tahoma" panose="020B0604030504040204"/>
                <a:cs typeface="Tahoma" panose="020B0604030504040204"/>
              </a:rPr>
              <a:t>it.</a:t>
            </a:r>
            <a:endParaRPr sz="2335" spc="-25" dirty="0">
              <a:solidFill>
                <a:srgbClr val="403B4E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830" y="5193940"/>
            <a:ext cx="5136092" cy="1249680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12700" marR="5080" algn="ctr">
              <a:lnSpc>
                <a:spcPct val="83000"/>
              </a:lnSpc>
              <a:spcBef>
                <a:spcPts val="520"/>
              </a:spcBef>
            </a:pPr>
            <a:r>
              <a:rPr sz="2335" b="1" spc="-8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Treebanks</a:t>
            </a:r>
            <a:r>
              <a:rPr sz="2335" b="1" spc="-14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5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help</a:t>
            </a:r>
            <a:r>
              <a:rPr sz="2335" b="1" spc="-17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7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machines</a:t>
            </a:r>
            <a:r>
              <a:rPr sz="2335" b="1" spc="-10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6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decide</a:t>
            </a:r>
            <a:r>
              <a:rPr sz="2335" b="1" spc="-17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5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335" b="1" spc="-10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6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most</a:t>
            </a:r>
            <a:r>
              <a:rPr sz="2335" b="1" spc="-114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2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probable </a:t>
            </a:r>
            <a:r>
              <a:rPr sz="2335" b="1" spc="-9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meaning</a:t>
            </a:r>
            <a:r>
              <a:rPr sz="2335" b="1" spc="-12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5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based</a:t>
            </a:r>
            <a:r>
              <a:rPr sz="2335" b="1" spc="-16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2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on</a:t>
            </a:r>
            <a:r>
              <a:rPr sz="2335" b="1" spc="-8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7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patterns</a:t>
            </a:r>
            <a:r>
              <a:rPr sz="2335" b="1" spc="-13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6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learned</a:t>
            </a:r>
            <a:r>
              <a:rPr sz="2335" b="1" spc="-16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4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from</a:t>
            </a:r>
            <a:r>
              <a:rPr sz="2335" b="1" spc="-14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1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human-</a:t>
            </a:r>
            <a:r>
              <a:rPr sz="2335" b="1" spc="-75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annotated</a:t>
            </a:r>
            <a:r>
              <a:rPr sz="2335" b="1" spc="-9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335" b="1" spc="-10" dirty="0">
                <a:solidFill>
                  <a:srgbClr val="C55A11"/>
                </a:solidFill>
                <a:latin typeface="Tahoma" panose="020B0604030504040204"/>
                <a:cs typeface="Tahoma" panose="020B0604030504040204"/>
              </a:rPr>
              <a:t>examples.</a:t>
            </a:r>
            <a:endParaRPr sz="2335" b="1" spc="-10" dirty="0">
              <a:solidFill>
                <a:srgbClr val="C55A11"/>
              </a:solidFill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3" descr="$PPTXTitle"/>
          <p:cNvSpPr txBox="1">
            <a:spLocks noGrp="1"/>
          </p:cNvSpPr>
          <p:nvPr/>
        </p:nvSpPr>
        <p:spPr>
          <a:xfrm>
            <a:off x="-153" y="2283683"/>
            <a:ext cx="13036550" cy="962025"/>
          </a:xfrm>
          <a:prstGeom prst="rect">
            <a:avLst/>
          </a:prstGeom>
        </p:spPr>
        <p:txBody>
          <a:bodyPr vert="horz" wrap="square" lIns="0" tIns="223754" rIns="0" bIns="0" rtlCol="0">
            <a:spAutoFit/>
          </a:bodyPr>
          <a:lstStyle>
            <a:lvl1pPr>
              <a:defRPr sz="3900" b="0" i="0">
                <a:solidFill>
                  <a:srgbClr val="403B4E"/>
                </a:solidFill>
                <a:latin typeface="Malgun Gothic Semilight" panose="020B0502040204020203" charset="-122"/>
                <a:ea typeface="+mj-ea"/>
                <a:cs typeface="Malgun Gothic Semilight" panose="020B0502040204020203" charset="-122"/>
              </a:defRPr>
            </a:lvl1pPr>
          </a:lstStyle>
          <a:p>
            <a:pPr marL="144780" algn="ctr">
              <a:lnSpc>
                <a:spcPct val="100000"/>
              </a:lnSpc>
              <a:spcBef>
                <a:spcPts val="95"/>
              </a:spcBef>
            </a:pPr>
            <a:r>
              <a:rPr sz="48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Representing</a:t>
            </a:r>
            <a:r>
              <a:rPr sz="4800" b="1" spc="-2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Syntactic</a:t>
            </a:r>
            <a:r>
              <a:rPr sz="4800" b="1" spc="-1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Structure</a:t>
            </a:r>
            <a:endParaRPr sz="4800" b="1" spc="-1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Dependency Graphs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word depends on another word — one head, the rest dependents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611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sentence forms a graph: arrows show who depends on whom.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611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word is the head; the others are dependents of 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611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Focus: word-to-word relationships — who does what?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3611880" cy="0"/>
          </a:xfrm>
          <a:prstGeom prst="line">
            <a:avLst/>
          </a:prstGeom>
          <a:noFill/>
          <a:ln w="12700">
            <a:solidFill>
              <a:srgbClr val="DC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Head of this sentence: “eats”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3611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boy → subject, depends on eats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apple → object, depends on eats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 → determiner, depends on boy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 → determiner, depends on apple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</p:spPr>
      </p:sp>
      <p:sp>
        <p:nvSpPr>
          <p:cNvPr id="13" name="Text 11"/>
          <p:cNvSpPr/>
          <p:nvPr/>
        </p:nvSpPr>
        <p:spPr>
          <a:xfrm>
            <a:off x="5303520" y="1691640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“The boy eats an apple.”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43800" y="22631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</p:spPr>
      </p:sp>
      <p:sp>
        <p:nvSpPr>
          <p:cNvPr id="15" name="Text 13"/>
          <p:cNvSpPr/>
          <p:nvPr/>
        </p:nvSpPr>
        <p:spPr>
          <a:xfrm>
            <a:off x="7543800" y="226314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eats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766060"/>
            <a:ext cx="0" cy="251460"/>
          </a:xfrm>
          <a:prstGeom prst="line">
            <a:avLst/>
          </a:prstGeom>
          <a:noFill/>
          <a:ln w="15875">
            <a:solidFill>
              <a:srgbClr val="6FA6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3017520"/>
            <a:ext cx="2743200" cy="0"/>
          </a:xfrm>
          <a:prstGeom prst="line">
            <a:avLst/>
          </a:prstGeom>
          <a:noFill/>
          <a:ln w="15875">
            <a:solidFill>
              <a:srgbClr val="6FA6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017520"/>
            <a:ext cx="0" cy="251460"/>
          </a:xfrm>
          <a:prstGeom prst="line">
            <a:avLst/>
          </a:prstGeom>
          <a:noFill/>
          <a:ln w="15875">
            <a:solidFill>
              <a:srgbClr val="6FA6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3017520"/>
            <a:ext cx="0" cy="251460"/>
          </a:xfrm>
          <a:prstGeom prst="line">
            <a:avLst/>
          </a:prstGeom>
          <a:noFill/>
          <a:ln w="15875">
            <a:solidFill>
              <a:srgbClr val="6FA6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2918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</p:spPr>
      </p:sp>
      <p:sp>
        <p:nvSpPr>
          <p:cNvPr id="21" name="Text 19"/>
          <p:cNvSpPr/>
          <p:nvPr/>
        </p:nvSpPr>
        <p:spPr>
          <a:xfrm>
            <a:off x="6263640" y="32918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06840" y="32918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</p:spPr>
      </p:sp>
      <p:sp>
        <p:nvSpPr>
          <p:cNvPr id="23" name="Text 21"/>
          <p:cNvSpPr/>
          <p:nvPr/>
        </p:nvSpPr>
        <p:spPr>
          <a:xfrm>
            <a:off x="9006840" y="32918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0" y="3749040"/>
            <a:ext cx="0" cy="274320"/>
          </a:xfrm>
          <a:prstGeom prst="line">
            <a:avLst/>
          </a:prstGeom>
          <a:noFill/>
          <a:ln w="15875">
            <a:solidFill>
              <a:srgbClr val="6FA6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4023360"/>
            <a:ext cx="0" cy="274320"/>
          </a:xfrm>
          <a:prstGeom prst="line">
            <a:avLst/>
          </a:prstGeom>
          <a:noFill/>
          <a:ln w="15875">
            <a:solidFill>
              <a:srgbClr val="6FA6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3749040"/>
            <a:ext cx="0" cy="274320"/>
          </a:xfrm>
          <a:prstGeom prst="line">
            <a:avLst/>
          </a:prstGeom>
          <a:noFill/>
          <a:ln w="15875">
            <a:solidFill>
              <a:srgbClr val="6FA6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0" y="4023360"/>
            <a:ext cx="0" cy="274320"/>
          </a:xfrm>
          <a:prstGeom prst="line">
            <a:avLst/>
          </a:prstGeom>
          <a:noFill/>
          <a:ln w="15875">
            <a:solidFill>
              <a:srgbClr val="6FA6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42976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3E5C87"/>
          </a:solidFill>
        </p:spPr>
      </p:sp>
      <p:sp>
        <p:nvSpPr>
          <p:cNvPr id="29" name="Text 27"/>
          <p:cNvSpPr/>
          <p:nvPr/>
        </p:nvSpPr>
        <p:spPr>
          <a:xfrm>
            <a:off x="6263640" y="42976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006840" y="42976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3E5C87"/>
          </a:solidFill>
        </p:spPr>
      </p:sp>
      <p:sp>
        <p:nvSpPr>
          <p:cNvPr id="31" name="Text 29"/>
          <p:cNvSpPr/>
          <p:nvPr/>
        </p:nvSpPr>
        <p:spPr>
          <a:xfrm>
            <a:off x="9006840" y="42976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26480" y="30175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nsubj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69680" y="30175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dobj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404164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006840" y="404164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0" y="5669280"/>
            <a:ext cx="6035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Useful for free word-order languages, such as Hindi or Czech.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Phrase Structure Trees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Sentences build up from phrases — groups of words that act as one unit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03720" cy="4572000"/>
          </a:xfrm>
          <a:prstGeom prst="roundRect">
            <a:avLst>
              <a:gd name="adj" fmla="val 1600"/>
            </a:avLst>
          </a:prstGeom>
          <a:solidFill>
            <a:srgbClr val="F4F7F9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“The boy eats an apple.”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20440" y="219456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</p:spPr>
      </p:sp>
      <p:sp>
        <p:nvSpPr>
          <p:cNvPr id="7" name="Text 5"/>
          <p:cNvSpPr/>
          <p:nvPr/>
        </p:nvSpPr>
        <p:spPr>
          <a:xfrm>
            <a:off x="3520440" y="21945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651760"/>
            <a:ext cx="0" cy="182880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834640"/>
            <a:ext cx="3291840" cy="0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2834640"/>
            <a:ext cx="0" cy="182880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2834640"/>
            <a:ext cx="0" cy="182880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026664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</p:spPr>
      </p:sp>
      <p:sp>
        <p:nvSpPr>
          <p:cNvPr id="13" name="Text 11"/>
          <p:cNvSpPr/>
          <p:nvPr/>
        </p:nvSpPr>
        <p:spPr>
          <a:xfrm>
            <a:off x="1828800" y="3026664"/>
            <a:ext cx="1005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20640" y="3026664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</p:spPr>
      </p:sp>
      <p:sp>
        <p:nvSpPr>
          <p:cNvPr id="15" name="Text 13"/>
          <p:cNvSpPr/>
          <p:nvPr/>
        </p:nvSpPr>
        <p:spPr>
          <a:xfrm>
            <a:off x="5120640" y="3026664"/>
            <a:ext cx="1005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31720" y="3465576"/>
            <a:ext cx="0" cy="192024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3657600"/>
            <a:ext cx="1463040" cy="0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657600"/>
            <a:ext cx="0" cy="192024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3657600"/>
            <a:ext cx="0" cy="192024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3465576"/>
            <a:ext cx="0" cy="192024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657600"/>
            <a:ext cx="1508760" cy="0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657600"/>
            <a:ext cx="0" cy="192024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657600"/>
            <a:ext cx="0" cy="192024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5860" y="38633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</p:spPr>
      </p:sp>
      <p:sp>
        <p:nvSpPr>
          <p:cNvPr id="25" name="Text 23"/>
          <p:cNvSpPr/>
          <p:nvPr/>
        </p:nvSpPr>
        <p:spPr>
          <a:xfrm>
            <a:off x="1165860" y="3863340"/>
            <a:ext cx="868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28900" y="38633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</p:spPr>
      </p:sp>
      <p:sp>
        <p:nvSpPr>
          <p:cNvPr id="27" name="Text 25"/>
          <p:cNvSpPr/>
          <p:nvPr/>
        </p:nvSpPr>
        <p:spPr>
          <a:xfrm>
            <a:off x="2628900" y="3863340"/>
            <a:ext cx="868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57700" y="38633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</p:spPr>
      </p:sp>
      <p:sp>
        <p:nvSpPr>
          <p:cNvPr id="29" name="Text 27"/>
          <p:cNvSpPr/>
          <p:nvPr/>
        </p:nvSpPr>
        <p:spPr>
          <a:xfrm>
            <a:off x="4457700" y="3863340"/>
            <a:ext cx="868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97880" y="38633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</p:spPr>
      </p:sp>
      <p:sp>
        <p:nvSpPr>
          <p:cNvPr id="31" name="Text 29"/>
          <p:cNvSpPr/>
          <p:nvPr/>
        </p:nvSpPr>
        <p:spPr>
          <a:xfrm>
            <a:off x="5897880" y="3863340"/>
            <a:ext cx="1005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600200" y="4274820"/>
            <a:ext cx="0" cy="208026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00200" y="4482846"/>
            <a:ext cx="0" cy="208026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63240" y="4274820"/>
            <a:ext cx="0" cy="208026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63240" y="4482846"/>
            <a:ext cx="0" cy="208026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4274820"/>
            <a:ext cx="0" cy="208026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4482846"/>
            <a:ext cx="0" cy="208026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4274820"/>
            <a:ext cx="0" cy="208026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482846"/>
            <a:ext cx="0" cy="208026"/>
          </a:xfrm>
          <a:prstGeom prst="line">
            <a:avLst/>
          </a:prstGeom>
          <a:noFill/>
          <a:ln w="15875">
            <a:solidFill>
              <a:srgbClr val="B9C7C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0140" y="4686300"/>
            <a:ext cx="960120" cy="4114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0140" y="4686300"/>
            <a:ext cx="960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83180" y="4686300"/>
            <a:ext cx="960120" cy="4114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83180" y="4686300"/>
            <a:ext cx="960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11980" y="4686300"/>
            <a:ext cx="960120" cy="4114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1980" y="4686300"/>
            <a:ext cx="960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eats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806440" y="46863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4EEF3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06440" y="4686300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 apple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2960" y="56235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Nested brackets: [S [NP The boy] [VP eats [NP an apple]]]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35240" y="1508760"/>
            <a:ext cx="3977640" cy="4572000"/>
          </a:xfrm>
          <a:prstGeom prst="roundRect">
            <a:avLst>
              <a:gd name="adj" fmla="val 1839"/>
            </a:avLst>
          </a:prstGeom>
          <a:solidFill>
            <a:srgbClr val="065A82"/>
          </a:solidFill>
        </p:spPr>
      </p:sp>
      <p:sp>
        <p:nvSpPr>
          <p:cNvPr id="50" name="Text 48"/>
          <p:cNvSpPr/>
          <p:nvPr/>
        </p:nvSpPr>
        <p:spPr>
          <a:xfrm>
            <a:off x="7909560" y="169164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909560" y="2057400"/>
            <a:ext cx="3520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2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Groups of words form constituents: NP, VP, and so on.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909560" y="2715768"/>
            <a:ext cx="3520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2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tree shows a hierarchy of phrases, not just word pairs.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909560" y="3374136"/>
            <a:ext cx="3520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2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Focus: how words combine into chunks.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909560" y="4069080"/>
            <a:ext cx="35204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09560" y="4251960"/>
            <a:ext cx="3520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Useful for fixed word-order languages, such as English.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909560" y="4937760"/>
            <a:ext cx="3520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E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Contrast with dependency graphs: same sentence, different representation of the same underlying relationships.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Choosing a Representation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describe the same sentence — they emphasize different things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417320"/>
          <a:ext cx="11064240" cy="169164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663440"/>
              </a:tblGrid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Dependency Tree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Phrase Structure Tree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Relations between words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Grouping into phrases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Arrows: head → dependent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Nested brackets (NP, VP, …)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Fits best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 word-order languages (Hindi, Czech)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word-order languages (English)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32918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40156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Dependency Tree = a family tree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3913632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depends on whom.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32918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340156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Phrase Tree = a company org chart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26280" y="3913632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Groups and departments.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32918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</p:spPr>
      </p:sp>
      <p:sp>
        <p:nvSpPr>
          <p:cNvPr id="12" name="Text 9"/>
          <p:cNvSpPr/>
          <p:nvPr/>
        </p:nvSpPr>
        <p:spPr>
          <a:xfrm>
            <a:off x="8275320" y="3401568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75320" y="3675888"/>
            <a:ext cx="31089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= word relations. Phrase structure = word groups. Both help computers understand grammar.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</p:spPr>
        <p:txBody>
          <a:bodyPr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469087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E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" y="495604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“The dog chased the cat.” — draw a dependency tree (chased is root) and a phrase structure tree (NP + VP).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50" y="392430"/>
            <a:ext cx="5739130" cy="6283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145" y="222885"/>
            <a:ext cx="5735955" cy="6452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Practical Example — spaCy Code, Line by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pre-trained pipeline assigns each token its head and grammatical relation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777240" y="1554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6634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spacy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nlp = spacy.load("en_core_web_sm")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 = nlp("The cat chased the mouse")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token in doc: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print(token.text, "-&gt;", token.dep_,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"-&gt;", token.head.text)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457200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 -&gt; det -&gt; cat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 -&gt; nsubj -&gt; chased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chased -&gt; ROOT -&gt; chased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 -&gt; det -&gt; mouse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mouse -&gt; dobj -&gt; chased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5074920"/>
            <a:ext cx="4663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shows: “cat” = subject · “chased” = root verb · “mouse” = object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0" y="1417320"/>
            <a:ext cx="5760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each line does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2024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spacy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0" y="2212848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Imports the spaCy library (a popular NLP tool).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852160" y="292608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01752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nlp = spacy.load("en_core_web_sm")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0" y="3310128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Loads a pre-trained English model; it knows POS tagging, dependency parsing, NER, and more.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852160" y="402336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411480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 = nlp("...")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0" y="4407408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the model on the sentence. doc holds tokens plus their linguistic annotations.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852160" y="512064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521208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token in doc: ...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35040" y="5504688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Iterates through each token. token.text = the word; token.dep_ = its relation; token.head.text = the word it attaches to.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Reading the Output — Explanation of Each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Sentence: “The cat chased the mouse”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841248"/>
          </a:xfrm>
          <a:prstGeom prst="roundRect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868680" y="1554480"/>
            <a:ext cx="356616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 → det → cat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68580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"The" is a determiner (det) of "cat" — it modifies "cat".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14600"/>
            <a:ext cx="73152" cy="841248"/>
          </a:xfrm>
          <a:prstGeom prst="roundRect">
            <a:avLst/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868680" y="2514600"/>
            <a:ext cx="356616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 → nsubj → chased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68580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"cat" is the nominal subject (nsubj) of "chased" — the one doing the action.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74720"/>
            <a:ext cx="73152" cy="841248"/>
          </a:xfrm>
          <a:prstGeom prst="roundRect">
            <a:avLst/>
          </a:prstGeom>
          <a:solidFill>
            <a:srgbClr val="0E7C7B"/>
          </a:solidFill>
        </p:spPr>
      </p:sp>
      <p:sp>
        <p:nvSpPr>
          <p:cNvPr id="14" name="Text 12"/>
          <p:cNvSpPr/>
          <p:nvPr/>
        </p:nvSpPr>
        <p:spPr>
          <a:xfrm>
            <a:off x="868680" y="3474720"/>
            <a:ext cx="356616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chased → ROOT → chased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68580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"chased" is the main verb / root of the sentence. Every dependency tree has a single root.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434840"/>
            <a:ext cx="73152" cy="841248"/>
          </a:xfrm>
          <a:prstGeom prst="roundRect">
            <a:avLst/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868680" y="4434840"/>
            <a:ext cx="356616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 → det → mouse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434840"/>
            <a:ext cx="68580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"the" is a determiner (det) of "mouse" — it modifies "mouse".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394960"/>
            <a:ext cx="73152" cy="841248"/>
          </a:xfrm>
          <a:prstGeom prst="roundRect">
            <a:avLst/>
          </a:prstGeom>
          <a:solidFill>
            <a:srgbClr val="065A82"/>
          </a:solidFill>
        </p:spPr>
      </p:sp>
      <p:sp>
        <p:nvSpPr>
          <p:cNvPr id="22" name="Text 20"/>
          <p:cNvSpPr/>
          <p:nvPr/>
        </p:nvSpPr>
        <p:spPr>
          <a:xfrm>
            <a:off x="868680" y="5394960"/>
            <a:ext cx="356616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mouse → dobj → chased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5394960"/>
            <a:ext cx="68580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"mouse" is the direct object (dobj) of "chased" — the action is applied to 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66140" y="546735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Practical Example —Parse Structure Tree Using NLTK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6750" y="1444625"/>
            <a:ext cx="928370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0150" y="871855"/>
            <a:ext cx="1766570" cy="36626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75" y="1753870"/>
            <a:ext cx="5182870" cy="39630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790" y="1643380"/>
            <a:ext cx="4521200" cy="39846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565" y="5716905"/>
            <a:ext cx="5581650" cy="495300"/>
          </a:xfrm>
          <a:prstGeom prst="rect">
            <a:avLst/>
          </a:prstGeom>
          <a:ln w="19050"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675" y="810260"/>
            <a:ext cx="8239760" cy="49066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0" y="682625"/>
            <a:ext cx="7514590" cy="54705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800" y="1742440"/>
            <a:ext cx="4961255" cy="41173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Text Box 2"/>
          <p:cNvSpPr txBox="1"/>
          <p:nvPr/>
        </p:nvSpPr>
        <p:spPr>
          <a:xfrm>
            <a:off x="916305" y="9677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0070C0"/>
                </a:solidFill>
                <a:sym typeface="+mn-ea"/>
              </a:rPr>
              <a:t>The big dog chased the cat </a:t>
            </a:r>
            <a:endParaRPr lang="en-US" sz="3200" b="1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050" y="744855"/>
            <a:ext cx="3625850" cy="806450"/>
          </a:xfrm>
          <a:prstGeom prst="rect">
            <a:avLst/>
          </a:prstGeom>
          <a:ln w="12700"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Parsing Algorithms — Four Strategies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ways to build the syntax tree from a sentence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777240" y="18745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Top-Down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945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from the Sentence (S) symbol and expand into smaller constituents until the words match.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8745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3611880" y="18745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Bottom-Up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1945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from the individual words and combine them upward until they form a complete sentence.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8745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E7C7B"/>
          </a:solidFill>
        </p:spPr>
      </p:sp>
      <p:sp>
        <p:nvSpPr>
          <p:cNvPr id="16" name="Text 14"/>
          <p:cNvSpPr/>
          <p:nvPr/>
        </p:nvSpPr>
        <p:spPr>
          <a:xfrm>
            <a:off x="6446520" y="18745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5146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Shift-Reduce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46520" y="3154680"/>
            <a:ext cx="21945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words from an input buffer onto a stack, reducing groups into phrases as grammar rules match. Popular in dependency parsing.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81160" y="18745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3E5C87"/>
          </a:solidFill>
        </p:spPr>
      </p:sp>
      <p:sp>
        <p:nvSpPr>
          <p:cNvPr id="21" name="Text 19"/>
          <p:cNvSpPr/>
          <p:nvPr/>
        </p:nvSpPr>
        <p:spPr>
          <a:xfrm>
            <a:off x="9281160" y="18745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5146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CYK Algorithm--(</a:t>
            </a:r>
            <a:r>
              <a:rPr lang="en-US" alt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Cocke-Younger-Kasami Algorithm)</a:t>
            </a:r>
            <a:endParaRPr lang="en-US" altLang="en-US" sz="1550" b="1" dirty="0">
              <a:solidFill>
                <a:srgbClr val="21295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81160" y="3154680"/>
            <a:ext cx="21945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Dynamic-programming approach that fills a triangular table of possible constituents; requires Chomsky Normal Form.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Shift-Reduce and CYK are covered in depth on the following slides.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Shift-Reduce Parsing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stack-and-buffer game: shift words in, reduce them into phrases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065A82"/>
          </a:solidFill>
        </p:spPr>
      </p:sp>
      <p:sp>
        <p:nvSpPr>
          <p:cNvPr id="5" name="Text 3"/>
          <p:cNvSpPr/>
          <p:nvPr/>
        </p:nvSpPr>
        <p:spPr>
          <a:xfrm>
            <a:off x="822960" y="16459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moves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C3D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Shift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the next word from the input buffer onto the stack.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C3D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Reduce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566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top of the stack matches a grammar rule, replace it with the non-terminal — e.g. NP → Det + 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35661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976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E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Efficient and widely used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Can struggle with ambiguity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E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Sentence: “The boy eats an apple”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Grammar: S→NP VP · NP→DT N · VP→V NP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937760" y="1828800"/>
          <a:ext cx="6675120" cy="393192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2926080"/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Step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Action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Stack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shift The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7B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[The]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shift boy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7B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[The, boy]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reduce Det+N → NP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7B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[NP]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shift eats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7B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[NP, eats]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shift an, shift apple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7B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[NP, eats, an, apple]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reduce Det+N → NP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7B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[NP, eats, NP]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reduce V+NP → VP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7B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[NP, VP]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reduce NP+VP → S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7B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[S]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Shift-Reduce Parsing in Code (NLTK)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trace, automated by NLTK's ShiftReduceParser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577840" cy="3977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nltk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nltk.parse import ShiftReduceParser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grammar = nltk.CFG.fromstring("""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 -&gt; NP VP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 -&gt; DT 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VP -&gt; V NP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DT -&gt; 'the' | 'an'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 -&gt; 'boy' | 'apple'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 -&gt; 'eats'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""")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sr_parser = ShiftReduceParser(grammar)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sentence = ['the', 'boy', 'eats', 'an', 'apple']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tree in sr_parser.parse(sentence):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print(tree)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tree.pretty_print()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0" y="146304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tree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2011680"/>
            <a:ext cx="429768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├─ NP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│   ├─ DT → the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│   └─ N  → boy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└─ VP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├─ V  → eats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└─ NP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├─ DT → an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└─ N  → apple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4983480"/>
            <a:ext cx="4754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grammar, same sentence as the manual trace — the parser automates every shift and reduce step.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Context-Free Grammar &amp; Chomsky Normal 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CYK parsing requires the grammar to be rewritten in a restricted binary 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CFG?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00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set of rewrite rules A → α, where A is a non-terminal (S, NP, VP…) and α is a sequence of terminals or non-terminals.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3108960" cy="1554480"/>
          </a:xfrm>
          <a:prstGeom prst="roundRect">
            <a:avLst>
              <a:gd name="adj" fmla="val 3529"/>
            </a:avLst>
          </a:prstGeom>
          <a:solidFill>
            <a:srgbClr val="21295C"/>
          </a:solidFill>
        </p:spPr>
      </p:sp>
      <p:sp>
        <p:nvSpPr>
          <p:cNvPr id="8" name="Text 6"/>
          <p:cNvSpPr/>
          <p:nvPr/>
        </p:nvSpPr>
        <p:spPr>
          <a:xfrm>
            <a:off x="960120" y="3200400"/>
            <a:ext cx="28346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 → NP VP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 → DT 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VP → V NP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DT → 'the' | 'an'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 → 'boy' | 'apple'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 → 'eats'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 in CNF — every rule is binary (A→BC) or terminal (A→a).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32004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every grammar rule by hand does not scale — one reason data-driven, treebank-trained parsers are preferred in practice.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4630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allowed CNF forms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429000" cy="914400"/>
          </a:xfrm>
          <a:prstGeom prst="roundRect">
            <a:avLst>
              <a:gd name="adj" fmla="val 7000"/>
            </a:avLst>
          </a:prstGeom>
          <a:solidFill>
            <a:srgbClr val="E4EEF3"/>
          </a:solidFill>
        </p:spPr>
      </p:sp>
      <p:sp>
        <p:nvSpPr>
          <p:cNvPr id="13" name="Text 11"/>
          <p:cNvSpPr/>
          <p:nvPr/>
        </p:nvSpPr>
        <p:spPr>
          <a:xfrm>
            <a:off x="4709160" y="192024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→ B 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228600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exactly two non-terminals  ·  e.g. VP → V NP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880360"/>
            <a:ext cx="3429000" cy="914400"/>
          </a:xfrm>
          <a:prstGeom prst="roundRect">
            <a:avLst>
              <a:gd name="adj" fmla="val 7000"/>
            </a:avLst>
          </a:prstGeom>
          <a:solidFill>
            <a:srgbClr val="E4EEF3"/>
          </a:solidFill>
        </p:spPr>
      </p:sp>
      <p:sp>
        <p:nvSpPr>
          <p:cNvPr id="16" name="Text 14"/>
          <p:cNvSpPr/>
          <p:nvPr/>
        </p:nvSpPr>
        <p:spPr>
          <a:xfrm>
            <a:off x="4709160" y="297180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→ 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333756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exactly one terminal word  ·  e.g. N → 'boy'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397764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6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allowed in CNF: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0" y="4279392"/>
            <a:ext cx="3429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66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→ B C D  (3+ symbols)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66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→ a B  (mixed terminal/non-terminal)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66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→ ε  (empty production)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5349240"/>
            <a:ext cx="34290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CNF helps CYK: rules restricted to binary (A→BC) or terminal (A→a) form let the algorithm systematically fill a triangular table.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0" y="146304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21295C"/>
          </a:solidFill>
        </p:spPr>
      </p:sp>
      <p:sp>
        <p:nvSpPr>
          <p:cNvPr id="22" name="Text 20"/>
          <p:cNvSpPr/>
          <p:nvPr/>
        </p:nvSpPr>
        <p:spPr>
          <a:xfrm>
            <a:off x="8366760" y="164592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Fixing a non-CNF rule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66760" y="20574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(invalid):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66760" y="233172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B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 → DT Adj 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symbols on the right — not binary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66760" y="3108960"/>
            <a:ext cx="301752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24612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Converted (CNF):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6760" y="3520440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 → DT 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 → Adj 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429768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new intermediate symbol (Y) absorbs the extra element, restoring binary rules.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66760" y="5120640"/>
            <a:ext cx="30175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worked example — checking every rule of a non-CNF grammar — is on the next slide.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Checking a Grammar Against CNF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Sentence: “The boy eats the apple” — written with a richer, non-CNF grammar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777240" y="1627632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GRAMMAR (NOT CNF)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2918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 → NP VP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 → DT Adj 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VP → V NP PP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PP → P NP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DT → 'the'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Adj → 'big' | 'small'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 → 'boy' | 'apple'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 → 'eats'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 → 'with'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310896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92040"/>
            <a:ext cx="3108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rules break the binary requirement — both have three symbols on the right-hand side.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14630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rules one by one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434840" y="1828800"/>
          <a:ext cx="7178040" cy="4114800"/>
        </p:xfrm>
        <a:graphic>
          <a:graphicData uri="http://schemas.openxmlformats.org/drawingml/2006/table">
            <a:tbl>
              <a:tblPr/>
              <a:tblGrid>
                <a:gridCol w="3246120"/>
                <a:gridCol w="2103120"/>
                <a:gridCol w="182880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Rule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Form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CNF?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 → NP VP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BC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VP → V NP PP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BCD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66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NP → DT Adj N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BCD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66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PP → P NP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BC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DT → 'the'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a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Adj → 'big' | 'small'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a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N → 'boy' | 'apple'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a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 → 'eats'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a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 → 'with'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 → a</a:t>
                      </a:r>
                      <a:endParaRPr lang="en-US" sz="11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434840" y="6080760"/>
            <a:ext cx="7178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Fix: VP → V X (X → NP PP)   ·   NP → DT Y (Y → Adj N) — new symbols absorb the extra elements.</a:t>
            </a:r>
            <a:endParaRPr lang="en-US" sz="1050" dirty="0"/>
          </a:p>
        </p:txBody>
      </p:sp>
      <p:sp>
        <p:nvSpPr>
          <p:cNvPr id="10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CYK Parsing — Filling the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triangular dynamic-programming table: each cell holds the non-terminals that can generate that span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Grammar (CNF): S→NP VP · NP→DT N · VP→V NP|V · DT→'the' · N→'boy' · V→'eats'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Sentence:  w1 = the   w2 = boy   w3 = eats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7744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1 — single words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(1,1)={DT}  (1,2)={N}  (1,3)={V, VP}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6616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2 — two-word spans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858768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(2,1) “the boy” = DT+N → {NP}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(2,2) “boy eats” = N+V → ∅ (no rule)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5488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3 — full sentence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047488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(3,1) “the boy eats” = NP+VP → {S} 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CYK 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65176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21295C"/>
          </a:solidFill>
        </p:spPr>
      </p:sp>
      <p:sp>
        <p:nvSpPr>
          <p:cNvPr id="17" name="Shape 15"/>
          <p:cNvSpPr/>
          <p:nvPr/>
        </p:nvSpPr>
        <p:spPr>
          <a:xfrm>
            <a:off x="8252460" y="274320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2460" y="274320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(3,1)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{S}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2934" y="35204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0E7C7B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2934" y="35204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(2,1)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{NP}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31986" y="35204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3E5C87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1986" y="35204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D5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(2,2)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6D5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93408" y="429768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3E5C87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429768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(1,1)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{DT}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52460" y="429768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3E5C87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2460" y="429768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(1,2)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{N}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11512" y="429768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3E5C87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429768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(1,3)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{V,VP}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598932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{S} in the top cell spans the whole sentence — the parse succeeds.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CYK / Chart Parsing in Code (NLTK)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Sentence: “The boy eats an apple” — NLTK's ChartParser performs CYK-style chart parsing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577840" cy="3977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nltk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nltk import CFG, ChartParser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Grammar in CNF form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grammar = CFG.fromstring("""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 -&gt; NP VP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 -&gt; DT 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VP -&gt; V NP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DT -&gt; 'the' | 'an'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 -&gt; 'boy' | 'apple'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 -&gt; 'eats'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""")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parser = ChartParser(grammar)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sentence = ['the', 'boy', 'eats', 'an', 'apple']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tree in parser.parse(sentence):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print(tree)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tree.pretty_print()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0" y="146304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tree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2011680"/>
            <a:ext cx="429768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├─ NP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│   ├─ DT → the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│   └─ N  → boy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└─ VP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├─ V  → eats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└─ NP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├─ DT → an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└─ N  → apple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4983480"/>
            <a:ext cx="4754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Identical tree to the Shift-Reduce demo — different algorithm, same correct structure for this grammar.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91440"/>
            <a:ext cx="2194560" cy="2194560"/>
          </a:xfrm>
          <a:prstGeom prst="ellipse">
            <a:avLst/>
          </a:prstGeom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005840"/>
            <a:ext cx="4023360" cy="4023360"/>
          </a:xfrm>
          <a:prstGeom prst="ellipse">
            <a:avLst/>
          </a:prstGeom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1920240"/>
            <a:ext cx="5852160" cy="5852160"/>
          </a:xfrm>
          <a:prstGeom prst="ellipse">
            <a:avLst/>
          </a:prstGeom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Parse it yourself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E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“The dog chased the cat.”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2B356E"/>
          </a:solidFill>
        </p:spPr>
      </p:sp>
      <p:sp>
        <p:nvSpPr>
          <p:cNvPr id="9" name="Text 7"/>
          <p:cNvSpPr/>
          <p:nvPr/>
        </p:nvSpPr>
        <p:spPr>
          <a:xfrm>
            <a:off x="868680" y="35661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C3D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361188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Shift-Reduce method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6634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1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 the stack and buffer through each shift and reduce step until the sentence reduces to [S].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38328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2B356E"/>
          </a:solidFill>
        </p:spPr>
      </p:sp>
      <p:sp>
        <p:nvSpPr>
          <p:cNvPr id="13" name="Text 11"/>
          <p:cNvSpPr/>
          <p:nvPr/>
        </p:nvSpPr>
        <p:spPr>
          <a:xfrm>
            <a:off x="6263640" y="35661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C3D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12280" y="361188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CYK method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4160520"/>
            <a:ext cx="46634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1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the grammar to CNF if needed, then fill the triangular table span by span until the top cell holds {S}.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methods should arrive at the same underlying structure — chased as the root, with the dog and the cat as its dependents.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Quick Reference — Full Glossary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6D5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short form used across dependency parsing, constituency parsing, CYK, and related NLP tooling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5" name="Text 3"/>
          <p:cNvSpPr/>
          <p:nvPr/>
        </p:nvSpPr>
        <p:spPr>
          <a:xfrm>
            <a:off x="640080" y="15270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465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 — AI field for language understanding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502920" y="21671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8" name="Text 6"/>
          <p:cNvSpPr/>
          <p:nvPr/>
        </p:nvSpPr>
        <p:spPr>
          <a:xfrm>
            <a:off x="640080" y="22128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323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 — root node in constituency parsing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02920" y="28529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11" name="Text 9"/>
          <p:cNvSpPr/>
          <p:nvPr/>
        </p:nvSpPr>
        <p:spPr>
          <a:xfrm>
            <a:off x="640080" y="28986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181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Noun Phrase — e.g. “the cat”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02920" y="35387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14" name="Text 12"/>
          <p:cNvSpPr/>
          <p:nvPr/>
        </p:nvSpPr>
        <p:spPr>
          <a:xfrm>
            <a:off x="640080" y="35844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039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Verb Phrase — e.g. “chased the mouse”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02920" y="42245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17" name="Text 15"/>
          <p:cNvSpPr/>
          <p:nvPr/>
        </p:nvSpPr>
        <p:spPr>
          <a:xfrm>
            <a:off x="640080" y="42702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897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Prepositional Phrase — e.g. “on the mat”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02920" y="49103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20" name="Text 18"/>
          <p:cNvSpPr/>
          <p:nvPr/>
        </p:nvSpPr>
        <p:spPr>
          <a:xfrm>
            <a:off x="640080" y="49560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Det / DT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1755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Determiner — a, an, the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02920" y="55961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23" name="Text 21"/>
          <p:cNvSpPr/>
          <p:nvPr/>
        </p:nvSpPr>
        <p:spPr>
          <a:xfrm>
            <a:off x="640080" y="56418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8613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Noun — person, place, or thing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279392" y="14813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26" name="Text 24"/>
          <p:cNvSpPr/>
          <p:nvPr/>
        </p:nvSpPr>
        <p:spPr>
          <a:xfrm>
            <a:off x="4416552" y="15270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16552" y="17465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Verb — action word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279392" y="21671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29" name="Text 27"/>
          <p:cNvSpPr/>
          <p:nvPr/>
        </p:nvSpPr>
        <p:spPr>
          <a:xfrm>
            <a:off x="4416552" y="22128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ROOT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16552" y="24323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of the sentence — main verb, center of the dependency tree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4279392" y="28529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32" name="Text 30"/>
          <p:cNvSpPr/>
          <p:nvPr/>
        </p:nvSpPr>
        <p:spPr>
          <a:xfrm>
            <a:off x="4416552" y="28986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nsubj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16552" y="31181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Nominal Subject — who performs the action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279392" y="35387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35" name="Text 33"/>
          <p:cNvSpPr/>
          <p:nvPr/>
        </p:nvSpPr>
        <p:spPr>
          <a:xfrm>
            <a:off x="4416552" y="35844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dobj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16552" y="38039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Object — the target of the action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4279392" y="42245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38" name="Text 36"/>
          <p:cNvSpPr/>
          <p:nvPr/>
        </p:nvSpPr>
        <p:spPr>
          <a:xfrm>
            <a:off x="4416552" y="42702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16552" y="44897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term for a grammatical link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279392" y="49103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41" name="Text 39"/>
          <p:cNvSpPr/>
          <p:nvPr/>
        </p:nvSpPr>
        <p:spPr>
          <a:xfrm>
            <a:off x="4416552" y="49560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16552" y="51755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Part-of-Speech — noun, verb, adjective…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4279392" y="55961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44" name="Text 42"/>
          <p:cNvSpPr/>
          <p:nvPr/>
        </p:nvSpPr>
        <p:spPr>
          <a:xfrm>
            <a:off x="4416552" y="56418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CYK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16552" y="58613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Cocke–Younger–Kasami parsing algorithm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8046720" y="14813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47" name="Text 45"/>
          <p:cNvSpPr/>
          <p:nvPr/>
        </p:nvSpPr>
        <p:spPr>
          <a:xfrm>
            <a:off x="8183880" y="15270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183880" y="17465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Named Entity Recognition — identifies names, places, dates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8046720" y="21671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50" name="Text 48"/>
          <p:cNvSpPr/>
          <p:nvPr/>
        </p:nvSpPr>
        <p:spPr>
          <a:xfrm>
            <a:off x="8183880" y="22128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CRF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183880" y="24323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Random Field — discriminative sequence model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8046720" y="28529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53" name="Text 51"/>
          <p:cNvSpPr/>
          <p:nvPr/>
        </p:nvSpPr>
        <p:spPr>
          <a:xfrm>
            <a:off x="8183880" y="28986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HMM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83880" y="31181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Markov Model — generative sequence model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8046720" y="35387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56" name="Text 54"/>
          <p:cNvSpPr/>
          <p:nvPr/>
        </p:nvSpPr>
        <p:spPr>
          <a:xfrm>
            <a:off x="8183880" y="35844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SVM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183880" y="38039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Vector Machine — classification model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8046720" y="42245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59" name="Text 57"/>
          <p:cNvSpPr/>
          <p:nvPr/>
        </p:nvSpPr>
        <p:spPr>
          <a:xfrm>
            <a:off x="8183880" y="42702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spaCy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183880" y="44897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NLP library for parsing, tagging, NER</a:t>
            </a:r>
            <a:endParaRPr lang="en-US" sz="870" dirty="0"/>
          </a:p>
        </p:txBody>
      </p:sp>
      <p:sp>
        <p:nvSpPr>
          <p:cNvPr id="61" name="Shape 59"/>
          <p:cNvSpPr/>
          <p:nvPr/>
        </p:nvSpPr>
        <p:spPr>
          <a:xfrm>
            <a:off x="8046720" y="49103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62" name="Text 60"/>
          <p:cNvSpPr/>
          <p:nvPr/>
        </p:nvSpPr>
        <p:spPr>
          <a:xfrm>
            <a:off x="8183880" y="49560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NLTK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183880" y="51755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Toolkit — Python NLP library</a:t>
            </a:r>
            <a:endParaRPr lang="en-US" sz="870" dirty="0"/>
          </a:p>
        </p:txBody>
      </p:sp>
      <p:sp>
        <p:nvSpPr>
          <p:cNvPr id="64" name="Shape 62"/>
          <p:cNvSpPr/>
          <p:nvPr/>
        </p:nvSpPr>
        <p:spPr>
          <a:xfrm>
            <a:off x="8046720" y="5596128"/>
            <a:ext cx="3611880" cy="603504"/>
          </a:xfrm>
          <a:prstGeom prst="roundRect">
            <a:avLst>
              <a:gd name="adj" fmla="val 7576"/>
            </a:avLst>
          </a:prstGeom>
          <a:solidFill>
            <a:srgbClr val="2B356E"/>
          </a:solidFill>
        </p:spPr>
      </p:sp>
      <p:sp>
        <p:nvSpPr>
          <p:cNvPr id="65" name="Text 63"/>
          <p:cNvSpPr/>
          <p:nvPr/>
        </p:nvSpPr>
        <p:spPr>
          <a:xfrm>
            <a:off x="8183880" y="5641848"/>
            <a:ext cx="3337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Penn Treebank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183880" y="5861304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Landmark dataset of parsed sentences for training parsers</a:t>
            </a:r>
            <a:endParaRPr lang="en-US" sz="870" dirty="0"/>
          </a:p>
        </p:txBody>
      </p:sp>
      <p:sp>
        <p:nvSpPr>
          <p:cNvPr id="67" name="Text 6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Implementation Report · NLP Unit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12525</Words>
  <Application>WPS Presentation</Application>
  <PresentationFormat>On-screen Show (16:9)</PresentationFormat>
  <Paragraphs>766</Paragraphs>
  <Slides>25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SimSun</vt:lpstr>
      <vt:lpstr>Wingdings</vt:lpstr>
      <vt:lpstr>Malgun Gothic Semilight</vt:lpstr>
      <vt:lpstr>Tahoma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Arial</vt:lpstr>
      <vt:lpstr>Times New Roman</vt:lpstr>
      <vt:lpstr>Microsoft YaHei</vt:lpstr>
      <vt:lpstr>Arial Unicode MS</vt:lpstr>
      <vt:lpstr>MS PGothic</vt:lpstr>
      <vt:lpstr>Office Theme</vt:lpstr>
      <vt:lpstr>PowerPoint 演示文稿</vt:lpstr>
      <vt:lpstr>What is Pars ing?</vt:lpstr>
      <vt:lpstr>Why Do We Parse?</vt:lpstr>
      <vt:lpstr>Treebanks: Teaching Machines Grammar</vt:lpstr>
      <vt:lpstr>Ambiguity in Parsing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Afsha Fatima</cp:lastModifiedBy>
  <cp:revision>3</cp:revision>
  <dcterms:created xsi:type="dcterms:W3CDTF">2026-08-12T02:51:00Z</dcterms:created>
  <dcterms:modified xsi:type="dcterms:W3CDTF">2026-08-25T04:07:27Z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0FA3C651E397494E8E00E671F6B4455E_12</vt:lpwstr>
  </property>
</Properties>
</file>