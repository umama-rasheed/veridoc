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Times New Roman MT" charset="1" panose="02030502070405020303"/>
      <p:regular r:id="rId38"/>
    </p:embeddedFont>
    <p:embeddedFont>
      <p:font typeface="Alice Italics" charset="1" panose="00000500000000000000"/>
      <p:regular r:id="rId39"/>
    </p:embeddedFont>
    <p:embeddedFont>
      <p:font typeface="Alice Bold" charset="1" panose="00000500000000000000"/>
      <p:regular r:id="rId40"/>
    </p:embeddedFont>
    <p:embeddedFont>
      <p:font typeface="Alice" charset="1" panose="00000500000000000000"/>
      <p:regular r:id="rId41"/>
    </p:embeddedFont>
    <p:embeddedFont>
      <p:font typeface="Times New Roman MT Bold" charset="1" panose="02030802070405020303"/>
      <p:regular r:id="rId42"/>
    </p:embeddedFont>
    <p:embeddedFont>
      <p:font typeface="Amsterdam Four" charset="1" panose="02000500000000000000"/>
      <p:regular r:id="rId43"/>
    </p:embeddedFont>
    <p:embeddedFont>
      <p:font typeface="Alice Bold Italics" charset="1" panose="0000050000000000000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embeddings/oleObject1.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5.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6.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7.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8.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9.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30.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3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16112768" y="7483284"/>
            <a:ext cx="3827651" cy="382765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57510" y="-1226552"/>
            <a:ext cx="19403020" cy="1779782"/>
            <a:chOff x="0" y="0"/>
            <a:chExt cx="5110260" cy="468749"/>
          </a:xfrm>
        </p:grpSpPr>
        <p:sp>
          <p:nvSpPr>
            <p:cNvPr name="Freeform 6" id="6"/>
            <p:cNvSpPr/>
            <p:nvPr/>
          </p:nvSpPr>
          <p:spPr>
            <a:xfrm flipH="false" flipV="false" rot="0">
              <a:off x="0" y="0"/>
              <a:ext cx="5110261" cy="468749"/>
            </a:xfrm>
            <a:custGeom>
              <a:avLst/>
              <a:gdLst/>
              <a:ahLst/>
              <a:cxnLst/>
              <a:rect r="r" b="b" t="t" l="l"/>
              <a:pathLst>
                <a:path h="468749" w="5110261">
                  <a:moveTo>
                    <a:pt x="0" y="0"/>
                  </a:moveTo>
                  <a:lnTo>
                    <a:pt x="5110261" y="0"/>
                  </a:lnTo>
                  <a:lnTo>
                    <a:pt x="5110261" y="468749"/>
                  </a:lnTo>
                  <a:lnTo>
                    <a:pt x="0" y="468749"/>
                  </a:lnTo>
                  <a:close/>
                </a:path>
              </a:pathLst>
            </a:custGeom>
            <a:solidFill>
              <a:srgbClr val="8DAFA8"/>
            </a:solidFill>
          </p:spPr>
        </p:sp>
        <p:sp>
          <p:nvSpPr>
            <p:cNvPr name="TextBox 7" id="7"/>
            <p:cNvSpPr txBox="true"/>
            <p:nvPr/>
          </p:nvSpPr>
          <p:spPr>
            <a:xfrm>
              <a:off x="0" y="-38100"/>
              <a:ext cx="5110260" cy="50684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57510" y="9820881"/>
            <a:ext cx="19403020" cy="1779782"/>
            <a:chOff x="0" y="0"/>
            <a:chExt cx="5110260" cy="468749"/>
          </a:xfrm>
        </p:grpSpPr>
        <p:sp>
          <p:nvSpPr>
            <p:cNvPr name="Freeform 9" id="9"/>
            <p:cNvSpPr/>
            <p:nvPr/>
          </p:nvSpPr>
          <p:spPr>
            <a:xfrm flipH="false" flipV="false" rot="0">
              <a:off x="0" y="0"/>
              <a:ext cx="5110261" cy="468749"/>
            </a:xfrm>
            <a:custGeom>
              <a:avLst/>
              <a:gdLst/>
              <a:ahLst/>
              <a:cxnLst/>
              <a:rect r="r" b="b" t="t" l="l"/>
              <a:pathLst>
                <a:path h="468749" w="5110261">
                  <a:moveTo>
                    <a:pt x="0" y="0"/>
                  </a:moveTo>
                  <a:lnTo>
                    <a:pt x="5110261" y="0"/>
                  </a:lnTo>
                  <a:lnTo>
                    <a:pt x="5110261" y="468749"/>
                  </a:lnTo>
                  <a:lnTo>
                    <a:pt x="0" y="468749"/>
                  </a:lnTo>
                  <a:close/>
                </a:path>
              </a:pathLst>
            </a:custGeom>
            <a:solidFill>
              <a:srgbClr val="8DAFA8"/>
            </a:solidFill>
          </p:spPr>
        </p:sp>
        <p:sp>
          <p:nvSpPr>
            <p:cNvPr name="TextBox 10" id="10"/>
            <p:cNvSpPr txBox="true"/>
            <p:nvPr/>
          </p:nvSpPr>
          <p:spPr>
            <a:xfrm>
              <a:off x="0" y="-38100"/>
              <a:ext cx="5110260" cy="50684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027095" y="3521973"/>
            <a:ext cx="13085673" cy="1719536"/>
            <a:chOff x="0" y="0"/>
            <a:chExt cx="2751953" cy="361623"/>
          </a:xfrm>
        </p:grpSpPr>
        <p:sp>
          <p:nvSpPr>
            <p:cNvPr name="Freeform 12" id="12"/>
            <p:cNvSpPr/>
            <p:nvPr/>
          </p:nvSpPr>
          <p:spPr>
            <a:xfrm flipH="false" flipV="false" rot="0">
              <a:off x="0" y="0"/>
              <a:ext cx="2751953" cy="361623"/>
            </a:xfrm>
            <a:custGeom>
              <a:avLst/>
              <a:gdLst/>
              <a:ahLst/>
              <a:cxnLst/>
              <a:rect r="r" b="b" t="t" l="l"/>
              <a:pathLst>
                <a:path h="361623" w="2751953">
                  <a:moveTo>
                    <a:pt x="11833" y="0"/>
                  </a:moveTo>
                  <a:lnTo>
                    <a:pt x="2740120" y="0"/>
                  </a:lnTo>
                  <a:cubicBezTo>
                    <a:pt x="2746655" y="0"/>
                    <a:pt x="2751953" y="5298"/>
                    <a:pt x="2751953" y="11833"/>
                  </a:cubicBezTo>
                  <a:lnTo>
                    <a:pt x="2751953" y="349791"/>
                  </a:lnTo>
                  <a:cubicBezTo>
                    <a:pt x="2751953" y="356326"/>
                    <a:pt x="2746655" y="361623"/>
                    <a:pt x="2740120" y="361623"/>
                  </a:cubicBezTo>
                  <a:lnTo>
                    <a:pt x="11833" y="361623"/>
                  </a:lnTo>
                  <a:cubicBezTo>
                    <a:pt x="5298" y="361623"/>
                    <a:pt x="0" y="356326"/>
                    <a:pt x="0" y="349791"/>
                  </a:cubicBezTo>
                  <a:lnTo>
                    <a:pt x="0" y="11833"/>
                  </a:lnTo>
                  <a:cubicBezTo>
                    <a:pt x="0" y="5298"/>
                    <a:pt x="5298" y="0"/>
                    <a:pt x="11833" y="0"/>
                  </a:cubicBezTo>
                  <a:close/>
                </a:path>
              </a:pathLst>
            </a:custGeom>
            <a:solidFill>
              <a:srgbClr val="FFE5BA"/>
            </a:solidFill>
          </p:spPr>
        </p:sp>
        <p:sp>
          <p:nvSpPr>
            <p:cNvPr name="TextBox 13" id="13"/>
            <p:cNvSpPr txBox="true"/>
            <p:nvPr/>
          </p:nvSpPr>
          <p:spPr>
            <a:xfrm>
              <a:off x="0" y="-38100"/>
              <a:ext cx="2751953" cy="399723"/>
            </a:xfrm>
            <a:prstGeom prst="rect">
              <a:avLst/>
            </a:prstGeom>
          </p:spPr>
          <p:txBody>
            <a:bodyPr anchor="ctr" rtlCol="false" tIns="50800" lIns="50800" bIns="50800" rIns="50800"/>
            <a:lstStyle/>
            <a:p>
              <a:pPr algn="r">
                <a:lnSpc>
                  <a:spcPts val="2659"/>
                </a:lnSpc>
              </a:pPr>
            </a:p>
          </p:txBody>
        </p:sp>
      </p:grpSp>
      <p:sp>
        <p:nvSpPr>
          <p:cNvPr name="Freeform 14" id="14"/>
          <p:cNvSpPr/>
          <p:nvPr/>
        </p:nvSpPr>
        <p:spPr>
          <a:xfrm flipH="false" flipV="false" rot="0">
            <a:off x="870655" y="1041747"/>
            <a:ext cx="2611470" cy="2202340"/>
          </a:xfrm>
          <a:custGeom>
            <a:avLst/>
            <a:gdLst/>
            <a:ahLst/>
            <a:cxnLst/>
            <a:rect r="r" b="b" t="t" l="l"/>
            <a:pathLst>
              <a:path h="2202340" w="2611470">
                <a:moveTo>
                  <a:pt x="0" y="0"/>
                </a:moveTo>
                <a:lnTo>
                  <a:pt x="2611470" y="0"/>
                </a:lnTo>
                <a:lnTo>
                  <a:pt x="2611470" y="2202340"/>
                </a:lnTo>
                <a:lnTo>
                  <a:pt x="0" y="2202340"/>
                </a:lnTo>
                <a:lnTo>
                  <a:pt x="0" y="0"/>
                </a:lnTo>
                <a:close/>
              </a:path>
            </a:pathLst>
          </a:custGeom>
          <a:blipFill>
            <a:blip r:embed="rId2"/>
            <a:stretch>
              <a:fillRect l="0" t="0" r="0" b="0"/>
            </a:stretch>
          </a:blipFill>
        </p:spPr>
      </p:sp>
      <p:sp>
        <p:nvSpPr>
          <p:cNvPr name="TextBox 15" id="15"/>
          <p:cNvSpPr txBox="true"/>
          <p:nvPr/>
        </p:nvSpPr>
        <p:spPr>
          <a:xfrm rot="0">
            <a:off x="3789325" y="927447"/>
            <a:ext cx="14068841" cy="1759555"/>
          </a:xfrm>
          <a:prstGeom prst="rect">
            <a:avLst/>
          </a:prstGeom>
        </p:spPr>
        <p:txBody>
          <a:bodyPr anchor="t" rtlCol="false" tIns="0" lIns="0" bIns="0" rIns="0">
            <a:spAutoFit/>
          </a:bodyPr>
          <a:lstStyle/>
          <a:p>
            <a:pPr algn="l">
              <a:lnSpc>
                <a:spcPts val="6517"/>
              </a:lnSpc>
            </a:pPr>
            <a:r>
              <a:rPr lang="en-US" sz="5476">
                <a:solidFill>
                  <a:srgbClr val="8F6234"/>
                </a:solidFill>
                <a:latin typeface="Times New Roman MT"/>
                <a:ea typeface="Times New Roman MT"/>
                <a:cs typeface="Times New Roman MT"/>
                <a:sym typeface="Times New Roman MT"/>
              </a:rPr>
              <a:t>SHADAN WOMEN'S COLLEGE OF ENGINEERING AND TECHNOLOGY</a:t>
            </a:r>
            <a:r>
              <a:rPr lang="en-US" sz="5476">
                <a:solidFill>
                  <a:srgbClr val="1E302C"/>
                </a:solidFill>
                <a:latin typeface="Times New Roman MT"/>
                <a:ea typeface="Times New Roman MT"/>
                <a:cs typeface="Times New Roman MT"/>
                <a:sym typeface="Times New Roman MT"/>
              </a:rPr>
              <a:t>         </a:t>
            </a:r>
          </a:p>
        </p:txBody>
      </p:sp>
      <p:sp>
        <p:nvSpPr>
          <p:cNvPr name="TextBox 16" id="16"/>
          <p:cNvSpPr txBox="true"/>
          <p:nvPr/>
        </p:nvSpPr>
        <p:spPr>
          <a:xfrm rot="0">
            <a:off x="3932578" y="6397369"/>
            <a:ext cx="11506025" cy="2999740"/>
          </a:xfrm>
          <a:prstGeom prst="rect">
            <a:avLst/>
          </a:prstGeom>
        </p:spPr>
        <p:txBody>
          <a:bodyPr anchor="t" rtlCol="false" tIns="0" lIns="0" bIns="0" rIns="0">
            <a:spAutoFit/>
          </a:bodyPr>
          <a:lstStyle/>
          <a:p>
            <a:pPr algn="l">
              <a:lnSpc>
                <a:spcPts val="4760"/>
              </a:lnSpc>
            </a:pPr>
            <a:r>
              <a:rPr lang="en-US" sz="3400" i="true">
                <a:solidFill>
                  <a:srgbClr val="1E302C"/>
                </a:solidFill>
                <a:latin typeface="Alice Italics"/>
                <a:ea typeface="Alice Italics"/>
                <a:cs typeface="Alice Italics"/>
                <a:sym typeface="Alice Italics"/>
              </a:rPr>
              <a:t>Presented By</a:t>
            </a:r>
            <a:r>
              <a:rPr lang="en-US" sz="3400">
                <a:solidFill>
                  <a:srgbClr val="1E302C"/>
                </a:solidFill>
                <a:latin typeface="Alice Bold"/>
                <a:ea typeface="Alice Bold"/>
                <a:cs typeface="Alice Bold"/>
                <a:sym typeface="Alice Bold"/>
              </a:rPr>
              <a:t> : </a:t>
            </a:r>
            <a:r>
              <a:rPr lang="en-US" sz="3400">
                <a:solidFill>
                  <a:srgbClr val="1E302C"/>
                </a:solidFill>
                <a:latin typeface="Alice"/>
                <a:ea typeface="Alice"/>
                <a:cs typeface="Alice"/>
                <a:sym typeface="Alice"/>
              </a:rPr>
              <a:t>Amath ur Rasheed U.A. (24L51A0508) </a:t>
            </a:r>
          </a:p>
          <a:p>
            <a:pPr algn="l">
              <a:lnSpc>
                <a:spcPts val="4760"/>
              </a:lnSpc>
            </a:pPr>
            <a:r>
              <a:rPr lang="en-US" sz="3400" i="true">
                <a:solidFill>
                  <a:srgbClr val="1E302C"/>
                </a:solidFill>
                <a:latin typeface="Alice Italics"/>
                <a:ea typeface="Alice Italics"/>
                <a:cs typeface="Alice Italics"/>
                <a:sym typeface="Alice Italics"/>
              </a:rPr>
              <a:t>Supervisor</a:t>
            </a:r>
            <a:r>
              <a:rPr lang="en-US" sz="3400">
                <a:solidFill>
                  <a:srgbClr val="1E302C"/>
                </a:solidFill>
                <a:latin typeface="Alice Bold"/>
                <a:ea typeface="Alice Bold"/>
                <a:cs typeface="Alice Bold"/>
                <a:sym typeface="Alice Bold"/>
              </a:rPr>
              <a:t> : </a:t>
            </a:r>
            <a:r>
              <a:rPr lang="en-US" sz="3400">
                <a:solidFill>
                  <a:srgbClr val="1E302C"/>
                </a:solidFill>
                <a:latin typeface="Alice"/>
                <a:ea typeface="Alice"/>
                <a:cs typeface="Alice"/>
                <a:sym typeface="Alice"/>
              </a:rPr>
              <a:t>Ms. Sadaf Jahan </a:t>
            </a:r>
          </a:p>
          <a:p>
            <a:pPr algn="l">
              <a:lnSpc>
                <a:spcPts val="4760"/>
              </a:lnSpc>
            </a:pPr>
            <a:r>
              <a:rPr lang="en-US" sz="3400" i="true">
                <a:solidFill>
                  <a:srgbClr val="1E302C"/>
                </a:solidFill>
                <a:latin typeface="Alice Italics"/>
                <a:ea typeface="Alice Italics"/>
                <a:cs typeface="Alice Italics"/>
                <a:sym typeface="Alice Italics"/>
              </a:rPr>
              <a:t>Class</a:t>
            </a:r>
            <a:r>
              <a:rPr lang="en-US" sz="3400">
                <a:solidFill>
                  <a:srgbClr val="1E302C"/>
                </a:solidFill>
                <a:latin typeface="Alice Bold"/>
                <a:ea typeface="Alice Bold"/>
                <a:cs typeface="Alice Bold"/>
                <a:sym typeface="Alice Bold"/>
              </a:rPr>
              <a:t> : </a:t>
            </a:r>
            <a:r>
              <a:rPr lang="en-US" sz="3400">
                <a:solidFill>
                  <a:srgbClr val="1E302C"/>
                </a:solidFill>
                <a:latin typeface="Alice"/>
                <a:ea typeface="Alice"/>
                <a:cs typeface="Alice"/>
                <a:sym typeface="Alice"/>
              </a:rPr>
              <a:t>B.Tech 2nd Year 2nd Semester </a:t>
            </a:r>
          </a:p>
          <a:p>
            <a:pPr algn="l">
              <a:lnSpc>
                <a:spcPts val="4760"/>
              </a:lnSpc>
            </a:pPr>
            <a:r>
              <a:rPr lang="en-US" sz="3400" i="true">
                <a:solidFill>
                  <a:srgbClr val="1E302C"/>
                </a:solidFill>
                <a:latin typeface="Alice Italics"/>
                <a:ea typeface="Alice Italics"/>
                <a:cs typeface="Alice Italics"/>
                <a:sym typeface="Alice Italics"/>
              </a:rPr>
              <a:t>Section</a:t>
            </a:r>
            <a:r>
              <a:rPr lang="en-US" sz="3400">
                <a:solidFill>
                  <a:srgbClr val="1E302C"/>
                </a:solidFill>
                <a:latin typeface="Alice Bold"/>
                <a:ea typeface="Alice Bold"/>
                <a:cs typeface="Alice Bold"/>
                <a:sym typeface="Alice Bold"/>
              </a:rPr>
              <a:t> :</a:t>
            </a:r>
            <a:r>
              <a:rPr lang="en-US" sz="3400">
                <a:solidFill>
                  <a:srgbClr val="1E302C"/>
                </a:solidFill>
                <a:latin typeface="Alice"/>
                <a:ea typeface="Alice"/>
                <a:cs typeface="Alice"/>
                <a:sym typeface="Alice"/>
              </a:rPr>
              <a:t> CSE-A</a:t>
            </a:r>
          </a:p>
          <a:p>
            <a:pPr algn="l">
              <a:lnSpc>
                <a:spcPts val="4760"/>
              </a:lnSpc>
              <a:spcBef>
                <a:spcPct val="0"/>
              </a:spcBef>
            </a:pPr>
            <a:r>
              <a:rPr lang="en-US" sz="3400">
                <a:solidFill>
                  <a:srgbClr val="1E302C"/>
                </a:solidFill>
                <a:latin typeface="Alice Bold"/>
                <a:ea typeface="Alice Bold"/>
                <a:cs typeface="Alice Bold"/>
                <a:sym typeface="Alice Bold"/>
              </a:rPr>
              <a:t> </a:t>
            </a:r>
          </a:p>
        </p:txBody>
      </p:sp>
      <p:sp>
        <p:nvSpPr>
          <p:cNvPr name="TextBox 17" id="17"/>
          <p:cNvSpPr txBox="true"/>
          <p:nvPr/>
        </p:nvSpPr>
        <p:spPr>
          <a:xfrm rot="0">
            <a:off x="2601164" y="3641661"/>
            <a:ext cx="13085673" cy="1384911"/>
          </a:xfrm>
          <a:prstGeom prst="rect">
            <a:avLst/>
          </a:prstGeom>
        </p:spPr>
        <p:txBody>
          <a:bodyPr anchor="t" rtlCol="false" tIns="0" lIns="0" bIns="0" rIns="0">
            <a:spAutoFit/>
          </a:bodyPr>
          <a:lstStyle/>
          <a:p>
            <a:pPr algn="ctr" marL="0" indent="0" lvl="0">
              <a:lnSpc>
                <a:spcPts val="5566"/>
              </a:lnSpc>
              <a:spcBef>
                <a:spcPct val="0"/>
              </a:spcBef>
            </a:pPr>
            <a:r>
              <a:rPr lang="en-US" sz="3975" i="true" strike="noStrike" u="none">
                <a:solidFill>
                  <a:srgbClr val="1E302C"/>
                </a:solidFill>
                <a:latin typeface="Alice Italics"/>
                <a:ea typeface="Alice Italics"/>
                <a:cs typeface="Alice Italics"/>
                <a:sym typeface="Alice Italics"/>
              </a:rPr>
              <a:t>Topic : Smart </a:t>
            </a:r>
            <a:r>
              <a:rPr lang="en-US" sz="3975" i="true" strike="noStrike" u="none">
                <a:solidFill>
                  <a:srgbClr val="1E302C"/>
                </a:solidFill>
                <a:latin typeface="Alice Italics"/>
                <a:ea typeface="Alice Italics"/>
                <a:cs typeface="Alice Italics"/>
                <a:sym typeface="Alice Italics"/>
              </a:rPr>
              <a:t>Job Portal-Real Time Job Search</a:t>
            </a:r>
            <a:r>
              <a:rPr lang="en-US" sz="3975" i="true" strike="noStrike" u="none">
                <a:solidFill>
                  <a:srgbClr val="1E302C"/>
                </a:solidFill>
                <a:latin typeface="Alice Italics"/>
                <a:ea typeface="Alice Italics"/>
                <a:cs typeface="Alice Italics"/>
                <a:sym typeface="Alice Italics"/>
              </a:rPr>
              <a:t>  </a:t>
            </a:r>
          </a:p>
          <a:p>
            <a:pPr algn="ctr" marL="0" indent="0" lvl="0">
              <a:lnSpc>
                <a:spcPts val="5566"/>
              </a:lnSpc>
              <a:spcBef>
                <a:spcPct val="0"/>
              </a:spcBef>
            </a:pPr>
            <a:r>
              <a:rPr lang="en-US" sz="3975" i="true" strike="noStrike" u="none">
                <a:solidFill>
                  <a:srgbClr val="1E302C"/>
                </a:solidFill>
                <a:latin typeface="Alice Italics"/>
                <a:ea typeface="Alice Italics"/>
                <a:cs typeface="Alice Italics"/>
                <a:sym typeface="Alice Italics"/>
              </a:rPr>
              <a:t>       And AI Recommendations  </a:t>
            </a:r>
          </a:p>
        </p:txBody>
      </p:sp>
      <p:grpSp>
        <p:nvGrpSpPr>
          <p:cNvPr name="Group 18" id="18"/>
          <p:cNvGrpSpPr/>
          <p:nvPr/>
        </p:nvGrpSpPr>
        <p:grpSpPr>
          <a:xfrm rot="0">
            <a:off x="-1201014" y="6091159"/>
            <a:ext cx="4459428" cy="445942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16655483" y="7885097"/>
            <a:ext cx="1202683" cy="1284419"/>
          </a:xfrm>
          <a:custGeom>
            <a:avLst/>
            <a:gdLst/>
            <a:ahLst/>
            <a:cxnLst/>
            <a:rect r="r" b="b" t="t" l="l"/>
            <a:pathLst>
              <a:path h="1284419" w="1202683">
                <a:moveTo>
                  <a:pt x="0" y="0"/>
                </a:moveTo>
                <a:lnTo>
                  <a:pt x="1202684" y="0"/>
                </a:lnTo>
                <a:lnTo>
                  <a:pt x="1202684" y="1284418"/>
                </a:lnTo>
                <a:lnTo>
                  <a:pt x="0" y="12844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2" id="22"/>
          <p:cNvGrpSpPr/>
          <p:nvPr/>
        </p:nvGrpSpPr>
        <p:grpSpPr>
          <a:xfrm rot="0">
            <a:off x="870655" y="5055147"/>
            <a:ext cx="2304990" cy="230499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true" flipV="false" rot="0">
            <a:off x="358269" y="7095318"/>
            <a:ext cx="1340861" cy="1431988"/>
          </a:xfrm>
          <a:custGeom>
            <a:avLst/>
            <a:gdLst/>
            <a:ahLst/>
            <a:cxnLst/>
            <a:rect r="r" b="b" t="t" l="l"/>
            <a:pathLst>
              <a:path h="1431988" w="1340861">
                <a:moveTo>
                  <a:pt x="1340862" y="0"/>
                </a:moveTo>
                <a:lnTo>
                  <a:pt x="0" y="0"/>
                </a:lnTo>
                <a:lnTo>
                  <a:pt x="0" y="1431988"/>
                </a:lnTo>
                <a:lnTo>
                  <a:pt x="1340862" y="1431988"/>
                </a:lnTo>
                <a:lnTo>
                  <a:pt x="1340862"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6" id="26"/>
          <p:cNvSpPr txBox="true"/>
          <p:nvPr/>
        </p:nvSpPr>
        <p:spPr>
          <a:xfrm rot="0">
            <a:off x="4561999" y="5477323"/>
            <a:ext cx="9164003" cy="722333"/>
          </a:xfrm>
          <a:prstGeom prst="rect">
            <a:avLst/>
          </a:prstGeom>
        </p:spPr>
        <p:txBody>
          <a:bodyPr anchor="t" rtlCol="false" tIns="0" lIns="0" bIns="0" rIns="0">
            <a:spAutoFit/>
          </a:bodyPr>
          <a:lstStyle/>
          <a:p>
            <a:pPr algn="ctr">
              <a:lnSpc>
                <a:spcPts val="5861"/>
              </a:lnSpc>
            </a:pPr>
            <a:r>
              <a:rPr lang="en-US" sz="4186">
                <a:solidFill>
                  <a:srgbClr val="000000"/>
                </a:solidFill>
                <a:latin typeface="Alice"/>
                <a:ea typeface="Alice"/>
                <a:cs typeface="Alice"/>
                <a:sym typeface="Alice"/>
              </a:rPr>
              <a:t>Real-Time Research Project - Review 2 </a:t>
            </a:r>
          </a:p>
        </p:txBody>
      </p:sp>
      <p:sp>
        <p:nvSpPr>
          <p:cNvPr name="TextBox 27" id="27"/>
          <p:cNvSpPr txBox="true"/>
          <p:nvPr/>
        </p:nvSpPr>
        <p:spPr>
          <a:xfrm rot="0">
            <a:off x="3614524" y="2571040"/>
            <a:ext cx="12355354" cy="662940"/>
          </a:xfrm>
          <a:prstGeom prst="rect">
            <a:avLst/>
          </a:prstGeom>
        </p:spPr>
        <p:txBody>
          <a:bodyPr anchor="t" rtlCol="false" tIns="0" lIns="0" bIns="0" rIns="0">
            <a:spAutoFit/>
          </a:bodyPr>
          <a:lstStyle/>
          <a:p>
            <a:pPr algn="ctr">
              <a:lnSpc>
                <a:spcPts val="5459"/>
              </a:lnSpc>
            </a:pPr>
            <a:r>
              <a:rPr lang="en-US" sz="3900">
                <a:solidFill>
                  <a:srgbClr val="000000"/>
                </a:solidFill>
                <a:latin typeface="Alice"/>
                <a:ea typeface="Alice"/>
                <a:cs typeface="Alice"/>
                <a:sym typeface="Alice"/>
              </a:rPr>
              <a:t>[ An UGC Autonomous Institution Affiliated to JNTUH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557510" y="9784028"/>
            <a:ext cx="19403020" cy="2466909"/>
            <a:chOff x="0" y="0"/>
            <a:chExt cx="5110260" cy="649721"/>
          </a:xfrm>
        </p:grpSpPr>
        <p:sp>
          <p:nvSpPr>
            <p:cNvPr name="Freeform 3" id="3"/>
            <p:cNvSpPr/>
            <p:nvPr/>
          </p:nvSpPr>
          <p:spPr>
            <a:xfrm flipH="false" flipV="false" rot="0">
              <a:off x="0" y="0"/>
              <a:ext cx="5110261" cy="649721"/>
            </a:xfrm>
            <a:custGeom>
              <a:avLst/>
              <a:gdLst/>
              <a:ahLst/>
              <a:cxnLst/>
              <a:rect r="r" b="b" t="t" l="l"/>
              <a:pathLst>
                <a:path h="649721" w="5110261">
                  <a:moveTo>
                    <a:pt x="0" y="0"/>
                  </a:moveTo>
                  <a:lnTo>
                    <a:pt x="5110261" y="0"/>
                  </a:lnTo>
                  <a:lnTo>
                    <a:pt x="5110261" y="649721"/>
                  </a:lnTo>
                  <a:lnTo>
                    <a:pt x="0" y="649721"/>
                  </a:lnTo>
                  <a:close/>
                </a:path>
              </a:pathLst>
            </a:custGeom>
            <a:solidFill>
              <a:srgbClr val="8DAFA8"/>
            </a:solidFill>
          </p:spPr>
        </p:sp>
        <p:sp>
          <p:nvSpPr>
            <p:cNvPr name="TextBox 4" id="4"/>
            <p:cNvSpPr txBox="true"/>
            <p:nvPr/>
          </p:nvSpPr>
          <p:spPr>
            <a:xfrm>
              <a:off x="0" y="-38100"/>
              <a:ext cx="5110260" cy="6878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039807" y="4321792"/>
            <a:ext cx="2506837" cy="250683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96768" y="5355004"/>
            <a:ext cx="2050916" cy="20509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966026" y="4677019"/>
            <a:ext cx="1565519" cy="156551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966026" y="5798804"/>
            <a:ext cx="1163316" cy="116331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195414" y="3348335"/>
            <a:ext cx="3560249" cy="3165385"/>
          </a:xfrm>
          <a:custGeom>
            <a:avLst/>
            <a:gdLst/>
            <a:ahLst/>
            <a:cxnLst/>
            <a:rect r="r" b="b" t="t" l="l"/>
            <a:pathLst>
              <a:path h="3165385" w="3560249">
                <a:moveTo>
                  <a:pt x="0" y="0"/>
                </a:moveTo>
                <a:lnTo>
                  <a:pt x="3560249" y="0"/>
                </a:lnTo>
                <a:lnTo>
                  <a:pt x="3560249" y="3165385"/>
                </a:lnTo>
                <a:lnTo>
                  <a:pt x="0" y="31653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1053094" y="742950"/>
            <a:ext cx="5129123" cy="1403705"/>
          </a:xfrm>
          <a:prstGeom prst="rect">
            <a:avLst/>
          </a:prstGeom>
        </p:spPr>
        <p:txBody>
          <a:bodyPr anchor="t" rtlCol="false" tIns="0" lIns="0" bIns="0" rIns="0">
            <a:spAutoFit/>
          </a:bodyPr>
          <a:lstStyle/>
          <a:p>
            <a:pPr algn="l">
              <a:lnSpc>
                <a:spcPts val="10305"/>
              </a:lnSpc>
              <a:spcBef>
                <a:spcPct val="0"/>
              </a:spcBef>
            </a:pPr>
            <a:r>
              <a:rPr lang="en-US" b="true" sz="7361">
                <a:solidFill>
                  <a:srgbClr val="8F6234"/>
                </a:solidFill>
                <a:latin typeface="Times New Roman MT Bold"/>
                <a:ea typeface="Times New Roman MT Bold"/>
                <a:cs typeface="Times New Roman MT Bold"/>
                <a:sym typeface="Times New Roman MT Bold"/>
              </a:rPr>
              <a:t>ABSTRACT</a:t>
            </a:r>
          </a:p>
        </p:txBody>
      </p:sp>
      <p:sp>
        <p:nvSpPr>
          <p:cNvPr name="TextBox 19" id="19"/>
          <p:cNvSpPr txBox="true"/>
          <p:nvPr/>
        </p:nvSpPr>
        <p:spPr>
          <a:xfrm rot="0">
            <a:off x="7157612" y="1471851"/>
            <a:ext cx="10003488" cy="7943612"/>
          </a:xfrm>
          <a:prstGeom prst="rect">
            <a:avLst/>
          </a:prstGeom>
        </p:spPr>
        <p:txBody>
          <a:bodyPr anchor="t" rtlCol="false" tIns="0" lIns="0" bIns="0" rIns="0">
            <a:spAutoFit/>
          </a:bodyPr>
          <a:lstStyle/>
          <a:p>
            <a:pPr algn="just">
              <a:lnSpc>
                <a:spcPts val="4491"/>
              </a:lnSpc>
            </a:pPr>
            <a:r>
              <a:rPr lang="en-US" sz="2509" spc="42">
                <a:solidFill>
                  <a:srgbClr val="1E302C"/>
                </a:solidFill>
                <a:latin typeface="Alice"/>
                <a:ea typeface="Alice"/>
                <a:cs typeface="Alice"/>
                <a:sym typeface="Alice"/>
              </a:rPr>
              <a:t>Finding suitable job opportunities can be difficult because traditional job portals require users to manually search through many listings that may not match their skills and qualifications. This process is often time-consuming and inefficient. The proposed Smart Job Portal with Real-Time Job Search and AI Recommendation aims to improve the job search experience by providing the latest job postings in real time and recommending relevant jobs based on users’ profiles, skills, and preferences using Artificial Intelligence (AI). This system helps job seekers quickly find suitable job opportunities while enabling employers to reach the right candidates. The main goal of this project is to make the job search process faster, more accurate, and more user-friendly.</a:t>
            </a:r>
          </a:p>
          <a:p>
            <a:pPr algn="just">
              <a:lnSpc>
                <a:spcPts val="4491"/>
              </a:lnSpc>
            </a:pPr>
          </a:p>
          <a:p>
            <a:pPr algn="just">
              <a:lnSpc>
                <a:spcPts val="4491"/>
              </a:lnSpc>
            </a:pPr>
          </a:p>
        </p:txBody>
      </p:sp>
      <p:sp>
        <p:nvSpPr>
          <p:cNvPr name="Freeform 20" id="20"/>
          <p:cNvSpPr/>
          <p:nvPr/>
        </p:nvSpPr>
        <p:spPr>
          <a:xfrm flipH="false" flipV="false" rot="1458512">
            <a:off x="4019252" y="3767356"/>
            <a:ext cx="1472822" cy="634652"/>
          </a:xfrm>
          <a:custGeom>
            <a:avLst/>
            <a:gdLst/>
            <a:ahLst/>
            <a:cxnLst/>
            <a:rect r="r" b="b" t="t" l="l"/>
            <a:pathLst>
              <a:path h="634652" w="1472822">
                <a:moveTo>
                  <a:pt x="0" y="0"/>
                </a:moveTo>
                <a:lnTo>
                  <a:pt x="1472822" y="0"/>
                </a:lnTo>
                <a:lnTo>
                  <a:pt x="1472822" y="634652"/>
                </a:lnTo>
                <a:lnTo>
                  <a:pt x="0" y="6346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false" rot="0">
            <a:off x="664292" y="4860837"/>
            <a:ext cx="777604" cy="830451"/>
          </a:xfrm>
          <a:custGeom>
            <a:avLst/>
            <a:gdLst/>
            <a:ahLst/>
            <a:cxnLst/>
            <a:rect r="r" b="b" t="t" l="l"/>
            <a:pathLst>
              <a:path h="830451" w="777604">
                <a:moveTo>
                  <a:pt x="777604" y="0"/>
                </a:moveTo>
                <a:lnTo>
                  <a:pt x="0" y="0"/>
                </a:lnTo>
                <a:lnTo>
                  <a:pt x="0" y="830451"/>
                </a:lnTo>
                <a:lnTo>
                  <a:pt x="777604" y="830451"/>
                </a:lnTo>
                <a:lnTo>
                  <a:pt x="77760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6289594" y="5798804"/>
            <a:ext cx="1038105" cy="1108655"/>
          </a:xfrm>
          <a:custGeom>
            <a:avLst/>
            <a:gdLst/>
            <a:ahLst/>
            <a:cxnLst/>
            <a:rect r="r" b="b" t="t" l="l"/>
            <a:pathLst>
              <a:path h="1108655" w="1038105">
                <a:moveTo>
                  <a:pt x="0" y="0"/>
                </a:moveTo>
                <a:lnTo>
                  <a:pt x="1038105" y="0"/>
                </a:lnTo>
                <a:lnTo>
                  <a:pt x="1038105" y="1108655"/>
                </a:lnTo>
                <a:lnTo>
                  <a:pt x="0" y="1108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sp>
        <p:nvSpPr>
          <p:cNvPr name="TextBox 2" id="2"/>
          <p:cNvSpPr txBox="true"/>
          <p:nvPr/>
        </p:nvSpPr>
        <p:spPr>
          <a:xfrm rot="0">
            <a:off x="1691980" y="934303"/>
            <a:ext cx="7367096" cy="1786476"/>
          </a:xfrm>
          <a:prstGeom prst="rect">
            <a:avLst/>
          </a:prstGeom>
        </p:spPr>
        <p:txBody>
          <a:bodyPr anchor="t" rtlCol="false" tIns="0" lIns="0" bIns="0" rIns="0">
            <a:spAutoFit/>
          </a:bodyPr>
          <a:lstStyle/>
          <a:p>
            <a:pPr algn="l" marL="0" indent="0" lvl="0">
              <a:lnSpc>
                <a:spcPts val="14654"/>
              </a:lnSpc>
              <a:spcBef>
                <a:spcPct val="0"/>
              </a:spcBef>
            </a:pPr>
            <a:r>
              <a:rPr lang="en-US" sz="10467" strike="noStrike" u="none">
                <a:solidFill>
                  <a:srgbClr val="1E302C"/>
                </a:solidFill>
                <a:latin typeface="Amsterdam Four"/>
                <a:ea typeface="Amsterdam Four"/>
                <a:cs typeface="Amsterdam Four"/>
                <a:sym typeface="Amsterdam Four"/>
              </a:rPr>
              <a:t>Introduction </a:t>
            </a:r>
          </a:p>
        </p:txBody>
      </p:sp>
      <p:grpSp>
        <p:nvGrpSpPr>
          <p:cNvPr name="Group 3" id="3"/>
          <p:cNvGrpSpPr/>
          <p:nvPr/>
        </p:nvGrpSpPr>
        <p:grpSpPr>
          <a:xfrm rot="0">
            <a:off x="8345602" y="800626"/>
            <a:ext cx="9301625" cy="9658223"/>
            <a:chOff x="0" y="0"/>
            <a:chExt cx="2449811" cy="2543730"/>
          </a:xfrm>
        </p:grpSpPr>
        <p:sp>
          <p:nvSpPr>
            <p:cNvPr name="Freeform 4" id="4"/>
            <p:cNvSpPr/>
            <p:nvPr/>
          </p:nvSpPr>
          <p:spPr>
            <a:xfrm flipH="false" flipV="false" rot="0">
              <a:off x="0" y="0"/>
              <a:ext cx="2449811" cy="2543730"/>
            </a:xfrm>
            <a:custGeom>
              <a:avLst/>
              <a:gdLst/>
              <a:ahLst/>
              <a:cxnLst/>
              <a:rect r="r" b="b" t="t" l="l"/>
              <a:pathLst>
                <a:path h="2543730" w="2449811">
                  <a:moveTo>
                    <a:pt x="16646" y="0"/>
                  </a:moveTo>
                  <a:lnTo>
                    <a:pt x="2433164" y="0"/>
                  </a:lnTo>
                  <a:cubicBezTo>
                    <a:pt x="2437579" y="0"/>
                    <a:pt x="2441813" y="1754"/>
                    <a:pt x="2444935" y="4876"/>
                  </a:cubicBezTo>
                  <a:cubicBezTo>
                    <a:pt x="2448057" y="7997"/>
                    <a:pt x="2449811" y="12231"/>
                    <a:pt x="2449811" y="16646"/>
                  </a:cubicBezTo>
                  <a:lnTo>
                    <a:pt x="2449811" y="2527083"/>
                  </a:lnTo>
                  <a:cubicBezTo>
                    <a:pt x="2449811" y="2536277"/>
                    <a:pt x="2442358" y="2543730"/>
                    <a:pt x="2433164" y="2543730"/>
                  </a:cubicBezTo>
                  <a:lnTo>
                    <a:pt x="16646" y="2543730"/>
                  </a:lnTo>
                  <a:cubicBezTo>
                    <a:pt x="12231" y="2543730"/>
                    <a:pt x="7997" y="2541976"/>
                    <a:pt x="4876" y="2538854"/>
                  </a:cubicBezTo>
                  <a:cubicBezTo>
                    <a:pt x="1754" y="2535732"/>
                    <a:pt x="0" y="2531498"/>
                    <a:pt x="0" y="2527083"/>
                  </a:cubicBezTo>
                  <a:lnTo>
                    <a:pt x="0" y="16646"/>
                  </a:lnTo>
                  <a:cubicBezTo>
                    <a:pt x="0" y="12231"/>
                    <a:pt x="1754" y="7997"/>
                    <a:pt x="4876" y="4876"/>
                  </a:cubicBezTo>
                  <a:cubicBezTo>
                    <a:pt x="7997" y="1754"/>
                    <a:pt x="12231" y="0"/>
                    <a:pt x="16646" y="0"/>
                  </a:cubicBezTo>
                  <a:close/>
                </a:path>
              </a:pathLst>
            </a:custGeom>
            <a:solidFill>
              <a:srgbClr val="FFF7EF"/>
            </a:solidFill>
            <a:ln cap="sq">
              <a:noFill/>
              <a:prstDash val="solid"/>
              <a:miter/>
            </a:ln>
          </p:spPr>
        </p:sp>
        <p:sp>
          <p:nvSpPr>
            <p:cNvPr name="TextBox 5" id="5"/>
            <p:cNvSpPr txBox="true"/>
            <p:nvPr/>
          </p:nvSpPr>
          <p:spPr>
            <a:xfrm>
              <a:off x="0" y="-66675"/>
              <a:ext cx="2449811" cy="2610405"/>
            </a:xfrm>
            <a:prstGeom prst="rect">
              <a:avLst/>
            </a:prstGeom>
          </p:spPr>
          <p:txBody>
            <a:bodyPr anchor="ctr" rtlCol="false" tIns="50800" lIns="50800" bIns="50800" rIns="50800"/>
            <a:lstStyle/>
            <a:p>
              <a:pPr algn="just">
                <a:lnSpc>
                  <a:spcPts val="4480"/>
                </a:lnSpc>
              </a:pPr>
              <a:r>
                <a:rPr lang="en-US" sz="3200">
                  <a:solidFill>
                    <a:srgbClr val="000000"/>
                  </a:solidFill>
                  <a:latin typeface="Alice"/>
                  <a:ea typeface="Alice"/>
                  <a:cs typeface="Alice"/>
                  <a:sym typeface="Alice"/>
                </a:rPr>
                <a:t>A Smart Job Portal with Real-Time Job Search and Al Recommendation is an advanced online platform designed to help job seekers find suitable employment opportunities quickly and efficiently. It combines real-time job updates with Artificial Intelligence (AI technology to provide personalized job recommendations based on a user's skills, qualifications, and preferences. This topie is important because the traditional job search process is often time-consuming and inefficient. requiring candidates to manually browse through many job listings that may not match their profiles. Overall, this system aims to create a more intelligent, user-friendly, and efficient platform that helps individuals find suitable career opportunities while assisting organizations in selecting </a:t>
              </a:r>
              <a:r>
                <a:rPr lang="en-US" sz="3200">
                  <a:solidFill>
                    <a:srgbClr val="000000"/>
                  </a:solidFill>
                  <a:latin typeface="Alice"/>
                  <a:ea typeface="Alice"/>
                  <a:cs typeface="Alice"/>
                  <a:sym typeface="Alice"/>
                </a:rPr>
                <a:t>the right talent.</a:t>
              </a:r>
            </a:p>
          </p:txBody>
        </p:sp>
      </p:grpSp>
      <p:sp>
        <p:nvSpPr>
          <p:cNvPr name="Freeform 6" id="6"/>
          <p:cNvSpPr/>
          <p:nvPr/>
        </p:nvSpPr>
        <p:spPr>
          <a:xfrm flipH="false" flipV="false" rot="0">
            <a:off x="2531060" y="6483437"/>
            <a:ext cx="4209548" cy="3459483"/>
          </a:xfrm>
          <a:custGeom>
            <a:avLst/>
            <a:gdLst/>
            <a:ahLst/>
            <a:cxnLst/>
            <a:rect r="r" b="b" t="t" l="l"/>
            <a:pathLst>
              <a:path h="3459483" w="4209548">
                <a:moveTo>
                  <a:pt x="0" y="0"/>
                </a:moveTo>
                <a:lnTo>
                  <a:pt x="4209548" y="0"/>
                </a:lnTo>
                <a:lnTo>
                  <a:pt x="4209548" y="3459483"/>
                </a:lnTo>
                <a:lnTo>
                  <a:pt x="0" y="34594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028700" y="5598263"/>
            <a:ext cx="3004720" cy="300472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680943" y="5148693"/>
            <a:ext cx="3389171" cy="4109607"/>
            <a:chOff x="0" y="0"/>
            <a:chExt cx="812800" cy="985577"/>
          </a:xfrm>
        </p:grpSpPr>
        <p:sp>
          <p:nvSpPr>
            <p:cNvPr name="Freeform 11" id="11"/>
            <p:cNvSpPr/>
            <p:nvPr/>
          </p:nvSpPr>
          <p:spPr>
            <a:xfrm flipH="false" flipV="false" rot="0">
              <a:off x="0" y="0"/>
              <a:ext cx="812800" cy="985577"/>
            </a:xfrm>
            <a:custGeom>
              <a:avLst/>
              <a:gdLst/>
              <a:ahLst/>
              <a:cxnLst/>
              <a:rect r="r" b="b" t="t" l="l"/>
              <a:pathLst>
                <a:path h="985577" w="812800">
                  <a:moveTo>
                    <a:pt x="406400" y="0"/>
                  </a:moveTo>
                  <a:cubicBezTo>
                    <a:pt x="181951" y="0"/>
                    <a:pt x="0" y="220629"/>
                    <a:pt x="0" y="492789"/>
                  </a:cubicBezTo>
                  <a:cubicBezTo>
                    <a:pt x="0" y="764948"/>
                    <a:pt x="181951" y="985577"/>
                    <a:pt x="406400" y="985577"/>
                  </a:cubicBezTo>
                  <a:cubicBezTo>
                    <a:pt x="630849" y="985577"/>
                    <a:pt x="812800" y="764948"/>
                    <a:pt x="812800" y="492789"/>
                  </a:cubicBezTo>
                  <a:cubicBezTo>
                    <a:pt x="812800" y="220629"/>
                    <a:pt x="630849" y="0"/>
                    <a:pt x="406400" y="0"/>
                  </a:cubicBezTo>
                  <a:close/>
                </a:path>
              </a:pathLst>
            </a:custGeom>
            <a:solidFill>
              <a:srgbClr val="8DAFA8">
                <a:alpha val="40000"/>
              </a:srgbClr>
            </a:solidFill>
          </p:spPr>
        </p:sp>
        <p:sp>
          <p:nvSpPr>
            <p:cNvPr name="TextBox 12" id="12"/>
            <p:cNvSpPr txBox="true"/>
            <p:nvPr/>
          </p:nvSpPr>
          <p:spPr>
            <a:xfrm>
              <a:off x="76200" y="54298"/>
              <a:ext cx="660400" cy="838881"/>
            </a:xfrm>
            <a:prstGeom prst="rect">
              <a:avLst/>
            </a:prstGeom>
          </p:spPr>
          <p:txBody>
            <a:bodyPr anchor="ctr" rtlCol="false" tIns="50800" lIns="50800" bIns="50800" rIns="50800"/>
            <a:lstStyle/>
            <a:p>
              <a:pPr algn="ctr">
                <a:lnSpc>
                  <a:spcPts val="2659"/>
                </a:lnSpc>
              </a:pPr>
            </a:p>
          </p:txBody>
        </p:sp>
      </p:grpSp>
      <p:sp>
        <p:nvSpPr>
          <p:cNvPr name="AutoShape 13" id="13"/>
          <p:cNvSpPr/>
          <p:nvPr/>
        </p:nvSpPr>
        <p:spPr>
          <a:xfrm>
            <a:off x="3081653" y="2635054"/>
            <a:ext cx="4286994" cy="0"/>
          </a:xfrm>
          <a:prstGeom prst="line">
            <a:avLst/>
          </a:prstGeom>
          <a:ln cap="flat" w="38100">
            <a:solidFill>
              <a:srgbClr val="8DAFA8"/>
            </a:solidFill>
            <a:prstDash val="sysDash"/>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sp>
        <p:nvSpPr>
          <p:cNvPr name="TextBox 2" id="2"/>
          <p:cNvSpPr txBox="true"/>
          <p:nvPr/>
        </p:nvSpPr>
        <p:spPr>
          <a:xfrm rot="0">
            <a:off x="1648542" y="362585"/>
            <a:ext cx="11941136" cy="1179830"/>
          </a:xfrm>
          <a:prstGeom prst="rect">
            <a:avLst/>
          </a:prstGeom>
        </p:spPr>
        <p:txBody>
          <a:bodyPr anchor="t" rtlCol="false" tIns="0" lIns="0" bIns="0" rIns="0">
            <a:spAutoFit/>
          </a:bodyPr>
          <a:lstStyle/>
          <a:p>
            <a:pPr algn="l">
              <a:lnSpc>
                <a:spcPts val="9520"/>
              </a:lnSpc>
              <a:spcBef>
                <a:spcPct val="0"/>
              </a:spcBef>
            </a:pPr>
            <a:r>
              <a:rPr lang="en-US" sz="6800">
                <a:solidFill>
                  <a:srgbClr val="8F6234"/>
                </a:solidFill>
                <a:latin typeface="Alice"/>
                <a:ea typeface="Alice"/>
                <a:cs typeface="Alice"/>
                <a:sym typeface="Alice"/>
              </a:rPr>
              <a:t>Existing System </a:t>
            </a:r>
          </a:p>
        </p:txBody>
      </p:sp>
      <p:grpSp>
        <p:nvGrpSpPr>
          <p:cNvPr name="Group 3" id="3"/>
          <p:cNvGrpSpPr/>
          <p:nvPr/>
        </p:nvGrpSpPr>
        <p:grpSpPr>
          <a:xfrm rot="0">
            <a:off x="814161" y="2172385"/>
            <a:ext cx="10724025" cy="6848348"/>
            <a:chOff x="0" y="0"/>
            <a:chExt cx="2824435" cy="1803680"/>
          </a:xfrm>
        </p:grpSpPr>
        <p:sp>
          <p:nvSpPr>
            <p:cNvPr name="Freeform 4" id="4"/>
            <p:cNvSpPr/>
            <p:nvPr/>
          </p:nvSpPr>
          <p:spPr>
            <a:xfrm flipH="false" flipV="false" rot="0">
              <a:off x="0" y="0"/>
              <a:ext cx="2824435" cy="1803680"/>
            </a:xfrm>
            <a:custGeom>
              <a:avLst/>
              <a:gdLst/>
              <a:ahLst/>
              <a:cxnLst/>
              <a:rect r="r" b="b" t="t" l="l"/>
              <a:pathLst>
                <a:path h="1803680" w="2824435">
                  <a:moveTo>
                    <a:pt x="14438" y="0"/>
                  </a:moveTo>
                  <a:lnTo>
                    <a:pt x="2809996" y="0"/>
                  </a:lnTo>
                  <a:cubicBezTo>
                    <a:pt x="2817970" y="0"/>
                    <a:pt x="2824435" y="6464"/>
                    <a:pt x="2824435" y="14438"/>
                  </a:cubicBezTo>
                  <a:lnTo>
                    <a:pt x="2824435" y="1789242"/>
                  </a:lnTo>
                  <a:cubicBezTo>
                    <a:pt x="2824435" y="1797216"/>
                    <a:pt x="2817970" y="1803680"/>
                    <a:pt x="2809996" y="1803680"/>
                  </a:cubicBezTo>
                  <a:lnTo>
                    <a:pt x="14438" y="1803680"/>
                  </a:lnTo>
                  <a:cubicBezTo>
                    <a:pt x="6464" y="1803680"/>
                    <a:pt x="0" y="1797216"/>
                    <a:pt x="0" y="1789242"/>
                  </a:cubicBezTo>
                  <a:lnTo>
                    <a:pt x="0" y="14438"/>
                  </a:lnTo>
                  <a:cubicBezTo>
                    <a:pt x="0" y="6464"/>
                    <a:pt x="6464" y="0"/>
                    <a:pt x="14438" y="0"/>
                  </a:cubicBezTo>
                  <a:close/>
                </a:path>
              </a:pathLst>
            </a:custGeom>
            <a:solidFill>
              <a:srgbClr val="FFE5BA"/>
            </a:solidFill>
            <a:ln cap="sq">
              <a:noFill/>
              <a:prstDash val="solid"/>
              <a:miter/>
            </a:ln>
          </p:spPr>
        </p:sp>
        <p:sp>
          <p:nvSpPr>
            <p:cNvPr name="TextBox 5" id="5"/>
            <p:cNvSpPr txBox="true"/>
            <p:nvPr/>
          </p:nvSpPr>
          <p:spPr>
            <a:xfrm>
              <a:off x="0" y="-66675"/>
              <a:ext cx="2824435" cy="1870355"/>
            </a:xfrm>
            <a:prstGeom prst="rect">
              <a:avLst/>
            </a:prstGeom>
          </p:spPr>
          <p:txBody>
            <a:bodyPr anchor="ctr" rtlCol="false" tIns="50800" lIns="50800" bIns="50800" rIns="50800"/>
            <a:lstStyle/>
            <a:p>
              <a:pPr algn="l" marL="690881" indent="-345440" lvl="1">
                <a:lnSpc>
                  <a:spcPts val="4480"/>
                </a:lnSpc>
                <a:buFont typeface="Arial"/>
                <a:buChar char="•"/>
              </a:pPr>
              <a:r>
                <a:rPr lang="en-US" sz="3200">
                  <a:solidFill>
                    <a:srgbClr val="000000"/>
                  </a:solidFill>
                  <a:latin typeface="Alice"/>
                  <a:ea typeface="Alice"/>
                  <a:cs typeface="Alice"/>
                  <a:sym typeface="Alice"/>
                </a:rPr>
                <a:t>Job seekers search for jobs manually on different job websites.</a:t>
              </a:r>
            </a:p>
            <a:p>
              <a:pPr algn="l" marL="690881" indent="-345440" lvl="1">
                <a:lnSpc>
                  <a:spcPts val="4480"/>
                </a:lnSpc>
                <a:buFont typeface="Arial"/>
                <a:buChar char="•"/>
              </a:pPr>
              <a:r>
                <a:rPr lang="en-US" sz="3200">
                  <a:solidFill>
                    <a:srgbClr val="000000"/>
                  </a:solidFill>
                  <a:latin typeface="Alice"/>
                  <a:ea typeface="Alice"/>
                  <a:cs typeface="Alice"/>
                  <a:sym typeface="Alice"/>
                </a:rPr>
                <a:t>Users must visit multiple portals to find suitable job opportunities.</a:t>
              </a:r>
            </a:p>
            <a:p>
              <a:pPr algn="l" marL="690881" indent="-345440" lvl="1">
                <a:lnSpc>
                  <a:spcPts val="4480"/>
                </a:lnSpc>
                <a:buFont typeface="Arial"/>
                <a:buChar char="•"/>
              </a:pPr>
              <a:r>
                <a:rPr lang="en-US" sz="3200">
                  <a:solidFill>
                    <a:srgbClr val="000000"/>
                  </a:solidFill>
                  <a:latin typeface="Alice"/>
                  <a:ea typeface="Alice"/>
                  <a:cs typeface="Alice"/>
                  <a:sym typeface="Alice"/>
                </a:rPr>
                <a:t>Most systems provide only basic job listings without smart suggestions.</a:t>
              </a:r>
            </a:p>
            <a:p>
              <a:pPr algn="l" marL="690881" indent="-345440" lvl="1">
                <a:lnSpc>
                  <a:spcPts val="4480"/>
                </a:lnSpc>
                <a:buFont typeface="Arial"/>
                <a:buChar char="•"/>
              </a:pPr>
              <a:r>
                <a:rPr lang="en-US" sz="3200">
                  <a:solidFill>
                    <a:srgbClr val="000000"/>
                  </a:solidFill>
                  <a:latin typeface="Alice"/>
                  <a:ea typeface="Alice"/>
                  <a:cs typeface="Alice"/>
                  <a:sym typeface="Alice"/>
                </a:rPr>
                <a:t>There is no AI-based recommendation system to match jobs with user skills.</a:t>
              </a:r>
            </a:p>
            <a:p>
              <a:pPr algn="l" marL="690881" indent="-345440" lvl="1">
                <a:lnSpc>
                  <a:spcPts val="4480"/>
                </a:lnSpc>
                <a:buFont typeface="Arial"/>
                <a:buChar char="•"/>
              </a:pPr>
              <a:r>
                <a:rPr lang="en-US" sz="3200">
                  <a:solidFill>
                    <a:srgbClr val="000000"/>
                  </a:solidFill>
                  <a:latin typeface="Alice"/>
                  <a:ea typeface="Alice"/>
                  <a:cs typeface="Alice"/>
                  <a:sym typeface="Alice"/>
                </a:rPr>
                <a:t>Job searching process is time-consuming and less efficient.</a:t>
              </a:r>
            </a:p>
            <a:p>
              <a:pPr algn="l" marL="690881" indent="-345440" lvl="1">
                <a:lnSpc>
                  <a:spcPts val="4480"/>
                </a:lnSpc>
                <a:buFont typeface="Arial"/>
                <a:buChar char="•"/>
              </a:pPr>
              <a:r>
                <a:rPr lang="en-US" sz="3200">
                  <a:solidFill>
                    <a:srgbClr val="000000"/>
                  </a:solidFill>
                  <a:latin typeface="Alice"/>
                  <a:ea typeface="Alice"/>
                  <a:cs typeface="Alice"/>
                  <a:sym typeface="Alice"/>
                </a:rPr>
                <a:t>Many platforms do not provide real-time updates of job postings.</a:t>
              </a:r>
            </a:p>
          </p:txBody>
        </p:sp>
      </p:grpSp>
      <p:sp>
        <p:nvSpPr>
          <p:cNvPr name="Freeform 6" id="6"/>
          <p:cNvSpPr/>
          <p:nvPr/>
        </p:nvSpPr>
        <p:spPr>
          <a:xfrm flipH="false" flipV="false" rot="0">
            <a:off x="13005865" y="5143500"/>
            <a:ext cx="4209548" cy="3459483"/>
          </a:xfrm>
          <a:custGeom>
            <a:avLst/>
            <a:gdLst/>
            <a:ahLst/>
            <a:cxnLst/>
            <a:rect r="r" b="b" t="t" l="l"/>
            <a:pathLst>
              <a:path h="3459483" w="4209548">
                <a:moveTo>
                  <a:pt x="0" y="0"/>
                </a:moveTo>
                <a:lnTo>
                  <a:pt x="4209548" y="0"/>
                </a:lnTo>
                <a:lnTo>
                  <a:pt x="4209548" y="3459483"/>
                </a:lnTo>
                <a:lnTo>
                  <a:pt x="0" y="34594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2461824" y="4656015"/>
            <a:ext cx="3004720" cy="300472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4542906" y="4103571"/>
            <a:ext cx="3389171" cy="4109607"/>
            <a:chOff x="0" y="0"/>
            <a:chExt cx="812800" cy="985577"/>
          </a:xfrm>
        </p:grpSpPr>
        <p:sp>
          <p:nvSpPr>
            <p:cNvPr name="Freeform 11" id="11"/>
            <p:cNvSpPr/>
            <p:nvPr/>
          </p:nvSpPr>
          <p:spPr>
            <a:xfrm flipH="false" flipV="false" rot="0">
              <a:off x="0" y="0"/>
              <a:ext cx="812800" cy="985577"/>
            </a:xfrm>
            <a:custGeom>
              <a:avLst/>
              <a:gdLst/>
              <a:ahLst/>
              <a:cxnLst/>
              <a:rect r="r" b="b" t="t" l="l"/>
              <a:pathLst>
                <a:path h="985577" w="812800">
                  <a:moveTo>
                    <a:pt x="406400" y="0"/>
                  </a:moveTo>
                  <a:cubicBezTo>
                    <a:pt x="181951" y="0"/>
                    <a:pt x="0" y="220629"/>
                    <a:pt x="0" y="492789"/>
                  </a:cubicBezTo>
                  <a:cubicBezTo>
                    <a:pt x="0" y="764948"/>
                    <a:pt x="181951" y="985577"/>
                    <a:pt x="406400" y="985577"/>
                  </a:cubicBezTo>
                  <a:cubicBezTo>
                    <a:pt x="630849" y="985577"/>
                    <a:pt x="812800" y="764948"/>
                    <a:pt x="812800" y="492789"/>
                  </a:cubicBezTo>
                  <a:cubicBezTo>
                    <a:pt x="812800" y="220629"/>
                    <a:pt x="630849" y="0"/>
                    <a:pt x="406400" y="0"/>
                  </a:cubicBezTo>
                  <a:close/>
                </a:path>
              </a:pathLst>
            </a:custGeom>
            <a:solidFill>
              <a:srgbClr val="8DAFA8">
                <a:alpha val="40000"/>
              </a:srgbClr>
            </a:solidFill>
          </p:spPr>
        </p:sp>
        <p:sp>
          <p:nvSpPr>
            <p:cNvPr name="TextBox 12" id="12"/>
            <p:cNvSpPr txBox="true"/>
            <p:nvPr/>
          </p:nvSpPr>
          <p:spPr>
            <a:xfrm>
              <a:off x="76200" y="54298"/>
              <a:ext cx="660400" cy="83888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sp>
        <p:nvSpPr>
          <p:cNvPr name="TextBox 2" id="2"/>
          <p:cNvSpPr txBox="true"/>
          <p:nvPr/>
        </p:nvSpPr>
        <p:spPr>
          <a:xfrm rot="0">
            <a:off x="1915275" y="826345"/>
            <a:ext cx="13003377" cy="1019176"/>
          </a:xfrm>
          <a:prstGeom prst="rect">
            <a:avLst/>
          </a:prstGeom>
        </p:spPr>
        <p:txBody>
          <a:bodyPr anchor="t" rtlCol="false" tIns="0" lIns="0" bIns="0" rIns="0">
            <a:spAutoFit/>
          </a:bodyPr>
          <a:lstStyle/>
          <a:p>
            <a:pPr algn="l">
              <a:lnSpc>
                <a:spcPts val="8399"/>
              </a:lnSpc>
              <a:spcBef>
                <a:spcPct val="0"/>
              </a:spcBef>
            </a:pPr>
            <a:r>
              <a:rPr lang="en-US" sz="5999">
                <a:solidFill>
                  <a:srgbClr val="8F6234"/>
                </a:solidFill>
                <a:latin typeface="Alice"/>
                <a:ea typeface="Alice"/>
                <a:cs typeface="Alice"/>
                <a:sym typeface="Alice"/>
              </a:rPr>
              <a:t>Existing System with Disadvantages</a:t>
            </a:r>
          </a:p>
        </p:txBody>
      </p:sp>
      <p:grpSp>
        <p:nvGrpSpPr>
          <p:cNvPr name="Group 3" id="3"/>
          <p:cNvGrpSpPr/>
          <p:nvPr/>
        </p:nvGrpSpPr>
        <p:grpSpPr>
          <a:xfrm rot="0">
            <a:off x="-557510" y="9800765"/>
            <a:ext cx="19403020" cy="1805415"/>
            <a:chOff x="0" y="0"/>
            <a:chExt cx="5110260" cy="475500"/>
          </a:xfrm>
        </p:grpSpPr>
        <p:sp>
          <p:nvSpPr>
            <p:cNvPr name="Freeform 4" id="4"/>
            <p:cNvSpPr/>
            <p:nvPr/>
          </p:nvSpPr>
          <p:spPr>
            <a:xfrm flipH="false" flipV="false" rot="0">
              <a:off x="0" y="0"/>
              <a:ext cx="5110261" cy="475500"/>
            </a:xfrm>
            <a:custGeom>
              <a:avLst/>
              <a:gdLst/>
              <a:ahLst/>
              <a:cxnLst/>
              <a:rect r="r" b="b" t="t" l="l"/>
              <a:pathLst>
                <a:path h="475500" w="5110261">
                  <a:moveTo>
                    <a:pt x="0" y="0"/>
                  </a:moveTo>
                  <a:lnTo>
                    <a:pt x="5110261" y="0"/>
                  </a:lnTo>
                  <a:lnTo>
                    <a:pt x="5110261" y="475500"/>
                  </a:lnTo>
                  <a:lnTo>
                    <a:pt x="0" y="475500"/>
                  </a:lnTo>
                  <a:close/>
                </a:path>
              </a:pathLst>
            </a:custGeom>
            <a:solidFill>
              <a:srgbClr val="8DAFA8"/>
            </a:solidFill>
          </p:spPr>
        </p:sp>
        <p:sp>
          <p:nvSpPr>
            <p:cNvPr name="TextBox 5" id="5"/>
            <p:cNvSpPr txBox="true"/>
            <p:nvPr/>
          </p:nvSpPr>
          <p:spPr>
            <a:xfrm>
              <a:off x="0" y="-38100"/>
              <a:ext cx="5110260" cy="51360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915275" y="6330834"/>
            <a:ext cx="4994997" cy="365760"/>
          </a:xfrm>
          <a:prstGeom prst="rect">
            <a:avLst/>
          </a:prstGeom>
        </p:spPr>
        <p:txBody>
          <a:bodyPr anchor="t" rtlCol="false" tIns="0" lIns="0" bIns="0" rIns="0">
            <a:spAutoFit/>
          </a:bodyPr>
          <a:lstStyle/>
          <a:p>
            <a:pPr algn="ctr">
              <a:lnSpc>
                <a:spcPts val="2939"/>
              </a:lnSpc>
              <a:spcBef>
                <a:spcPct val="0"/>
              </a:spcBef>
            </a:pPr>
            <a:r>
              <a:rPr lang="en-US" sz="2099">
                <a:solidFill>
                  <a:srgbClr val="000000"/>
                </a:solidFill>
                <a:latin typeface="Alice Bold"/>
                <a:ea typeface="Alice Bold"/>
                <a:cs typeface="Alice Bold"/>
                <a:sym typeface="Alice Bold"/>
              </a:rPr>
              <a:t>MISSING LATEST JOB UPDATES</a:t>
            </a:r>
          </a:p>
        </p:txBody>
      </p:sp>
      <p:grpSp>
        <p:nvGrpSpPr>
          <p:cNvPr name="Group 7" id="7"/>
          <p:cNvGrpSpPr/>
          <p:nvPr/>
        </p:nvGrpSpPr>
        <p:grpSpPr>
          <a:xfrm rot="0">
            <a:off x="1915275" y="4495049"/>
            <a:ext cx="10039902" cy="1310640"/>
            <a:chOff x="0" y="0"/>
            <a:chExt cx="2111419" cy="275631"/>
          </a:xfrm>
        </p:grpSpPr>
        <p:sp>
          <p:nvSpPr>
            <p:cNvPr name="Freeform 8" id="8"/>
            <p:cNvSpPr/>
            <p:nvPr/>
          </p:nvSpPr>
          <p:spPr>
            <a:xfrm flipH="false" flipV="false" rot="0">
              <a:off x="0" y="0"/>
              <a:ext cx="2111419" cy="275631"/>
            </a:xfrm>
            <a:custGeom>
              <a:avLst/>
              <a:gdLst/>
              <a:ahLst/>
              <a:cxnLst/>
              <a:rect r="r" b="b" t="t" l="l"/>
              <a:pathLst>
                <a:path h="275631" w="2111419">
                  <a:moveTo>
                    <a:pt x="23905" y="0"/>
                  </a:moveTo>
                  <a:lnTo>
                    <a:pt x="2087514" y="0"/>
                  </a:lnTo>
                  <a:cubicBezTo>
                    <a:pt x="2093854" y="0"/>
                    <a:pt x="2099935" y="2519"/>
                    <a:pt x="2104417" y="7001"/>
                  </a:cubicBezTo>
                  <a:cubicBezTo>
                    <a:pt x="2108901" y="11484"/>
                    <a:pt x="2111419" y="17565"/>
                    <a:pt x="2111419" y="23905"/>
                  </a:cubicBezTo>
                  <a:lnTo>
                    <a:pt x="2111419" y="251727"/>
                  </a:lnTo>
                  <a:cubicBezTo>
                    <a:pt x="2111419" y="258067"/>
                    <a:pt x="2108901" y="264147"/>
                    <a:pt x="2104417" y="268630"/>
                  </a:cubicBezTo>
                  <a:cubicBezTo>
                    <a:pt x="2099935" y="273113"/>
                    <a:pt x="2093854" y="275631"/>
                    <a:pt x="2087514" y="275631"/>
                  </a:cubicBezTo>
                  <a:lnTo>
                    <a:pt x="23905" y="275631"/>
                  </a:lnTo>
                  <a:cubicBezTo>
                    <a:pt x="17565" y="275631"/>
                    <a:pt x="11484" y="273113"/>
                    <a:pt x="7001" y="268630"/>
                  </a:cubicBezTo>
                  <a:cubicBezTo>
                    <a:pt x="2519" y="264147"/>
                    <a:pt x="0" y="258067"/>
                    <a:pt x="0" y="251727"/>
                  </a:cubicBezTo>
                  <a:lnTo>
                    <a:pt x="0" y="23905"/>
                  </a:lnTo>
                  <a:cubicBezTo>
                    <a:pt x="0" y="17565"/>
                    <a:pt x="2519" y="11484"/>
                    <a:pt x="7001" y="7001"/>
                  </a:cubicBezTo>
                  <a:cubicBezTo>
                    <a:pt x="11484" y="2519"/>
                    <a:pt x="17565" y="0"/>
                    <a:pt x="23905" y="0"/>
                  </a:cubicBezTo>
                  <a:close/>
                </a:path>
              </a:pathLst>
            </a:custGeom>
            <a:solidFill>
              <a:srgbClr val="FFE5BA"/>
            </a:solidFill>
          </p:spPr>
        </p:sp>
        <p:sp>
          <p:nvSpPr>
            <p:cNvPr name="TextBox 9" id="9"/>
            <p:cNvSpPr txBox="true"/>
            <p:nvPr/>
          </p:nvSpPr>
          <p:spPr>
            <a:xfrm>
              <a:off x="0" y="-38100"/>
              <a:ext cx="2111419" cy="313731"/>
            </a:xfrm>
            <a:prstGeom prst="rect">
              <a:avLst/>
            </a:prstGeom>
          </p:spPr>
          <p:txBody>
            <a:bodyPr anchor="t" rtlCol="false" tIns="165100" lIns="165100" bIns="165100" rIns="165100"/>
            <a:lstStyle/>
            <a:p>
              <a:pPr algn="l" marL="647700" indent="-323850" lvl="1">
                <a:lnSpc>
                  <a:spcPts val="3990"/>
                </a:lnSpc>
                <a:buFont typeface="Arial"/>
                <a:buChar char="•"/>
              </a:pPr>
              <a:r>
                <a:rPr lang="en-US" sz="3000">
                  <a:solidFill>
                    <a:srgbClr val="000000"/>
                  </a:solidFill>
                  <a:latin typeface="Alice"/>
                  <a:ea typeface="Alice"/>
                  <a:cs typeface="Alice"/>
                  <a:sym typeface="Alice"/>
                </a:rPr>
                <a:t>Sometimes job information is not updated in real time.</a:t>
              </a:r>
            </a:p>
          </p:txBody>
        </p:sp>
      </p:grpSp>
      <p:grpSp>
        <p:nvGrpSpPr>
          <p:cNvPr name="Group 10" id="10"/>
          <p:cNvGrpSpPr/>
          <p:nvPr/>
        </p:nvGrpSpPr>
        <p:grpSpPr>
          <a:xfrm rot="0">
            <a:off x="1915275" y="2798021"/>
            <a:ext cx="10039902" cy="1359327"/>
            <a:chOff x="0" y="0"/>
            <a:chExt cx="2111419" cy="285870"/>
          </a:xfrm>
        </p:grpSpPr>
        <p:sp>
          <p:nvSpPr>
            <p:cNvPr name="Freeform 11" id="11"/>
            <p:cNvSpPr/>
            <p:nvPr/>
          </p:nvSpPr>
          <p:spPr>
            <a:xfrm flipH="false" flipV="false" rot="0">
              <a:off x="0" y="0"/>
              <a:ext cx="2111419" cy="285870"/>
            </a:xfrm>
            <a:custGeom>
              <a:avLst/>
              <a:gdLst/>
              <a:ahLst/>
              <a:cxnLst/>
              <a:rect r="r" b="b" t="t" l="l"/>
              <a:pathLst>
                <a:path h="285870" w="2111419">
                  <a:moveTo>
                    <a:pt x="23905" y="0"/>
                  </a:moveTo>
                  <a:lnTo>
                    <a:pt x="2087514" y="0"/>
                  </a:lnTo>
                  <a:cubicBezTo>
                    <a:pt x="2093854" y="0"/>
                    <a:pt x="2099935" y="2519"/>
                    <a:pt x="2104417" y="7001"/>
                  </a:cubicBezTo>
                  <a:cubicBezTo>
                    <a:pt x="2108901" y="11484"/>
                    <a:pt x="2111419" y="17565"/>
                    <a:pt x="2111419" y="23905"/>
                  </a:cubicBezTo>
                  <a:lnTo>
                    <a:pt x="2111419" y="261966"/>
                  </a:lnTo>
                  <a:cubicBezTo>
                    <a:pt x="2111419" y="268305"/>
                    <a:pt x="2108901" y="274386"/>
                    <a:pt x="2104417" y="278869"/>
                  </a:cubicBezTo>
                  <a:cubicBezTo>
                    <a:pt x="2099935" y="283352"/>
                    <a:pt x="2093854" y="285870"/>
                    <a:pt x="2087514" y="285870"/>
                  </a:cubicBezTo>
                  <a:lnTo>
                    <a:pt x="23905" y="285870"/>
                  </a:lnTo>
                  <a:cubicBezTo>
                    <a:pt x="17565" y="285870"/>
                    <a:pt x="11484" y="283352"/>
                    <a:pt x="7001" y="278869"/>
                  </a:cubicBezTo>
                  <a:cubicBezTo>
                    <a:pt x="2519" y="274386"/>
                    <a:pt x="0" y="268305"/>
                    <a:pt x="0" y="261966"/>
                  </a:cubicBezTo>
                  <a:lnTo>
                    <a:pt x="0" y="23905"/>
                  </a:lnTo>
                  <a:cubicBezTo>
                    <a:pt x="0" y="17565"/>
                    <a:pt x="2519" y="11484"/>
                    <a:pt x="7001" y="7001"/>
                  </a:cubicBezTo>
                  <a:cubicBezTo>
                    <a:pt x="11484" y="2519"/>
                    <a:pt x="17565" y="0"/>
                    <a:pt x="23905" y="0"/>
                  </a:cubicBezTo>
                  <a:close/>
                </a:path>
              </a:pathLst>
            </a:custGeom>
            <a:solidFill>
              <a:srgbClr val="FFE5BA"/>
            </a:solidFill>
          </p:spPr>
        </p:sp>
        <p:sp>
          <p:nvSpPr>
            <p:cNvPr name="TextBox 12" id="12"/>
            <p:cNvSpPr txBox="true"/>
            <p:nvPr/>
          </p:nvSpPr>
          <p:spPr>
            <a:xfrm>
              <a:off x="0" y="-38100"/>
              <a:ext cx="2111419" cy="323970"/>
            </a:xfrm>
            <a:prstGeom prst="rect">
              <a:avLst/>
            </a:prstGeom>
          </p:spPr>
          <p:txBody>
            <a:bodyPr anchor="t" rtlCol="false" tIns="165100" lIns="165100" bIns="165100" rIns="165100"/>
            <a:lstStyle/>
            <a:p>
              <a:pPr algn="l" marL="647700" indent="-323850" lvl="1">
                <a:lnSpc>
                  <a:spcPts val="3990"/>
                </a:lnSpc>
                <a:buFont typeface="Arial"/>
                <a:buChar char="•"/>
              </a:pPr>
              <a:r>
                <a:rPr lang="en-US" sz="3000">
                  <a:solidFill>
                    <a:srgbClr val="000000"/>
                  </a:solidFill>
                  <a:latin typeface="Alice"/>
                  <a:ea typeface="Alice"/>
                  <a:cs typeface="Alice"/>
                  <a:sym typeface="Alice"/>
                </a:rPr>
                <a:t>Time-consuming process for job seekers to find suitable jobs.</a:t>
              </a:r>
            </a:p>
          </p:txBody>
        </p:sp>
      </p:grpSp>
      <p:grpSp>
        <p:nvGrpSpPr>
          <p:cNvPr name="Group 13" id="13"/>
          <p:cNvGrpSpPr/>
          <p:nvPr/>
        </p:nvGrpSpPr>
        <p:grpSpPr>
          <a:xfrm rot="0">
            <a:off x="1915275" y="6083184"/>
            <a:ext cx="10039902" cy="1310640"/>
            <a:chOff x="0" y="0"/>
            <a:chExt cx="2111419" cy="275631"/>
          </a:xfrm>
        </p:grpSpPr>
        <p:sp>
          <p:nvSpPr>
            <p:cNvPr name="Freeform 14" id="14"/>
            <p:cNvSpPr/>
            <p:nvPr/>
          </p:nvSpPr>
          <p:spPr>
            <a:xfrm flipH="false" flipV="false" rot="0">
              <a:off x="0" y="0"/>
              <a:ext cx="2111419" cy="275631"/>
            </a:xfrm>
            <a:custGeom>
              <a:avLst/>
              <a:gdLst/>
              <a:ahLst/>
              <a:cxnLst/>
              <a:rect r="r" b="b" t="t" l="l"/>
              <a:pathLst>
                <a:path h="275631" w="2111419">
                  <a:moveTo>
                    <a:pt x="23905" y="0"/>
                  </a:moveTo>
                  <a:lnTo>
                    <a:pt x="2087514" y="0"/>
                  </a:lnTo>
                  <a:cubicBezTo>
                    <a:pt x="2093854" y="0"/>
                    <a:pt x="2099935" y="2519"/>
                    <a:pt x="2104417" y="7001"/>
                  </a:cubicBezTo>
                  <a:cubicBezTo>
                    <a:pt x="2108901" y="11484"/>
                    <a:pt x="2111419" y="17565"/>
                    <a:pt x="2111419" y="23905"/>
                  </a:cubicBezTo>
                  <a:lnTo>
                    <a:pt x="2111419" y="251727"/>
                  </a:lnTo>
                  <a:cubicBezTo>
                    <a:pt x="2111419" y="258067"/>
                    <a:pt x="2108901" y="264147"/>
                    <a:pt x="2104417" y="268630"/>
                  </a:cubicBezTo>
                  <a:cubicBezTo>
                    <a:pt x="2099935" y="273113"/>
                    <a:pt x="2093854" y="275631"/>
                    <a:pt x="2087514" y="275631"/>
                  </a:cubicBezTo>
                  <a:lnTo>
                    <a:pt x="23905" y="275631"/>
                  </a:lnTo>
                  <a:cubicBezTo>
                    <a:pt x="17565" y="275631"/>
                    <a:pt x="11484" y="273113"/>
                    <a:pt x="7001" y="268630"/>
                  </a:cubicBezTo>
                  <a:cubicBezTo>
                    <a:pt x="2519" y="264147"/>
                    <a:pt x="0" y="258067"/>
                    <a:pt x="0" y="251727"/>
                  </a:cubicBezTo>
                  <a:lnTo>
                    <a:pt x="0" y="23905"/>
                  </a:lnTo>
                  <a:cubicBezTo>
                    <a:pt x="0" y="17565"/>
                    <a:pt x="2519" y="11484"/>
                    <a:pt x="7001" y="7001"/>
                  </a:cubicBezTo>
                  <a:cubicBezTo>
                    <a:pt x="11484" y="2519"/>
                    <a:pt x="17565" y="0"/>
                    <a:pt x="23905" y="0"/>
                  </a:cubicBezTo>
                  <a:close/>
                </a:path>
              </a:pathLst>
            </a:custGeom>
            <a:solidFill>
              <a:srgbClr val="FFE5BA"/>
            </a:solidFill>
          </p:spPr>
        </p:sp>
        <p:sp>
          <p:nvSpPr>
            <p:cNvPr name="TextBox 15" id="15"/>
            <p:cNvSpPr txBox="true"/>
            <p:nvPr/>
          </p:nvSpPr>
          <p:spPr>
            <a:xfrm>
              <a:off x="0" y="-38100"/>
              <a:ext cx="2111419" cy="313731"/>
            </a:xfrm>
            <a:prstGeom prst="rect">
              <a:avLst/>
            </a:prstGeom>
          </p:spPr>
          <p:txBody>
            <a:bodyPr anchor="t" rtlCol="false" tIns="165100" lIns="165100" bIns="165100" rIns="165100"/>
            <a:lstStyle/>
            <a:p>
              <a:pPr algn="l" marL="647700" indent="-323850" lvl="1">
                <a:lnSpc>
                  <a:spcPts val="3990"/>
                </a:lnSpc>
                <a:buFont typeface="Arial"/>
                <a:buChar char="•"/>
              </a:pPr>
              <a:r>
                <a:rPr lang="en-US" sz="3000">
                  <a:solidFill>
                    <a:srgbClr val="000000"/>
                  </a:solidFill>
                  <a:latin typeface="Alice"/>
                  <a:ea typeface="Alice"/>
                  <a:cs typeface="Alice"/>
                  <a:sym typeface="Alice"/>
                </a:rPr>
                <a:t>Users need to visit multiple job portals to find opportunities.</a:t>
              </a:r>
            </a:p>
          </p:txBody>
        </p:sp>
      </p:grpSp>
      <p:grpSp>
        <p:nvGrpSpPr>
          <p:cNvPr name="Group 16" id="16"/>
          <p:cNvGrpSpPr/>
          <p:nvPr/>
        </p:nvGrpSpPr>
        <p:grpSpPr>
          <a:xfrm rot="0">
            <a:off x="1915275" y="7648637"/>
            <a:ext cx="10039902" cy="1270487"/>
            <a:chOff x="0" y="0"/>
            <a:chExt cx="2111419" cy="267187"/>
          </a:xfrm>
        </p:grpSpPr>
        <p:sp>
          <p:nvSpPr>
            <p:cNvPr name="Freeform 17" id="17"/>
            <p:cNvSpPr/>
            <p:nvPr/>
          </p:nvSpPr>
          <p:spPr>
            <a:xfrm flipH="false" flipV="false" rot="0">
              <a:off x="0" y="0"/>
              <a:ext cx="2111419" cy="267187"/>
            </a:xfrm>
            <a:custGeom>
              <a:avLst/>
              <a:gdLst/>
              <a:ahLst/>
              <a:cxnLst/>
              <a:rect r="r" b="b" t="t" l="l"/>
              <a:pathLst>
                <a:path h="267187" w="2111419">
                  <a:moveTo>
                    <a:pt x="23905" y="0"/>
                  </a:moveTo>
                  <a:lnTo>
                    <a:pt x="2087514" y="0"/>
                  </a:lnTo>
                  <a:cubicBezTo>
                    <a:pt x="2093854" y="0"/>
                    <a:pt x="2099935" y="2519"/>
                    <a:pt x="2104417" y="7001"/>
                  </a:cubicBezTo>
                  <a:cubicBezTo>
                    <a:pt x="2108901" y="11484"/>
                    <a:pt x="2111419" y="17565"/>
                    <a:pt x="2111419" y="23905"/>
                  </a:cubicBezTo>
                  <a:lnTo>
                    <a:pt x="2111419" y="243282"/>
                  </a:lnTo>
                  <a:cubicBezTo>
                    <a:pt x="2111419" y="249622"/>
                    <a:pt x="2108901" y="255702"/>
                    <a:pt x="2104417" y="260185"/>
                  </a:cubicBezTo>
                  <a:cubicBezTo>
                    <a:pt x="2099935" y="264668"/>
                    <a:pt x="2093854" y="267187"/>
                    <a:pt x="2087514" y="267187"/>
                  </a:cubicBezTo>
                  <a:lnTo>
                    <a:pt x="23905" y="267187"/>
                  </a:lnTo>
                  <a:cubicBezTo>
                    <a:pt x="17565" y="267187"/>
                    <a:pt x="11484" y="264668"/>
                    <a:pt x="7001" y="260185"/>
                  </a:cubicBezTo>
                  <a:cubicBezTo>
                    <a:pt x="2519" y="255702"/>
                    <a:pt x="0" y="249622"/>
                    <a:pt x="0" y="243282"/>
                  </a:cubicBezTo>
                  <a:lnTo>
                    <a:pt x="0" y="23905"/>
                  </a:lnTo>
                  <a:cubicBezTo>
                    <a:pt x="0" y="17565"/>
                    <a:pt x="2519" y="11484"/>
                    <a:pt x="7001" y="7001"/>
                  </a:cubicBezTo>
                  <a:cubicBezTo>
                    <a:pt x="11484" y="2519"/>
                    <a:pt x="17565" y="0"/>
                    <a:pt x="23905" y="0"/>
                  </a:cubicBezTo>
                  <a:close/>
                </a:path>
              </a:pathLst>
            </a:custGeom>
            <a:solidFill>
              <a:srgbClr val="FFE5BA"/>
            </a:solidFill>
          </p:spPr>
        </p:sp>
        <p:sp>
          <p:nvSpPr>
            <p:cNvPr name="TextBox 18" id="18"/>
            <p:cNvSpPr txBox="true"/>
            <p:nvPr/>
          </p:nvSpPr>
          <p:spPr>
            <a:xfrm>
              <a:off x="0" y="-38100"/>
              <a:ext cx="2111419" cy="305287"/>
            </a:xfrm>
            <a:prstGeom prst="rect">
              <a:avLst/>
            </a:prstGeom>
          </p:spPr>
          <p:txBody>
            <a:bodyPr anchor="t" rtlCol="false" tIns="165100" lIns="165100" bIns="165100" rIns="165100"/>
            <a:lstStyle/>
            <a:p>
              <a:pPr algn="l" marL="647700" indent="-323850" lvl="1">
                <a:lnSpc>
                  <a:spcPts val="3990"/>
                </a:lnSpc>
                <a:buFont typeface="Arial"/>
                <a:buChar char="•"/>
              </a:pPr>
              <a:r>
                <a:rPr lang="en-US" sz="3000">
                  <a:solidFill>
                    <a:srgbClr val="000000"/>
                  </a:solidFill>
                  <a:latin typeface="Alice"/>
                  <a:ea typeface="Alice"/>
                  <a:cs typeface="Alice"/>
                  <a:sym typeface="Alice"/>
                </a:rPr>
                <a:t>Job results may not be personalized for each user.</a:t>
              </a:r>
            </a:p>
          </p:txBody>
        </p:sp>
      </p:grpSp>
      <p:grpSp>
        <p:nvGrpSpPr>
          <p:cNvPr name="Group 19" id="19"/>
          <p:cNvGrpSpPr/>
          <p:nvPr/>
        </p:nvGrpSpPr>
        <p:grpSpPr>
          <a:xfrm rot="0">
            <a:off x="12509126" y="4315323"/>
            <a:ext cx="2043175" cy="204317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4254580" y="3691874"/>
            <a:ext cx="3004720" cy="300472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13120190" y="4770756"/>
            <a:ext cx="4552174" cy="3856933"/>
          </a:xfrm>
          <a:custGeom>
            <a:avLst/>
            <a:gdLst/>
            <a:ahLst/>
            <a:cxnLst/>
            <a:rect r="r" b="b" t="t" l="l"/>
            <a:pathLst>
              <a:path h="3856933" w="4552174">
                <a:moveTo>
                  <a:pt x="0" y="0"/>
                </a:moveTo>
                <a:lnTo>
                  <a:pt x="4552174" y="0"/>
                </a:lnTo>
                <a:lnTo>
                  <a:pt x="4552174" y="3856933"/>
                </a:lnTo>
                <a:lnTo>
                  <a:pt x="0" y="38569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0" y="9760201"/>
            <a:ext cx="19403020" cy="2466909"/>
            <a:chOff x="0" y="0"/>
            <a:chExt cx="5110260" cy="649721"/>
          </a:xfrm>
        </p:grpSpPr>
        <p:sp>
          <p:nvSpPr>
            <p:cNvPr name="Freeform 3" id="3"/>
            <p:cNvSpPr/>
            <p:nvPr/>
          </p:nvSpPr>
          <p:spPr>
            <a:xfrm flipH="false" flipV="false" rot="0">
              <a:off x="0" y="0"/>
              <a:ext cx="5110261" cy="649721"/>
            </a:xfrm>
            <a:custGeom>
              <a:avLst/>
              <a:gdLst/>
              <a:ahLst/>
              <a:cxnLst/>
              <a:rect r="r" b="b" t="t" l="l"/>
              <a:pathLst>
                <a:path h="649721" w="5110261">
                  <a:moveTo>
                    <a:pt x="0" y="0"/>
                  </a:moveTo>
                  <a:lnTo>
                    <a:pt x="5110261" y="0"/>
                  </a:lnTo>
                  <a:lnTo>
                    <a:pt x="5110261" y="649721"/>
                  </a:lnTo>
                  <a:lnTo>
                    <a:pt x="0" y="649721"/>
                  </a:lnTo>
                  <a:close/>
                </a:path>
              </a:pathLst>
            </a:custGeom>
            <a:solidFill>
              <a:srgbClr val="8DAFA8"/>
            </a:solidFill>
          </p:spPr>
        </p:sp>
        <p:sp>
          <p:nvSpPr>
            <p:cNvPr name="TextBox 4" id="4"/>
            <p:cNvSpPr txBox="true"/>
            <p:nvPr/>
          </p:nvSpPr>
          <p:spPr>
            <a:xfrm>
              <a:off x="0" y="-38100"/>
              <a:ext cx="5110260" cy="6878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964479" y="5273465"/>
            <a:ext cx="3682523" cy="368252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09846" y="781050"/>
            <a:ext cx="2550002" cy="255000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079170" y="7577523"/>
            <a:ext cx="1840372" cy="184037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04775" y="266700"/>
            <a:ext cx="1273543" cy="127354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3350453" y="1975179"/>
            <a:ext cx="5803072" cy="3527750"/>
            <a:chOff x="0" y="0"/>
            <a:chExt cx="3368825" cy="2047945"/>
          </a:xfrm>
        </p:grpSpPr>
        <p:sp>
          <p:nvSpPr>
            <p:cNvPr name="Freeform 18" id="18"/>
            <p:cNvSpPr/>
            <p:nvPr/>
          </p:nvSpPr>
          <p:spPr>
            <a:xfrm flipH="false" flipV="false" rot="0">
              <a:off x="0" y="0"/>
              <a:ext cx="3368825" cy="2047945"/>
            </a:xfrm>
            <a:custGeom>
              <a:avLst/>
              <a:gdLst/>
              <a:ahLst/>
              <a:cxnLst/>
              <a:rect r="r" b="b" t="t" l="l"/>
              <a:pathLst>
                <a:path h="2047945" w="3368825">
                  <a:moveTo>
                    <a:pt x="3165625" y="0"/>
                  </a:moveTo>
                  <a:cubicBezTo>
                    <a:pt x="3277849" y="0"/>
                    <a:pt x="3368825" y="458448"/>
                    <a:pt x="3368825" y="1023972"/>
                  </a:cubicBezTo>
                  <a:cubicBezTo>
                    <a:pt x="3368825" y="1589496"/>
                    <a:pt x="3277849" y="2047945"/>
                    <a:pt x="3165625" y="2047945"/>
                  </a:cubicBezTo>
                  <a:lnTo>
                    <a:pt x="203200" y="2047945"/>
                  </a:lnTo>
                  <a:cubicBezTo>
                    <a:pt x="90976" y="2047945"/>
                    <a:pt x="0" y="1589496"/>
                    <a:pt x="0" y="1023972"/>
                  </a:cubicBezTo>
                  <a:cubicBezTo>
                    <a:pt x="0" y="458448"/>
                    <a:pt x="90976" y="0"/>
                    <a:pt x="203200" y="0"/>
                  </a:cubicBezTo>
                  <a:close/>
                </a:path>
              </a:pathLst>
            </a:custGeom>
            <a:solidFill>
              <a:srgbClr val="FFF7EF"/>
            </a:solidFill>
            <a:ln w="190500" cap="sq">
              <a:solidFill>
                <a:srgbClr val="8F6234"/>
              </a:solidFill>
              <a:prstDash val="solid"/>
              <a:miter/>
            </a:ln>
          </p:spPr>
        </p:sp>
        <p:sp>
          <p:nvSpPr>
            <p:cNvPr name="TextBox 19" id="19"/>
            <p:cNvSpPr txBox="true"/>
            <p:nvPr/>
          </p:nvSpPr>
          <p:spPr>
            <a:xfrm>
              <a:off x="0" y="-57150"/>
              <a:ext cx="3368825" cy="2105095"/>
            </a:xfrm>
            <a:prstGeom prst="rect">
              <a:avLst/>
            </a:prstGeom>
          </p:spPr>
          <p:txBody>
            <a:bodyPr anchor="ctr" rtlCol="false" tIns="50800" lIns="50800" bIns="50800" rIns="50800"/>
            <a:lstStyle/>
            <a:p>
              <a:pPr algn="ctr">
                <a:lnSpc>
                  <a:spcPts val="3499"/>
                </a:lnSpc>
              </a:pPr>
            </a:p>
          </p:txBody>
        </p:sp>
      </p:grpSp>
      <p:grpSp>
        <p:nvGrpSpPr>
          <p:cNvPr name="Group 20" id="20"/>
          <p:cNvGrpSpPr/>
          <p:nvPr/>
        </p:nvGrpSpPr>
        <p:grpSpPr>
          <a:xfrm rot="0">
            <a:off x="10417107" y="1975179"/>
            <a:ext cx="5677067" cy="3435895"/>
            <a:chOff x="0" y="0"/>
            <a:chExt cx="3117723" cy="1886920"/>
          </a:xfrm>
        </p:grpSpPr>
        <p:sp>
          <p:nvSpPr>
            <p:cNvPr name="Freeform 21" id="21"/>
            <p:cNvSpPr/>
            <p:nvPr/>
          </p:nvSpPr>
          <p:spPr>
            <a:xfrm flipH="false" flipV="false" rot="0">
              <a:off x="0" y="0"/>
              <a:ext cx="3117723" cy="1886920"/>
            </a:xfrm>
            <a:custGeom>
              <a:avLst/>
              <a:gdLst/>
              <a:ahLst/>
              <a:cxnLst/>
              <a:rect r="r" b="b" t="t" l="l"/>
              <a:pathLst>
                <a:path h="1886920" w="3117723">
                  <a:moveTo>
                    <a:pt x="2914523" y="0"/>
                  </a:moveTo>
                  <a:cubicBezTo>
                    <a:pt x="3026747" y="0"/>
                    <a:pt x="3117723" y="422401"/>
                    <a:pt x="3117723" y="943460"/>
                  </a:cubicBezTo>
                  <a:cubicBezTo>
                    <a:pt x="3117723" y="1464518"/>
                    <a:pt x="3026747" y="1886920"/>
                    <a:pt x="2914523" y="1886920"/>
                  </a:cubicBezTo>
                  <a:lnTo>
                    <a:pt x="203200" y="1886920"/>
                  </a:lnTo>
                  <a:cubicBezTo>
                    <a:pt x="90976" y="1886920"/>
                    <a:pt x="0" y="1464518"/>
                    <a:pt x="0" y="943460"/>
                  </a:cubicBezTo>
                  <a:cubicBezTo>
                    <a:pt x="0" y="422401"/>
                    <a:pt x="90976" y="0"/>
                    <a:pt x="203200" y="0"/>
                  </a:cubicBezTo>
                  <a:close/>
                </a:path>
              </a:pathLst>
            </a:custGeom>
            <a:solidFill>
              <a:srgbClr val="FFF7EF"/>
            </a:solidFill>
            <a:ln w="190500" cap="sq">
              <a:solidFill>
                <a:srgbClr val="8F6234"/>
              </a:solidFill>
              <a:prstDash val="solid"/>
              <a:miter/>
            </a:ln>
          </p:spPr>
        </p:sp>
        <p:sp>
          <p:nvSpPr>
            <p:cNvPr name="TextBox 22" id="22"/>
            <p:cNvSpPr txBox="true"/>
            <p:nvPr/>
          </p:nvSpPr>
          <p:spPr>
            <a:xfrm>
              <a:off x="0" y="133350"/>
              <a:ext cx="3117723" cy="1753570"/>
            </a:xfrm>
            <a:prstGeom prst="rect">
              <a:avLst/>
            </a:prstGeom>
          </p:spPr>
          <p:txBody>
            <a:bodyPr anchor="ctr" rtlCol="false" tIns="50800" lIns="50800" bIns="50800" rIns="50800"/>
            <a:lstStyle/>
            <a:p>
              <a:pPr algn="l">
                <a:lnSpc>
                  <a:spcPts val="1424"/>
                </a:lnSpc>
              </a:pPr>
            </a:p>
          </p:txBody>
        </p:sp>
      </p:grpSp>
      <p:grpSp>
        <p:nvGrpSpPr>
          <p:cNvPr name="Group 23" id="23"/>
          <p:cNvGrpSpPr/>
          <p:nvPr/>
        </p:nvGrpSpPr>
        <p:grpSpPr>
          <a:xfrm rot="0">
            <a:off x="10402103" y="5965533"/>
            <a:ext cx="5677067" cy="3240210"/>
            <a:chOff x="0" y="0"/>
            <a:chExt cx="3306011" cy="1886920"/>
          </a:xfrm>
        </p:grpSpPr>
        <p:sp>
          <p:nvSpPr>
            <p:cNvPr name="Freeform 24" id="24"/>
            <p:cNvSpPr/>
            <p:nvPr/>
          </p:nvSpPr>
          <p:spPr>
            <a:xfrm flipH="false" flipV="false" rot="0">
              <a:off x="0" y="0"/>
              <a:ext cx="3306011" cy="1886920"/>
            </a:xfrm>
            <a:custGeom>
              <a:avLst/>
              <a:gdLst/>
              <a:ahLst/>
              <a:cxnLst/>
              <a:rect r="r" b="b" t="t" l="l"/>
              <a:pathLst>
                <a:path h="1886920" w="3306011">
                  <a:moveTo>
                    <a:pt x="3102811" y="0"/>
                  </a:moveTo>
                  <a:cubicBezTo>
                    <a:pt x="3215036" y="0"/>
                    <a:pt x="3306011" y="422401"/>
                    <a:pt x="3306011" y="943460"/>
                  </a:cubicBezTo>
                  <a:cubicBezTo>
                    <a:pt x="3306011" y="1464518"/>
                    <a:pt x="3215036" y="1886920"/>
                    <a:pt x="3102811" y="1886920"/>
                  </a:cubicBezTo>
                  <a:lnTo>
                    <a:pt x="203200" y="1886920"/>
                  </a:lnTo>
                  <a:cubicBezTo>
                    <a:pt x="90976" y="1886920"/>
                    <a:pt x="0" y="1464518"/>
                    <a:pt x="0" y="943460"/>
                  </a:cubicBezTo>
                  <a:cubicBezTo>
                    <a:pt x="0" y="422401"/>
                    <a:pt x="90976" y="0"/>
                    <a:pt x="203200" y="0"/>
                  </a:cubicBezTo>
                  <a:lnTo>
                    <a:pt x="3102811" y="0"/>
                  </a:lnTo>
                  <a:close/>
                </a:path>
              </a:pathLst>
            </a:custGeom>
            <a:solidFill>
              <a:srgbClr val="FFF7EF"/>
            </a:solidFill>
            <a:ln w="190500" cap="rnd">
              <a:solidFill>
                <a:srgbClr val="8F6234"/>
              </a:solidFill>
              <a:prstDash val="solid"/>
              <a:round/>
            </a:ln>
          </p:spPr>
        </p:sp>
        <p:sp>
          <p:nvSpPr>
            <p:cNvPr name="TextBox 25" id="25"/>
            <p:cNvSpPr txBox="true"/>
            <p:nvPr/>
          </p:nvSpPr>
          <p:spPr>
            <a:xfrm>
              <a:off x="0" y="76200"/>
              <a:ext cx="3306011" cy="1810720"/>
            </a:xfrm>
            <a:prstGeom prst="rect">
              <a:avLst/>
            </a:prstGeom>
          </p:spPr>
          <p:txBody>
            <a:bodyPr anchor="ctr" rtlCol="false" tIns="50800" lIns="50800" bIns="50800" rIns="50800"/>
            <a:lstStyle/>
            <a:p>
              <a:pPr algn="l">
                <a:lnSpc>
                  <a:spcPts val="2074"/>
                </a:lnSpc>
              </a:pPr>
            </a:p>
          </p:txBody>
        </p:sp>
      </p:grpSp>
      <p:grpSp>
        <p:nvGrpSpPr>
          <p:cNvPr name="Group 26" id="26"/>
          <p:cNvGrpSpPr/>
          <p:nvPr/>
        </p:nvGrpSpPr>
        <p:grpSpPr>
          <a:xfrm rot="0">
            <a:off x="3359978" y="5906817"/>
            <a:ext cx="5793547" cy="3240210"/>
            <a:chOff x="0" y="0"/>
            <a:chExt cx="3373843" cy="1886920"/>
          </a:xfrm>
        </p:grpSpPr>
        <p:sp>
          <p:nvSpPr>
            <p:cNvPr name="Freeform 27" id="27"/>
            <p:cNvSpPr/>
            <p:nvPr/>
          </p:nvSpPr>
          <p:spPr>
            <a:xfrm flipH="false" flipV="false" rot="0">
              <a:off x="0" y="0"/>
              <a:ext cx="3373843" cy="1886920"/>
            </a:xfrm>
            <a:custGeom>
              <a:avLst/>
              <a:gdLst/>
              <a:ahLst/>
              <a:cxnLst/>
              <a:rect r="r" b="b" t="t" l="l"/>
              <a:pathLst>
                <a:path h="1886920" w="3373843">
                  <a:moveTo>
                    <a:pt x="3170643" y="0"/>
                  </a:moveTo>
                  <a:cubicBezTo>
                    <a:pt x="3282867" y="0"/>
                    <a:pt x="3373843" y="422401"/>
                    <a:pt x="3373843" y="943460"/>
                  </a:cubicBezTo>
                  <a:cubicBezTo>
                    <a:pt x="3373843" y="1464518"/>
                    <a:pt x="3282867" y="1886920"/>
                    <a:pt x="3170643" y="1886920"/>
                  </a:cubicBezTo>
                  <a:lnTo>
                    <a:pt x="203200" y="1886920"/>
                  </a:lnTo>
                  <a:cubicBezTo>
                    <a:pt x="90976" y="1886920"/>
                    <a:pt x="0" y="1464518"/>
                    <a:pt x="0" y="943460"/>
                  </a:cubicBezTo>
                  <a:cubicBezTo>
                    <a:pt x="0" y="422401"/>
                    <a:pt x="90976" y="0"/>
                    <a:pt x="203200" y="0"/>
                  </a:cubicBezTo>
                  <a:close/>
                </a:path>
              </a:pathLst>
            </a:custGeom>
            <a:solidFill>
              <a:srgbClr val="FFF7EF"/>
            </a:solidFill>
            <a:ln w="190500" cap="sq">
              <a:solidFill>
                <a:srgbClr val="8F6234"/>
              </a:solidFill>
              <a:prstDash val="solid"/>
              <a:miter/>
            </a:ln>
          </p:spPr>
        </p:sp>
        <p:sp>
          <p:nvSpPr>
            <p:cNvPr name="TextBox 28" id="28"/>
            <p:cNvSpPr txBox="true"/>
            <p:nvPr/>
          </p:nvSpPr>
          <p:spPr>
            <a:xfrm>
              <a:off x="0" y="152400"/>
              <a:ext cx="3373843" cy="1734520"/>
            </a:xfrm>
            <a:prstGeom prst="rect">
              <a:avLst/>
            </a:prstGeom>
          </p:spPr>
          <p:txBody>
            <a:bodyPr anchor="ctr" rtlCol="false" tIns="50800" lIns="50800" bIns="50800" rIns="50800"/>
            <a:lstStyle/>
            <a:p>
              <a:pPr algn="l">
                <a:lnSpc>
                  <a:spcPts val="1250"/>
                </a:lnSpc>
              </a:pPr>
            </a:p>
          </p:txBody>
        </p:sp>
      </p:grpSp>
      <p:sp>
        <p:nvSpPr>
          <p:cNvPr name="Freeform 29" id="29"/>
          <p:cNvSpPr/>
          <p:nvPr/>
        </p:nvSpPr>
        <p:spPr>
          <a:xfrm flipH="false" flipV="false" rot="1998047">
            <a:off x="16171266" y="4814528"/>
            <a:ext cx="2130091" cy="917876"/>
          </a:xfrm>
          <a:custGeom>
            <a:avLst/>
            <a:gdLst/>
            <a:ahLst/>
            <a:cxnLst/>
            <a:rect r="r" b="b" t="t" l="l"/>
            <a:pathLst>
              <a:path h="917876" w="2130091">
                <a:moveTo>
                  <a:pt x="0" y="0"/>
                </a:moveTo>
                <a:lnTo>
                  <a:pt x="2130091" y="0"/>
                </a:lnTo>
                <a:lnTo>
                  <a:pt x="2130091" y="917875"/>
                </a:lnTo>
                <a:lnTo>
                  <a:pt x="0" y="9178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0" id="30"/>
          <p:cNvSpPr/>
          <p:nvPr/>
        </p:nvSpPr>
        <p:spPr>
          <a:xfrm flipH="true" flipV="false" rot="0">
            <a:off x="131499" y="2112239"/>
            <a:ext cx="1134412" cy="1211508"/>
          </a:xfrm>
          <a:custGeom>
            <a:avLst/>
            <a:gdLst/>
            <a:ahLst/>
            <a:cxnLst/>
            <a:rect r="r" b="b" t="t" l="l"/>
            <a:pathLst>
              <a:path h="1211508" w="1134412">
                <a:moveTo>
                  <a:pt x="1134412" y="0"/>
                </a:moveTo>
                <a:lnTo>
                  <a:pt x="0" y="0"/>
                </a:lnTo>
                <a:lnTo>
                  <a:pt x="0" y="1211508"/>
                </a:lnTo>
                <a:lnTo>
                  <a:pt x="1134412" y="1211508"/>
                </a:lnTo>
                <a:lnTo>
                  <a:pt x="113441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1" id="31"/>
          <p:cNvSpPr txBox="true"/>
          <p:nvPr/>
        </p:nvSpPr>
        <p:spPr>
          <a:xfrm rot="0">
            <a:off x="3359978" y="490220"/>
            <a:ext cx="13747062" cy="1019175"/>
          </a:xfrm>
          <a:prstGeom prst="rect">
            <a:avLst/>
          </a:prstGeom>
        </p:spPr>
        <p:txBody>
          <a:bodyPr anchor="t" rtlCol="false" tIns="0" lIns="0" bIns="0" rIns="0">
            <a:spAutoFit/>
          </a:bodyPr>
          <a:lstStyle/>
          <a:p>
            <a:pPr algn="l" marL="0" indent="0" lvl="0">
              <a:lnSpc>
                <a:spcPts val="8399"/>
              </a:lnSpc>
              <a:spcBef>
                <a:spcPct val="0"/>
              </a:spcBef>
            </a:pPr>
            <a:r>
              <a:rPr lang="en-US" sz="5999" strike="noStrike" u="none">
                <a:solidFill>
                  <a:srgbClr val="8F6234"/>
                </a:solidFill>
                <a:latin typeface="Alice"/>
                <a:ea typeface="Alice"/>
                <a:cs typeface="Alice"/>
                <a:sym typeface="Alice"/>
              </a:rPr>
              <a:t>Proposed System- AI-Driven EcoSystem</a:t>
            </a:r>
          </a:p>
        </p:txBody>
      </p:sp>
      <p:sp>
        <p:nvSpPr>
          <p:cNvPr name="TextBox 32" id="32"/>
          <p:cNvSpPr txBox="true"/>
          <p:nvPr/>
        </p:nvSpPr>
        <p:spPr>
          <a:xfrm rot="0">
            <a:off x="3772157" y="2335102"/>
            <a:ext cx="5034802" cy="2929890"/>
          </a:xfrm>
          <a:prstGeom prst="rect">
            <a:avLst/>
          </a:prstGeom>
        </p:spPr>
        <p:txBody>
          <a:bodyPr anchor="t" rtlCol="false" tIns="0" lIns="0" bIns="0" rIns="0">
            <a:spAutoFit/>
          </a:bodyPr>
          <a:lstStyle/>
          <a:p>
            <a:pPr algn="just">
              <a:lnSpc>
                <a:spcPts val="3359"/>
              </a:lnSpc>
            </a:pPr>
            <a:r>
              <a:rPr lang="en-US" sz="2400" i="true">
                <a:solidFill>
                  <a:srgbClr val="1E302C"/>
                </a:solidFill>
                <a:latin typeface="Alice Bold Italics"/>
                <a:ea typeface="Alice Bold Italics"/>
                <a:cs typeface="Alice Bold Italics"/>
                <a:sym typeface="Alice Bold Italics"/>
              </a:rPr>
              <a:t>    Intelligent Semantic Matching</a:t>
            </a:r>
          </a:p>
          <a:p>
            <a:pPr algn="just">
              <a:lnSpc>
                <a:spcPts val="3359"/>
              </a:lnSpc>
            </a:pPr>
          </a:p>
          <a:p>
            <a:pPr algn="just">
              <a:lnSpc>
                <a:spcPts val="3359"/>
              </a:lnSpc>
            </a:pPr>
            <a:r>
              <a:rPr lang="en-US" sz="2400">
                <a:solidFill>
                  <a:srgbClr val="1E302C"/>
                </a:solidFill>
                <a:latin typeface="Alice"/>
                <a:ea typeface="Alice"/>
                <a:cs typeface="Alice"/>
                <a:sym typeface="Alice"/>
              </a:rPr>
              <a:t>Moves beyond keyword matching to understand the context of skills (e.g., recognizing that "MERN Stack" implies proficiency in React and Node.js).</a:t>
            </a:r>
          </a:p>
        </p:txBody>
      </p:sp>
      <p:sp>
        <p:nvSpPr>
          <p:cNvPr name="TextBox 33" id="33"/>
          <p:cNvSpPr txBox="true"/>
          <p:nvPr/>
        </p:nvSpPr>
        <p:spPr>
          <a:xfrm rot="0">
            <a:off x="3706544" y="6406019"/>
            <a:ext cx="5100415" cy="2091690"/>
          </a:xfrm>
          <a:prstGeom prst="rect">
            <a:avLst/>
          </a:prstGeom>
        </p:spPr>
        <p:txBody>
          <a:bodyPr anchor="t" rtlCol="false" tIns="0" lIns="0" bIns="0" rIns="0">
            <a:spAutoFit/>
          </a:bodyPr>
          <a:lstStyle/>
          <a:p>
            <a:pPr algn="just">
              <a:lnSpc>
                <a:spcPts val="3359"/>
              </a:lnSpc>
            </a:pPr>
            <a:r>
              <a:rPr lang="en-US" sz="2400" i="true">
                <a:solidFill>
                  <a:srgbClr val="1E302C"/>
                </a:solidFill>
                <a:latin typeface="Alice Bold Italics"/>
                <a:ea typeface="Alice Bold Italics"/>
                <a:cs typeface="Alice Bold Italics"/>
                <a:sym typeface="Alice Bold Italics"/>
              </a:rPr>
              <a:t>​Automated Skill-Gap Visualization</a:t>
            </a:r>
          </a:p>
          <a:p>
            <a:pPr algn="just">
              <a:lnSpc>
                <a:spcPts val="3359"/>
              </a:lnSpc>
            </a:pPr>
          </a:p>
          <a:p>
            <a:pPr algn="just">
              <a:lnSpc>
                <a:spcPts val="3359"/>
              </a:lnSpc>
            </a:pPr>
            <a:r>
              <a:rPr lang="en-US" sz="2400" i="true">
                <a:solidFill>
                  <a:srgbClr val="1E302C"/>
                </a:solidFill>
                <a:latin typeface="Alice Bold Italics"/>
                <a:ea typeface="Alice Bold Italics"/>
                <a:cs typeface="Alice Bold Italics"/>
                <a:sym typeface="Alice Bold Italics"/>
              </a:rPr>
              <a:t> </a:t>
            </a:r>
            <a:r>
              <a:rPr lang="en-US" sz="2400">
                <a:solidFill>
                  <a:srgbClr val="1E302C"/>
                </a:solidFill>
                <a:latin typeface="Alice"/>
                <a:ea typeface="Alice"/>
                <a:cs typeface="Alice"/>
                <a:sym typeface="Alice"/>
              </a:rPr>
              <a:t>Provides users with a "Match Score" and identifies specific skills they need to learn to qualify for a role.</a:t>
            </a:r>
          </a:p>
        </p:txBody>
      </p:sp>
      <p:sp>
        <p:nvSpPr>
          <p:cNvPr name="TextBox 34" id="34"/>
          <p:cNvSpPr txBox="true"/>
          <p:nvPr/>
        </p:nvSpPr>
        <p:spPr>
          <a:xfrm rot="0">
            <a:off x="10803662" y="2335102"/>
            <a:ext cx="4903957" cy="2510790"/>
          </a:xfrm>
          <a:prstGeom prst="rect">
            <a:avLst/>
          </a:prstGeom>
        </p:spPr>
        <p:txBody>
          <a:bodyPr anchor="t" rtlCol="false" tIns="0" lIns="0" bIns="0" rIns="0">
            <a:spAutoFit/>
          </a:bodyPr>
          <a:lstStyle/>
          <a:p>
            <a:pPr algn="just">
              <a:lnSpc>
                <a:spcPts val="3359"/>
              </a:lnSpc>
            </a:pPr>
            <a:r>
              <a:rPr lang="en-US" sz="2399" i="true">
                <a:solidFill>
                  <a:srgbClr val="1E302C"/>
                </a:solidFill>
                <a:latin typeface="Alice Bold Italics"/>
                <a:ea typeface="Alice Bold Italics"/>
                <a:cs typeface="Alice Bold Italics"/>
                <a:sym typeface="Alice Bold Italics"/>
              </a:rPr>
              <a:t>     Real-Time Data Streaming</a:t>
            </a:r>
          </a:p>
          <a:p>
            <a:pPr algn="just">
              <a:lnSpc>
                <a:spcPts val="3359"/>
              </a:lnSpc>
            </a:pPr>
          </a:p>
          <a:p>
            <a:pPr algn="just">
              <a:lnSpc>
                <a:spcPts val="3359"/>
              </a:lnSpc>
            </a:pPr>
            <a:r>
              <a:rPr lang="en-US" sz="2399">
                <a:solidFill>
                  <a:srgbClr val="1E302C"/>
                </a:solidFill>
                <a:latin typeface="Alice"/>
                <a:ea typeface="Alice"/>
                <a:cs typeface="Alice"/>
                <a:sym typeface="Alice"/>
              </a:rPr>
              <a:t>Uses WebSockets to push new job listings to users instantly, eliminating the need for page refreshers.</a:t>
            </a:r>
          </a:p>
        </p:txBody>
      </p:sp>
      <p:sp>
        <p:nvSpPr>
          <p:cNvPr name="TextBox 35" id="35"/>
          <p:cNvSpPr txBox="true"/>
          <p:nvPr/>
        </p:nvSpPr>
        <p:spPr>
          <a:xfrm rot="0">
            <a:off x="10788840" y="6242952"/>
            <a:ext cx="4903593" cy="2510790"/>
          </a:xfrm>
          <a:prstGeom prst="rect">
            <a:avLst/>
          </a:prstGeom>
        </p:spPr>
        <p:txBody>
          <a:bodyPr anchor="t" rtlCol="false" tIns="0" lIns="0" bIns="0" rIns="0">
            <a:spAutoFit/>
          </a:bodyPr>
          <a:lstStyle/>
          <a:p>
            <a:pPr algn="just">
              <a:lnSpc>
                <a:spcPts val="3359"/>
              </a:lnSpc>
            </a:pPr>
            <a:r>
              <a:rPr lang="en-US" sz="2400" i="true">
                <a:solidFill>
                  <a:srgbClr val="1E302C"/>
                </a:solidFill>
                <a:latin typeface="Alice Bold Italics"/>
                <a:ea typeface="Alice Bold Italics"/>
                <a:cs typeface="Alice Bold Italics"/>
                <a:sym typeface="Alice Bold Italics"/>
              </a:rPr>
              <a:t>​      Vectorized Profile Analysis</a:t>
            </a:r>
          </a:p>
          <a:p>
            <a:pPr algn="just">
              <a:lnSpc>
                <a:spcPts val="3359"/>
              </a:lnSpc>
            </a:pPr>
          </a:p>
          <a:p>
            <a:pPr algn="just">
              <a:lnSpc>
                <a:spcPts val="3359"/>
              </a:lnSpc>
            </a:pPr>
            <a:r>
              <a:rPr lang="en-US" sz="2400">
                <a:solidFill>
                  <a:srgbClr val="1E302C"/>
                </a:solidFill>
                <a:latin typeface="Alice"/>
                <a:ea typeface="Alice"/>
                <a:cs typeface="Alice"/>
                <a:sym typeface="Alice"/>
              </a:rPr>
              <a:t>Converts resumes into mathematical vectors to compare them against job descriptions with high precision.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826242" y="4886350"/>
            <a:ext cx="3389171" cy="338917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538186" y="4020013"/>
            <a:ext cx="3004720" cy="300472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3005865" y="5147150"/>
            <a:ext cx="4209548" cy="3459483"/>
          </a:xfrm>
          <a:custGeom>
            <a:avLst/>
            <a:gdLst/>
            <a:ahLst/>
            <a:cxnLst/>
            <a:rect r="r" b="b" t="t" l="l"/>
            <a:pathLst>
              <a:path h="3459483" w="4209548">
                <a:moveTo>
                  <a:pt x="0" y="0"/>
                </a:moveTo>
                <a:lnTo>
                  <a:pt x="4209548" y="0"/>
                </a:lnTo>
                <a:lnTo>
                  <a:pt x="4209548" y="3459484"/>
                </a:lnTo>
                <a:lnTo>
                  <a:pt x="0" y="34594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2041890" y="3878426"/>
            <a:ext cx="8432774" cy="1576450"/>
            <a:chOff x="0" y="0"/>
            <a:chExt cx="1773436" cy="331532"/>
          </a:xfrm>
        </p:grpSpPr>
        <p:sp>
          <p:nvSpPr>
            <p:cNvPr name="Freeform 13" id="13"/>
            <p:cNvSpPr/>
            <p:nvPr/>
          </p:nvSpPr>
          <p:spPr>
            <a:xfrm flipH="false" flipV="false" rot="0">
              <a:off x="0" y="0"/>
              <a:ext cx="1773436" cy="331532"/>
            </a:xfrm>
            <a:custGeom>
              <a:avLst/>
              <a:gdLst/>
              <a:ahLst/>
              <a:cxnLst/>
              <a:rect r="r" b="b" t="t" l="l"/>
              <a:pathLst>
                <a:path h="331532" w="1773436">
                  <a:moveTo>
                    <a:pt x="28460" y="0"/>
                  </a:moveTo>
                  <a:lnTo>
                    <a:pt x="1744975" y="0"/>
                  </a:lnTo>
                  <a:cubicBezTo>
                    <a:pt x="1760694" y="0"/>
                    <a:pt x="1773436" y="12742"/>
                    <a:pt x="1773436" y="28460"/>
                  </a:cubicBezTo>
                  <a:lnTo>
                    <a:pt x="1773436" y="303072"/>
                  </a:lnTo>
                  <a:cubicBezTo>
                    <a:pt x="1773436" y="318790"/>
                    <a:pt x="1760694" y="331532"/>
                    <a:pt x="1744975" y="331532"/>
                  </a:cubicBezTo>
                  <a:lnTo>
                    <a:pt x="28460" y="331532"/>
                  </a:lnTo>
                  <a:cubicBezTo>
                    <a:pt x="20912" y="331532"/>
                    <a:pt x="13673" y="328533"/>
                    <a:pt x="8336" y="323196"/>
                  </a:cubicBezTo>
                  <a:cubicBezTo>
                    <a:pt x="2998" y="317859"/>
                    <a:pt x="0" y="310620"/>
                    <a:pt x="0" y="303072"/>
                  </a:cubicBezTo>
                  <a:lnTo>
                    <a:pt x="0" y="28460"/>
                  </a:lnTo>
                  <a:cubicBezTo>
                    <a:pt x="0" y="12742"/>
                    <a:pt x="12742" y="0"/>
                    <a:pt x="28460" y="0"/>
                  </a:cubicBezTo>
                  <a:close/>
                </a:path>
              </a:pathLst>
            </a:custGeom>
            <a:solidFill>
              <a:srgbClr val="FFE5BA"/>
            </a:solidFill>
          </p:spPr>
        </p:sp>
        <p:sp>
          <p:nvSpPr>
            <p:cNvPr name="TextBox 14" id="14"/>
            <p:cNvSpPr txBox="true"/>
            <p:nvPr/>
          </p:nvSpPr>
          <p:spPr>
            <a:xfrm>
              <a:off x="0" y="-38100"/>
              <a:ext cx="1773436" cy="369632"/>
            </a:xfrm>
            <a:prstGeom prst="rect">
              <a:avLst/>
            </a:prstGeom>
          </p:spPr>
          <p:txBody>
            <a:bodyPr anchor="t" rtlCol="false" tIns="165100" lIns="165100" bIns="165100" rIns="165100"/>
            <a:lstStyle/>
            <a:p>
              <a:pPr algn="l">
                <a:lnSpc>
                  <a:spcPts val="2925"/>
                </a:lnSpc>
              </a:pPr>
              <a:r>
                <a:rPr lang="en-US" sz="2199">
                  <a:solidFill>
                    <a:srgbClr val="000000"/>
                  </a:solidFill>
                  <a:latin typeface="Alice Bold"/>
                  <a:ea typeface="Alice Bold"/>
                  <a:cs typeface="Alice Bold"/>
                  <a:sym typeface="Alice Bold"/>
                </a:rPr>
                <a:t>Elimination of "Keyword Stuffing": </a:t>
              </a:r>
              <a:r>
                <a:rPr lang="en-US" sz="2199">
                  <a:solidFill>
                    <a:srgbClr val="000000"/>
                  </a:solidFill>
                  <a:latin typeface="Alice"/>
                  <a:ea typeface="Alice"/>
                  <a:cs typeface="Alice"/>
                  <a:sym typeface="Alice"/>
                </a:rPr>
                <a:t>The AI focuses on the quality and depth of experience rather than how many times a word appears in a resume.</a:t>
              </a:r>
            </a:p>
          </p:txBody>
        </p:sp>
      </p:grpSp>
      <p:sp>
        <p:nvSpPr>
          <p:cNvPr name="Freeform 15" id="15"/>
          <p:cNvSpPr/>
          <p:nvPr/>
        </p:nvSpPr>
        <p:spPr>
          <a:xfrm flipH="false" flipV="false" rot="-6698292">
            <a:off x="10660452" y="5976303"/>
            <a:ext cx="1380740" cy="594973"/>
          </a:xfrm>
          <a:custGeom>
            <a:avLst/>
            <a:gdLst/>
            <a:ahLst/>
            <a:cxnLst/>
            <a:rect r="r" b="b" t="t" l="l"/>
            <a:pathLst>
              <a:path h="594973" w="1380740">
                <a:moveTo>
                  <a:pt x="0" y="0"/>
                </a:moveTo>
                <a:lnTo>
                  <a:pt x="1380740" y="0"/>
                </a:lnTo>
                <a:lnTo>
                  <a:pt x="1380740" y="594973"/>
                </a:lnTo>
                <a:lnTo>
                  <a:pt x="0" y="594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2811967">
            <a:off x="16693207" y="4369987"/>
            <a:ext cx="1380740" cy="594973"/>
          </a:xfrm>
          <a:custGeom>
            <a:avLst/>
            <a:gdLst/>
            <a:ahLst/>
            <a:cxnLst/>
            <a:rect r="r" b="b" t="t" l="l"/>
            <a:pathLst>
              <a:path h="594973" w="1380740">
                <a:moveTo>
                  <a:pt x="0" y="0"/>
                </a:moveTo>
                <a:lnTo>
                  <a:pt x="1380739" y="0"/>
                </a:lnTo>
                <a:lnTo>
                  <a:pt x="1380739" y="594973"/>
                </a:lnTo>
                <a:lnTo>
                  <a:pt x="0" y="594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4282654" y="5972953"/>
            <a:ext cx="1320252" cy="1409978"/>
          </a:xfrm>
          <a:custGeom>
            <a:avLst/>
            <a:gdLst/>
            <a:ahLst/>
            <a:cxnLst/>
            <a:rect r="r" b="b" t="t" l="l"/>
            <a:pathLst>
              <a:path h="1409978" w="1320252">
                <a:moveTo>
                  <a:pt x="0" y="0"/>
                </a:moveTo>
                <a:lnTo>
                  <a:pt x="1320252" y="0"/>
                </a:lnTo>
                <a:lnTo>
                  <a:pt x="1320252" y="1409977"/>
                </a:lnTo>
                <a:lnTo>
                  <a:pt x="0" y="14099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true" flipV="false" rot="0">
            <a:off x="17072975" y="7677714"/>
            <a:ext cx="559764" cy="597806"/>
          </a:xfrm>
          <a:custGeom>
            <a:avLst/>
            <a:gdLst/>
            <a:ahLst/>
            <a:cxnLst/>
            <a:rect r="r" b="b" t="t" l="l"/>
            <a:pathLst>
              <a:path h="597806" w="559764">
                <a:moveTo>
                  <a:pt x="559764" y="0"/>
                </a:moveTo>
                <a:lnTo>
                  <a:pt x="0" y="0"/>
                </a:lnTo>
                <a:lnTo>
                  <a:pt x="0" y="597807"/>
                </a:lnTo>
                <a:lnTo>
                  <a:pt x="559764" y="597807"/>
                </a:lnTo>
                <a:lnTo>
                  <a:pt x="55976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1115004" y="4207583"/>
            <a:ext cx="559764" cy="597806"/>
          </a:xfrm>
          <a:custGeom>
            <a:avLst/>
            <a:gdLst/>
            <a:ahLst/>
            <a:cxnLst/>
            <a:rect r="r" b="b" t="t" l="l"/>
            <a:pathLst>
              <a:path h="597806" w="559764">
                <a:moveTo>
                  <a:pt x="0" y="0"/>
                </a:moveTo>
                <a:lnTo>
                  <a:pt x="559764" y="0"/>
                </a:lnTo>
                <a:lnTo>
                  <a:pt x="559764" y="597807"/>
                </a:lnTo>
                <a:lnTo>
                  <a:pt x="0" y="5978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0" id="20"/>
          <p:cNvSpPr txBox="true"/>
          <p:nvPr/>
        </p:nvSpPr>
        <p:spPr>
          <a:xfrm rot="0">
            <a:off x="1028700" y="410340"/>
            <a:ext cx="12617397" cy="1021716"/>
          </a:xfrm>
          <a:prstGeom prst="rect">
            <a:avLst/>
          </a:prstGeom>
        </p:spPr>
        <p:txBody>
          <a:bodyPr anchor="t" rtlCol="false" tIns="0" lIns="0" bIns="0" rIns="0">
            <a:spAutoFit/>
          </a:bodyPr>
          <a:lstStyle/>
          <a:p>
            <a:pPr algn="l" marL="0" indent="0" lvl="0">
              <a:lnSpc>
                <a:spcPts val="8259"/>
              </a:lnSpc>
              <a:spcBef>
                <a:spcPct val="0"/>
              </a:spcBef>
            </a:pPr>
            <a:r>
              <a:rPr lang="en-US" sz="5899" strike="noStrike" u="none">
                <a:solidFill>
                  <a:srgbClr val="8F6234"/>
                </a:solidFill>
                <a:latin typeface="Alice"/>
                <a:ea typeface="Alice"/>
                <a:cs typeface="Alice"/>
                <a:sym typeface="Alice"/>
              </a:rPr>
              <a:t>Advantages Over Existing Ecosystem </a:t>
            </a:r>
          </a:p>
        </p:txBody>
      </p:sp>
      <p:grpSp>
        <p:nvGrpSpPr>
          <p:cNvPr name="Group 21" id="21"/>
          <p:cNvGrpSpPr/>
          <p:nvPr/>
        </p:nvGrpSpPr>
        <p:grpSpPr>
          <a:xfrm rot="0">
            <a:off x="2041890" y="5705727"/>
            <a:ext cx="8432774" cy="1677203"/>
            <a:chOff x="0" y="0"/>
            <a:chExt cx="1773436" cy="352720"/>
          </a:xfrm>
        </p:grpSpPr>
        <p:sp>
          <p:nvSpPr>
            <p:cNvPr name="Freeform 22" id="22"/>
            <p:cNvSpPr/>
            <p:nvPr/>
          </p:nvSpPr>
          <p:spPr>
            <a:xfrm flipH="false" flipV="false" rot="0">
              <a:off x="0" y="0"/>
              <a:ext cx="1773436" cy="352720"/>
            </a:xfrm>
            <a:custGeom>
              <a:avLst/>
              <a:gdLst/>
              <a:ahLst/>
              <a:cxnLst/>
              <a:rect r="r" b="b" t="t" l="l"/>
              <a:pathLst>
                <a:path h="352720" w="1773436">
                  <a:moveTo>
                    <a:pt x="28460" y="0"/>
                  </a:moveTo>
                  <a:lnTo>
                    <a:pt x="1744975" y="0"/>
                  </a:lnTo>
                  <a:cubicBezTo>
                    <a:pt x="1760694" y="0"/>
                    <a:pt x="1773436" y="12742"/>
                    <a:pt x="1773436" y="28460"/>
                  </a:cubicBezTo>
                  <a:lnTo>
                    <a:pt x="1773436" y="324260"/>
                  </a:lnTo>
                  <a:cubicBezTo>
                    <a:pt x="1773436" y="339978"/>
                    <a:pt x="1760694" y="352720"/>
                    <a:pt x="1744975" y="352720"/>
                  </a:cubicBezTo>
                  <a:lnTo>
                    <a:pt x="28460" y="352720"/>
                  </a:lnTo>
                  <a:cubicBezTo>
                    <a:pt x="12742" y="352720"/>
                    <a:pt x="0" y="339978"/>
                    <a:pt x="0" y="324260"/>
                  </a:cubicBezTo>
                  <a:lnTo>
                    <a:pt x="0" y="28460"/>
                  </a:lnTo>
                  <a:cubicBezTo>
                    <a:pt x="0" y="12742"/>
                    <a:pt x="12742" y="0"/>
                    <a:pt x="28460" y="0"/>
                  </a:cubicBezTo>
                  <a:close/>
                </a:path>
              </a:pathLst>
            </a:custGeom>
            <a:solidFill>
              <a:srgbClr val="FFE5BA"/>
            </a:solidFill>
          </p:spPr>
        </p:sp>
        <p:sp>
          <p:nvSpPr>
            <p:cNvPr name="TextBox 23" id="23"/>
            <p:cNvSpPr txBox="true"/>
            <p:nvPr/>
          </p:nvSpPr>
          <p:spPr>
            <a:xfrm>
              <a:off x="0" y="-47625"/>
              <a:ext cx="1773436" cy="400345"/>
            </a:xfrm>
            <a:prstGeom prst="rect">
              <a:avLst/>
            </a:prstGeom>
          </p:spPr>
          <p:txBody>
            <a:bodyPr anchor="t" rtlCol="false" tIns="215900" lIns="215900" bIns="215900" rIns="215900"/>
            <a:lstStyle/>
            <a:p>
              <a:pPr algn="l">
                <a:lnSpc>
                  <a:spcPts val="3079"/>
                </a:lnSpc>
              </a:pPr>
              <a:r>
                <a:rPr lang="en-US" sz="2199">
                  <a:solidFill>
                    <a:srgbClr val="000000"/>
                  </a:solidFill>
                  <a:latin typeface="Alice Bold"/>
                  <a:ea typeface="Alice Bold"/>
                  <a:cs typeface="Alice Bold"/>
                  <a:sym typeface="Alice Bold"/>
                </a:rPr>
                <a:t>High Engagement :</a:t>
              </a:r>
              <a:r>
                <a:rPr lang="en-US" sz="2199">
                  <a:solidFill>
                    <a:srgbClr val="000000"/>
                  </a:solidFill>
                  <a:latin typeface="Alice"/>
                  <a:ea typeface="Alice"/>
                  <a:cs typeface="Alice"/>
                  <a:sym typeface="Alice"/>
                </a:rPr>
                <a:t> Real-time notifications ensure users never miss an opportunity, leading to faster application cycles.</a:t>
              </a:r>
            </a:p>
          </p:txBody>
        </p:sp>
      </p:grpSp>
      <p:grpSp>
        <p:nvGrpSpPr>
          <p:cNvPr name="Group 24" id="24"/>
          <p:cNvGrpSpPr/>
          <p:nvPr/>
        </p:nvGrpSpPr>
        <p:grpSpPr>
          <a:xfrm rot="0">
            <a:off x="2041890" y="2051180"/>
            <a:ext cx="8432774" cy="1576396"/>
            <a:chOff x="0" y="0"/>
            <a:chExt cx="1773436" cy="331520"/>
          </a:xfrm>
        </p:grpSpPr>
        <p:sp>
          <p:nvSpPr>
            <p:cNvPr name="Freeform 25" id="25"/>
            <p:cNvSpPr/>
            <p:nvPr/>
          </p:nvSpPr>
          <p:spPr>
            <a:xfrm flipH="false" flipV="false" rot="0">
              <a:off x="0" y="0"/>
              <a:ext cx="1773436" cy="331520"/>
            </a:xfrm>
            <a:custGeom>
              <a:avLst/>
              <a:gdLst/>
              <a:ahLst/>
              <a:cxnLst/>
              <a:rect r="r" b="b" t="t" l="l"/>
              <a:pathLst>
                <a:path h="331520" w="1773436">
                  <a:moveTo>
                    <a:pt x="28460" y="0"/>
                  </a:moveTo>
                  <a:lnTo>
                    <a:pt x="1744975" y="0"/>
                  </a:lnTo>
                  <a:cubicBezTo>
                    <a:pt x="1760694" y="0"/>
                    <a:pt x="1773436" y="12742"/>
                    <a:pt x="1773436" y="28460"/>
                  </a:cubicBezTo>
                  <a:lnTo>
                    <a:pt x="1773436" y="303060"/>
                  </a:lnTo>
                  <a:cubicBezTo>
                    <a:pt x="1773436" y="318778"/>
                    <a:pt x="1760694" y="331520"/>
                    <a:pt x="1744975" y="331520"/>
                  </a:cubicBezTo>
                  <a:lnTo>
                    <a:pt x="28460" y="331520"/>
                  </a:lnTo>
                  <a:cubicBezTo>
                    <a:pt x="12742" y="331520"/>
                    <a:pt x="0" y="318778"/>
                    <a:pt x="0" y="303060"/>
                  </a:cubicBezTo>
                  <a:lnTo>
                    <a:pt x="0" y="28460"/>
                  </a:lnTo>
                  <a:cubicBezTo>
                    <a:pt x="0" y="12742"/>
                    <a:pt x="12742" y="0"/>
                    <a:pt x="28460" y="0"/>
                  </a:cubicBezTo>
                  <a:close/>
                </a:path>
              </a:pathLst>
            </a:custGeom>
            <a:solidFill>
              <a:srgbClr val="FFE5BA"/>
            </a:solidFill>
          </p:spPr>
        </p:sp>
        <p:sp>
          <p:nvSpPr>
            <p:cNvPr name="TextBox 26" id="26"/>
            <p:cNvSpPr txBox="true"/>
            <p:nvPr/>
          </p:nvSpPr>
          <p:spPr>
            <a:xfrm>
              <a:off x="0" y="-47625"/>
              <a:ext cx="1773436" cy="379145"/>
            </a:xfrm>
            <a:prstGeom prst="rect">
              <a:avLst/>
            </a:prstGeom>
          </p:spPr>
          <p:txBody>
            <a:bodyPr anchor="t" rtlCol="false" tIns="152400" lIns="152400" bIns="152400" rIns="152400"/>
            <a:lstStyle/>
            <a:p>
              <a:pPr algn="l">
                <a:lnSpc>
                  <a:spcPts val="3079"/>
                </a:lnSpc>
              </a:pPr>
              <a:r>
                <a:rPr lang="en-US" sz="2199">
                  <a:solidFill>
                    <a:srgbClr val="1E302C"/>
                  </a:solidFill>
                  <a:latin typeface="Alice Bold"/>
                  <a:ea typeface="Alice Bold"/>
                  <a:cs typeface="Alice Bold"/>
                  <a:sym typeface="Alice Bold"/>
                </a:rPr>
                <a:t>Reduced Time-to-Hire :</a:t>
              </a:r>
              <a:r>
                <a:rPr lang="en-US" sz="2199">
                  <a:solidFill>
                    <a:srgbClr val="1E302C"/>
                  </a:solidFill>
                  <a:latin typeface="Alice"/>
                  <a:ea typeface="Alice"/>
                  <a:cs typeface="Alice"/>
                  <a:sym typeface="Alice"/>
                </a:rPr>
                <a:t> Recruiters see the most qualified candidates at the top of their list instantly, ranked by AI accuracy.</a:t>
              </a:r>
            </a:p>
          </p:txBody>
        </p:sp>
      </p:grpSp>
      <p:grpSp>
        <p:nvGrpSpPr>
          <p:cNvPr name="Group 27" id="27"/>
          <p:cNvGrpSpPr/>
          <p:nvPr/>
        </p:nvGrpSpPr>
        <p:grpSpPr>
          <a:xfrm rot="0">
            <a:off x="2041890" y="7677714"/>
            <a:ext cx="8432774" cy="1495933"/>
            <a:chOff x="0" y="0"/>
            <a:chExt cx="1773436" cy="314599"/>
          </a:xfrm>
        </p:grpSpPr>
        <p:sp>
          <p:nvSpPr>
            <p:cNvPr name="Freeform 28" id="28"/>
            <p:cNvSpPr/>
            <p:nvPr/>
          </p:nvSpPr>
          <p:spPr>
            <a:xfrm flipH="false" flipV="false" rot="0">
              <a:off x="0" y="0"/>
              <a:ext cx="1773436" cy="314599"/>
            </a:xfrm>
            <a:custGeom>
              <a:avLst/>
              <a:gdLst/>
              <a:ahLst/>
              <a:cxnLst/>
              <a:rect r="r" b="b" t="t" l="l"/>
              <a:pathLst>
                <a:path h="314599" w="1773436">
                  <a:moveTo>
                    <a:pt x="28460" y="0"/>
                  </a:moveTo>
                  <a:lnTo>
                    <a:pt x="1744975" y="0"/>
                  </a:lnTo>
                  <a:cubicBezTo>
                    <a:pt x="1760694" y="0"/>
                    <a:pt x="1773436" y="12742"/>
                    <a:pt x="1773436" y="28460"/>
                  </a:cubicBezTo>
                  <a:lnTo>
                    <a:pt x="1773436" y="286138"/>
                  </a:lnTo>
                  <a:cubicBezTo>
                    <a:pt x="1773436" y="293687"/>
                    <a:pt x="1770437" y="300926"/>
                    <a:pt x="1765100" y="306263"/>
                  </a:cubicBezTo>
                  <a:cubicBezTo>
                    <a:pt x="1759763" y="311600"/>
                    <a:pt x="1752524" y="314599"/>
                    <a:pt x="1744975" y="314599"/>
                  </a:cubicBezTo>
                  <a:lnTo>
                    <a:pt x="28460" y="314599"/>
                  </a:lnTo>
                  <a:cubicBezTo>
                    <a:pt x="12742" y="314599"/>
                    <a:pt x="0" y="301857"/>
                    <a:pt x="0" y="286138"/>
                  </a:cubicBezTo>
                  <a:lnTo>
                    <a:pt x="0" y="28460"/>
                  </a:lnTo>
                  <a:cubicBezTo>
                    <a:pt x="0" y="12742"/>
                    <a:pt x="12742" y="0"/>
                    <a:pt x="28460" y="0"/>
                  </a:cubicBezTo>
                  <a:close/>
                </a:path>
              </a:pathLst>
            </a:custGeom>
            <a:solidFill>
              <a:srgbClr val="FFE5BA"/>
            </a:solidFill>
          </p:spPr>
        </p:sp>
        <p:sp>
          <p:nvSpPr>
            <p:cNvPr name="TextBox 29" id="29"/>
            <p:cNvSpPr txBox="true"/>
            <p:nvPr/>
          </p:nvSpPr>
          <p:spPr>
            <a:xfrm>
              <a:off x="0" y="-47625"/>
              <a:ext cx="1773436" cy="362224"/>
            </a:xfrm>
            <a:prstGeom prst="rect">
              <a:avLst/>
            </a:prstGeom>
          </p:spPr>
          <p:txBody>
            <a:bodyPr anchor="t" rtlCol="false" tIns="203200" lIns="203200" bIns="203200" rIns="203200"/>
            <a:lstStyle/>
            <a:p>
              <a:pPr algn="l">
                <a:lnSpc>
                  <a:spcPts val="3079"/>
                </a:lnSpc>
              </a:pPr>
              <a:r>
                <a:rPr lang="en-US" sz="2199">
                  <a:solidFill>
                    <a:srgbClr val="000000"/>
                  </a:solidFill>
                  <a:latin typeface="Alice Bold"/>
                  <a:ea typeface="Alice Bold"/>
                  <a:cs typeface="Alice Bold"/>
                  <a:sym typeface="Alice Bold"/>
                </a:rPr>
                <a:t>Data-Driven Career Guidance :</a:t>
              </a:r>
              <a:r>
                <a:rPr lang="en-US" sz="2199">
                  <a:solidFill>
                    <a:srgbClr val="000000"/>
                  </a:solidFill>
                  <a:latin typeface="Alice"/>
                  <a:ea typeface="Alice"/>
                  <a:cs typeface="Alice"/>
                  <a:sym typeface="Alice"/>
                </a:rPr>
                <a:t> Unlike traditional boards, this system acts as a career advisor by suggesting relevant job pivots based on transferable skills.</a:t>
              </a:r>
            </a:p>
          </p:txBody>
        </p:sp>
      </p:grpSp>
      <p:sp>
        <p:nvSpPr>
          <p:cNvPr name="Freeform 30" id="30"/>
          <p:cNvSpPr/>
          <p:nvPr/>
        </p:nvSpPr>
        <p:spPr>
          <a:xfrm flipH="false" flipV="false" rot="0">
            <a:off x="954940" y="2141510"/>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1" id="31"/>
          <p:cNvSpPr/>
          <p:nvPr/>
        </p:nvSpPr>
        <p:spPr>
          <a:xfrm flipH="false" flipV="false" rot="0">
            <a:off x="954940" y="5846460"/>
            <a:ext cx="697868" cy="697868"/>
          </a:xfrm>
          <a:custGeom>
            <a:avLst/>
            <a:gdLst/>
            <a:ahLst/>
            <a:cxnLst/>
            <a:rect r="r" b="b" t="t" l="l"/>
            <a:pathLst>
              <a:path h="697868" w="697868">
                <a:moveTo>
                  <a:pt x="0" y="0"/>
                </a:moveTo>
                <a:lnTo>
                  <a:pt x="697868" y="0"/>
                </a:lnTo>
                <a:lnTo>
                  <a:pt x="697868" y="697869"/>
                </a:lnTo>
                <a:lnTo>
                  <a:pt x="0" y="6978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2" id="32"/>
          <p:cNvSpPr/>
          <p:nvPr/>
        </p:nvSpPr>
        <p:spPr>
          <a:xfrm flipH="false" flipV="false" rot="0">
            <a:off x="954940" y="3969606"/>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3" id="33"/>
          <p:cNvSpPr/>
          <p:nvPr/>
        </p:nvSpPr>
        <p:spPr>
          <a:xfrm flipH="false" flipV="false" rot="0">
            <a:off x="954940" y="7750422"/>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aphicFrame>
        <p:nvGraphicFramePr>
          <p:cNvPr name="Object 2" id="2"/>
          <p:cNvGraphicFramePr/>
          <p:nvPr/>
        </p:nvGraphicFramePr>
        <p:xfrm>
          <a:off x="461818" y="1028700"/>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461818" y="-124016"/>
            <a:ext cx="12710400" cy="1152716"/>
          </a:xfrm>
          <a:prstGeom prst="rect">
            <a:avLst/>
          </a:prstGeom>
        </p:spPr>
        <p:txBody>
          <a:bodyPr anchor="t" rtlCol="false" tIns="0" lIns="0" bIns="0" rIns="0">
            <a:spAutoFit/>
          </a:bodyPr>
          <a:lstStyle/>
          <a:p>
            <a:pPr algn="l" marL="0" indent="0" lvl="0">
              <a:lnSpc>
                <a:spcPts val="8436"/>
              </a:lnSpc>
              <a:spcBef>
                <a:spcPct val="0"/>
              </a:spcBef>
            </a:pPr>
            <a:r>
              <a:rPr lang="en-US" b="true" sz="6026" strike="noStrike" u="none">
                <a:solidFill>
                  <a:srgbClr val="8F6234"/>
                </a:solidFill>
                <a:latin typeface="Times New Roman MT Bold"/>
                <a:ea typeface="Times New Roman MT Bold"/>
                <a:cs typeface="Times New Roman MT Bold"/>
                <a:sym typeface="Times New Roman MT Bold"/>
              </a:rPr>
              <a:t>Literature Survey- Market Analysis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sp>
        <p:nvSpPr>
          <p:cNvPr name="Freeform 2" id="2"/>
          <p:cNvSpPr/>
          <p:nvPr/>
        </p:nvSpPr>
        <p:spPr>
          <a:xfrm flipH="false" flipV="false" rot="0">
            <a:off x="15574479" y="7693378"/>
            <a:ext cx="2713521" cy="2230021"/>
          </a:xfrm>
          <a:custGeom>
            <a:avLst/>
            <a:gdLst/>
            <a:ahLst/>
            <a:cxnLst/>
            <a:rect r="r" b="b" t="t" l="l"/>
            <a:pathLst>
              <a:path h="2230021" w="2713521">
                <a:moveTo>
                  <a:pt x="0" y="0"/>
                </a:moveTo>
                <a:lnTo>
                  <a:pt x="2713521" y="0"/>
                </a:lnTo>
                <a:lnTo>
                  <a:pt x="2713521" y="2230022"/>
                </a:lnTo>
                <a:lnTo>
                  <a:pt x="0" y="22300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574479" y="8928045"/>
            <a:ext cx="3004720" cy="300472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259300" y="6873242"/>
            <a:ext cx="2437268" cy="4109607"/>
            <a:chOff x="0" y="0"/>
            <a:chExt cx="584512" cy="985577"/>
          </a:xfrm>
        </p:grpSpPr>
        <p:sp>
          <p:nvSpPr>
            <p:cNvPr name="Freeform 7" id="7"/>
            <p:cNvSpPr/>
            <p:nvPr/>
          </p:nvSpPr>
          <p:spPr>
            <a:xfrm flipH="false" flipV="false" rot="0">
              <a:off x="0" y="0"/>
              <a:ext cx="584512" cy="985577"/>
            </a:xfrm>
            <a:custGeom>
              <a:avLst/>
              <a:gdLst/>
              <a:ahLst/>
              <a:cxnLst/>
              <a:rect r="r" b="b" t="t" l="l"/>
              <a:pathLst>
                <a:path h="985577" w="584512">
                  <a:moveTo>
                    <a:pt x="292256" y="0"/>
                  </a:moveTo>
                  <a:cubicBezTo>
                    <a:pt x="130848" y="0"/>
                    <a:pt x="0" y="220629"/>
                    <a:pt x="0" y="492789"/>
                  </a:cubicBezTo>
                  <a:cubicBezTo>
                    <a:pt x="0" y="764948"/>
                    <a:pt x="130848" y="985577"/>
                    <a:pt x="292256" y="985577"/>
                  </a:cubicBezTo>
                  <a:cubicBezTo>
                    <a:pt x="453665" y="985577"/>
                    <a:pt x="584512" y="764948"/>
                    <a:pt x="584512" y="492789"/>
                  </a:cubicBezTo>
                  <a:cubicBezTo>
                    <a:pt x="584512" y="220629"/>
                    <a:pt x="453665" y="0"/>
                    <a:pt x="292256" y="0"/>
                  </a:cubicBezTo>
                  <a:close/>
                </a:path>
              </a:pathLst>
            </a:custGeom>
            <a:solidFill>
              <a:srgbClr val="8DAFA8">
                <a:alpha val="40000"/>
              </a:srgbClr>
            </a:solidFill>
          </p:spPr>
        </p:sp>
        <p:sp>
          <p:nvSpPr>
            <p:cNvPr name="TextBox 8" id="8"/>
            <p:cNvSpPr txBox="true"/>
            <p:nvPr/>
          </p:nvSpPr>
          <p:spPr>
            <a:xfrm>
              <a:off x="54798" y="54298"/>
              <a:ext cx="474916" cy="838881"/>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408797" y="2474856"/>
            <a:ext cx="5635977" cy="3229810"/>
            <a:chOff x="0" y="0"/>
            <a:chExt cx="1526890" cy="875015"/>
          </a:xfrm>
        </p:grpSpPr>
        <p:sp>
          <p:nvSpPr>
            <p:cNvPr name="Freeform 10" id="10"/>
            <p:cNvSpPr/>
            <p:nvPr/>
          </p:nvSpPr>
          <p:spPr>
            <a:xfrm flipH="false" flipV="false" rot="0">
              <a:off x="0" y="0"/>
              <a:ext cx="1526890" cy="875015"/>
            </a:xfrm>
            <a:custGeom>
              <a:avLst/>
              <a:gdLst/>
              <a:ahLst/>
              <a:cxnLst/>
              <a:rect r="r" b="b" t="t" l="l"/>
              <a:pathLst>
                <a:path h="875015" w="1526890">
                  <a:moveTo>
                    <a:pt x="27473" y="0"/>
                  </a:moveTo>
                  <a:lnTo>
                    <a:pt x="1499416" y="0"/>
                  </a:lnTo>
                  <a:cubicBezTo>
                    <a:pt x="1514589" y="0"/>
                    <a:pt x="1526890" y="12300"/>
                    <a:pt x="1526890" y="27473"/>
                  </a:cubicBezTo>
                  <a:lnTo>
                    <a:pt x="1526890" y="847541"/>
                  </a:lnTo>
                  <a:cubicBezTo>
                    <a:pt x="1526890" y="854828"/>
                    <a:pt x="1523995" y="861816"/>
                    <a:pt x="1518843" y="866968"/>
                  </a:cubicBezTo>
                  <a:cubicBezTo>
                    <a:pt x="1513691" y="872120"/>
                    <a:pt x="1506703" y="875015"/>
                    <a:pt x="1499416" y="875015"/>
                  </a:cubicBezTo>
                  <a:lnTo>
                    <a:pt x="27473" y="875015"/>
                  </a:lnTo>
                  <a:cubicBezTo>
                    <a:pt x="20187" y="875015"/>
                    <a:pt x="13199" y="872120"/>
                    <a:pt x="8047" y="866968"/>
                  </a:cubicBezTo>
                  <a:cubicBezTo>
                    <a:pt x="2894" y="861816"/>
                    <a:pt x="0" y="854828"/>
                    <a:pt x="0" y="847541"/>
                  </a:cubicBezTo>
                  <a:lnTo>
                    <a:pt x="0" y="27473"/>
                  </a:lnTo>
                  <a:cubicBezTo>
                    <a:pt x="0" y="20187"/>
                    <a:pt x="2894" y="13199"/>
                    <a:pt x="8047" y="8047"/>
                  </a:cubicBezTo>
                  <a:cubicBezTo>
                    <a:pt x="13199" y="2894"/>
                    <a:pt x="20187" y="0"/>
                    <a:pt x="27473" y="0"/>
                  </a:cubicBezTo>
                  <a:close/>
                </a:path>
              </a:pathLst>
            </a:custGeom>
            <a:solidFill>
              <a:srgbClr val="8F6234"/>
            </a:solidFill>
          </p:spPr>
        </p:sp>
        <p:sp>
          <p:nvSpPr>
            <p:cNvPr name="TextBox 11" id="11"/>
            <p:cNvSpPr txBox="true"/>
            <p:nvPr/>
          </p:nvSpPr>
          <p:spPr>
            <a:xfrm>
              <a:off x="0" y="-66675"/>
              <a:ext cx="1526890" cy="941690"/>
            </a:xfrm>
            <a:prstGeom prst="rect">
              <a:avLst/>
            </a:prstGeom>
          </p:spPr>
          <p:txBody>
            <a:bodyPr anchor="ctr" rtlCol="false" tIns="50800" lIns="50800" bIns="50800" rIns="50800"/>
            <a:lstStyle/>
            <a:p>
              <a:pPr algn="ctr">
                <a:lnSpc>
                  <a:spcPts val="4060"/>
                </a:lnSpc>
              </a:pPr>
              <a:r>
                <a:rPr lang="en-US" sz="2900" i="true">
                  <a:solidFill>
                    <a:srgbClr val="FFF7EF"/>
                  </a:solidFill>
                  <a:latin typeface="Alice Bold Italics"/>
                  <a:ea typeface="Alice Bold Italics"/>
                  <a:cs typeface="Alice Bold Italics"/>
                  <a:sym typeface="Alice Bold Italics"/>
                </a:rPr>
                <a:t>Text Pre-processing</a:t>
              </a:r>
            </a:p>
            <a:p>
              <a:pPr algn="l">
                <a:lnSpc>
                  <a:spcPts val="4060"/>
                </a:lnSpc>
              </a:pPr>
            </a:p>
            <a:p>
              <a:pPr algn="just">
                <a:lnSpc>
                  <a:spcPts val="4060"/>
                </a:lnSpc>
              </a:pPr>
              <a:r>
                <a:rPr lang="en-US" sz="2900">
                  <a:solidFill>
                    <a:srgbClr val="FFF7EF"/>
                  </a:solidFill>
                  <a:latin typeface="Alice"/>
                  <a:ea typeface="Alice"/>
                  <a:cs typeface="Alice"/>
                  <a:sym typeface="Alice"/>
                </a:rPr>
                <a:t>Resumes and Job Descriptions are cleaned and tokenized into individual skill units.</a:t>
              </a:r>
            </a:p>
          </p:txBody>
        </p:sp>
      </p:grpSp>
      <p:grpSp>
        <p:nvGrpSpPr>
          <p:cNvPr name="Group 12" id="12"/>
          <p:cNvGrpSpPr/>
          <p:nvPr/>
        </p:nvGrpSpPr>
        <p:grpSpPr>
          <a:xfrm rot="0">
            <a:off x="2408797" y="6666320"/>
            <a:ext cx="5635977" cy="3276600"/>
            <a:chOff x="0" y="0"/>
            <a:chExt cx="1526890" cy="887691"/>
          </a:xfrm>
        </p:grpSpPr>
        <p:sp>
          <p:nvSpPr>
            <p:cNvPr name="Freeform 13" id="13"/>
            <p:cNvSpPr/>
            <p:nvPr/>
          </p:nvSpPr>
          <p:spPr>
            <a:xfrm flipH="false" flipV="false" rot="0">
              <a:off x="0" y="0"/>
              <a:ext cx="1526890" cy="887691"/>
            </a:xfrm>
            <a:custGeom>
              <a:avLst/>
              <a:gdLst/>
              <a:ahLst/>
              <a:cxnLst/>
              <a:rect r="r" b="b" t="t" l="l"/>
              <a:pathLst>
                <a:path h="887691" w="1526890">
                  <a:moveTo>
                    <a:pt x="27473" y="0"/>
                  </a:moveTo>
                  <a:lnTo>
                    <a:pt x="1499416" y="0"/>
                  </a:lnTo>
                  <a:cubicBezTo>
                    <a:pt x="1514589" y="0"/>
                    <a:pt x="1526890" y="12300"/>
                    <a:pt x="1526890" y="27473"/>
                  </a:cubicBezTo>
                  <a:lnTo>
                    <a:pt x="1526890" y="860218"/>
                  </a:lnTo>
                  <a:cubicBezTo>
                    <a:pt x="1526890" y="867504"/>
                    <a:pt x="1523995" y="874492"/>
                    <a:pt x="1518843" y="879644"/>
                  </a:cubicBezTo>
                  <a:cubicBezTo>
                    <a:pt x="1513691" y="884797"/>
                    <a:pt x="1506703" y="887691"/>
                    <a:pt x="1499416" y="887691"/>
                  </a:cubicBezTo>
                  <a:lnTo>
                    <a:pt x="27473" y="887691"/>
                  </a:lnTo>
                  <a:cubicBezTo>
                    <a:pt x="20187" y="887691"/>
                    <a:pt x="13199" y="884797"/>
                    <a:pt x="8047" y="879644"/>
                  </a:cubicBezTo>
                  <a:cubicBezTo>
                    <a:pt x="2894" y="874492"/>
                    <a:pt x="0" y="867504"/>
                    <a:pt x="0" y="860218"/>
                  </a:cubicBezTo>
                  <a:lnTo>
                    <a:pt x="0" y="27473"/>
                  </a:lnTo>
                  <a:cubicBezTo>
                    <a:pt x="0" y="20187"/>
                    <a:pt x="2894" y="13199"/>
                    <a:pt x="8047" y="8047"/>
                  </a:cubicBezTo>
                  <a:cubicBezTo>
                    <a:pt x="13199" y="2894"/>
                    <a:pt x="20187" y="0"/>
                    <a:pt x="27473" y="0"/>
                  </a:cubicBezTo>
                  <a:close/>
                </a:path>
              </a:pathLst>
            </a:custGeom>
            <a:solidFill>
              <a:srgbClr val="8F6234"/>
            </a:solidFill>
          </p:spPr>
        </p:sp>
        <p:sp>
          <p:nvSpPr>
            <p:cNvPr name="TextBox 14" id="14"/>
            <p:cNvSpPr txBox="true"/>
            <p:nvPr/>
          </p:nvSpPr>
          <p:spPr>
            <a:xfrm>
              <a:off x="0" y="-66675"/>
              <a:ext cx="1526890" cy="954366"/>
            </a:xfrm>
            <a:prstGeom prst="rect">
              <a:avLst/>
            </a:prstGeom>
          </p:spPr>
          <p:txBody>
            <a:bodyPr anchor="ctr" rtlCol="false" tIns="50800" lIns="50800" bIns="50800" rIns="50800"/>
            <a:lstStyle/>
            <a:p>
              <a:pPr algn="ctr">
                <a:lnSpc>
                  <a:spcPts val="4060"/>
                </a:lnSpc>
              </a:pPr>
              <a:r>
                <a:rPr lang="en-US" sz="2900" i="true">
                  <a:solidFill>
                    <a:srgbClr val="FFF7EF"/>
                  </a:solidFill>
                  <a:latin typeface="Alice Bold Italics"/>
                  <a:ea typeface="Alice Bold Italics"/>
                  <a:cs typeface="Alice Bold Italics"/>
                  <a:sym typeface="Alice Bold Italics"/>
                </a:rPr>
                <a:t>Cosine Similarity Calculation</a:t>
              </a:r>
            </a:p>
            <a:p>
              <a:pPr algn="l">
                <a:lnSpc>
                  <a:spcPts val="4060"/>
                </a:lnSpc>
              </a:pPr>
            </a:p>
            <a:p>
              <a:pPr algn="l">
                <a:lnSpc>
                  <a:spcPts val="4060"/>
                </a:lnSpc>
              </a:pPr>
              <a:r>
                <a:rPr lang="en-US" sz="2900">
                  <a:solidFill>
                    <a:srgbClr val="FFF7EF"/>
                  </a:solidFill>
                  <a:latin typeface="Alice"/>
                  <a:ea typeface="Alice"/>
                  <a:cs typeface="Alice"/>
                  <a:sym typeface="Alice"/>
                </a:rPr>
                <a:t>The algorithm measures the "angle" between the User Vector and the Job Vector to determine how closely they align.</a:t>
              </a:r>
            </a:p>
          </p:txBody>
        </p:sp>
      </p:grpSp>
      <p:grpSp>
        <p:nvGrpSpPr>
          <p:cNvPr name="Group 15" id="15"/>
          <p:cNvGrpSpPr/>
          <p:nvPr/>
        </p:nvGrpSpPr>
        <p:grpSpPr>
          <a:xfrm rot="0">
            <a:off x="9099888" y="6812230"/>
            <a:ext cx="5708514" cy="3188081"/>
            <a:chOff x="0" y="0"/>
            <a:chExt cx="1546541" cy="863710"/>
          </a:xfrm>
        </p:grpSpPr>
        <p:sp>
          <p:nvSpPr>
            <p:cNvPr name="Freeform 16" id="16"/>
            <p:cNvSpPr/>
            <p:nvPr/>
          </p:nvSpPr>
          <p:spPr>
            <a:xfrm flipH="false" flipV="false" rot="0">
              <a:off x="0" y="0"/>
              <a:ext cx="1546541" cy="863710"/>
            </a:xfrm>
            <a:custGeom>
              <a:avLst/>
              <a:gdLst/>
              <a:ahLst/>
              <a:cxnLst/>
              <a:rect r="r" b="b" t="t" l="l"/>
              <a:pathLst>
                <a:path h="863710" w="1546541">
                  <a:moveTo>
                    <a:pt x="27124" y="0"/>
                  </a:moveTo>
                  <a:lnTo>
                    <a:pt x="1519417" y="0"/>
                  </a:lnTo>
                  <a:cubicBezTo>
                    <a:pt x="1534397" y="0"/>
                    <a:pt x="1546541" y="12144"/>
                    <a:pt x="1546541" y="27124"/>
                  </a:cubicBezTo>
                  <a:lnTo>
                    <a:pt x="1546541" y="836586"/>
                  </a:lnTo>
                  <a:cubicBezTo>
                    <a:pt x="1546541" y="843779"/>
                    <a:pt x="1543684" y="850679"/>
                    <a:pt x="1538597" y="855765"/>
                  </a:cubicBezTo>
                  <a:cubicBezTo>
                    <a:pt x="1533510" y="860852"/>
                    <a:pt x="1526611" y="863710"/>
                    <a:pt x="1519417" y="863710"/>
                  </a:cubicBezTo>
                  <a:lnTo>
                    <a:pt x="27124" y="863710"/>
                  </a:lnTo>
                  <a:cubicBezTo>
                    <a:pt x="19930" y="863710"/>
                    <a:pt x="13031" y="860852"/>
                    <a:pt x="7944" y="855765"/>
                  </a:cubicBezTo>
                  <a:cubicBezTo>
                    <a:pt x="2858" y="850679"/>
                    <a:pt x="0" y="843779"/>
                    <a:pt x="0" y="836586"/>
                  </a:cubicBezTo>
                  <a:lnTo>
                    <a:pt x="0" y="27124"/>
                  </a:lnTo>
                  <a:cubicBezTo>
                    <a:pt x="0" y="19930"/>
                    <a:pt x="2858" y="13031"/>
                    <a:pt x="7944" y="7944"/>
                  </a:cubicBezTo>
                  <a:cubicBezTo>
                    <a:pt x="13031" y="2858"/>
                    <a:pt x="19930" y="0"/>
                    <a:pt x="27124" y="0"/>
                  </a:cubicBezTo>
                  <a:close/>
                </a:path>
              </a:pathLst>
            </a:custGeom>
            <a:solidFill>
              <a:srgbClr val="8F6234"/>
            </a:solidFill>
          </p:spPr>
        </p:sp>
        <p:sp>
          <p:nvSpPr>
            <p:cNvPr name="TextBox 17" id="17"/>
            <p:cNvSpPr txBox="true"/>
            <p:nvPr/>
          </p:nvSpPr>
          <p:spPr>
            <a:xfrm>
              <a:off x="0" y="-66675"/>
              <a:ext cx="1546541" cy="930385"/>
            </a:xfrm>
            <a:prstGeom prst="rect">
              <a:avLst/>
            </a:prstGeom>
          </p:spPr>
          <p:txBody>
            <a:bodyPr anchor="ctr" rtlCol="false" tIns="50800" lIns="50800" bIns="50800" rIns="50800"/>
            <a:lstStyle/>
            <a:p>
              <a:pPr algn="ctr">
                <a:lnSpc>
                  <a:spcPts val="4060"/>
                </a:lnSpc>
              </a:pPr>
              <a:r>
                <a:rPr lang="en-US" sz="2900" i="true">
                  <a:solidFill>
                    <a:srgbClr val="FFF7EF"/>
                  </a:solidFill>
                  <a:latin typeface="Alice Bold Italics"/>
                  <a:ea typeface="Alice Bold Italics"/>
                  <a:cs typeface="Alice Bold Italics"/>
                  <a:sym typeface="Alice Bold Italics"/>
                </a:rPr>
                <a:t>Score Generation</a:t>
              </a:r>
            </a:p>
            <a:p>
              <a:pPr algn="l">
                <a:lnSpc>
                  <a:spcPts val="4060"/>
                </a:lnSpc>
              </a:pPr>
            </a:p>
            <a:p>
              <a:pPr algn="just">
                <a:lnSpc>
                  <a:spcPts val="4060"/>
                </a:lnSpc>
              </a:pPr>
              <a:r>
                <a:rPr lang="en-US" sz="2900">
                  <a:solidFill>
                    <a:srgbClr val="FFF7EF"/>
                  </a:solidFill>
                  <a:latin typeface="Alice"/>
                  <a:ea typeface="Alice"/>
                  <a:cs typeface="Alice"/>
                  <a:sym typeface="Alice"/>
                </a:rPr>
                <a:t>The result is normalized into a percentage (0-100%) and displayed as the "Smart Match Score".</a:t>
              </a:r>
            </a:p>
          </p:txBody>
        </p:sp>
      </p:grpSp>
      <p:grpSp>
        <p:nvGrpSpPr>
          <p:cNvPr name="Group 18" id="18"/>
          <p:cNvGrpSpPr/>
          <p:nvPr/>
        </p:nvGrpSpPr>
        <p:grpSpPr>
          <a:xfrm rot="0">
            <a:off x="9144000" y="2547811"/>
            <a:ext cx="5752626" cy="3229810"/>
            <a:chOff x="0" y="0"/>
            <a:chExt cx="1558492" cy="875015"/>
          </a:xfrm>
        </p:grpSpPr>
        <p:sp>
          <p:nvSpPr>
            <p:cNvPr name="Freeform 19" id="19"/>
            <p:cNvSpPr/>
            <p:nvPr/>
          </p:nvSpPr>
          <p:spPr>
            <a:xfrm flipH="false" flipV="false" rot="0">
              <a:off x="0" y="0"/>
              <a:ext cx="1558492" cy="875015"/>
            </a:xfrm>
            <a:custGeom>
              <a:avLst/>
              <a:gdLst/>
              <a:ahLst/>
              <a:cxnLst/>
              <a:rect r="r" b="b" t="t" l="l"/>
              <a:pathLst>
                <a:path h="875015" w="1558492">
                  <a:moveTo>
                    <a:pt x="26916" y="0"/>
                  </a:moveTo>
                  <a:lnTo>
                    <a:pt x="1531576" y="0"/>
                  </a:lnTo>
                  <a:cubicBezTo>
                    <a:pt x="1538715" y="0"/>
                    <a:pt x="1545561" y="2836"/>
                    <a:pt x="1550608" y="7884"/>
                  </a:cubicBezTo>
                  <a:cubicBezTo>
                    <a:pt x="1555656" y="12931"/>
                    <a:pt x="1558492" y="19778"/>
                    <a:pt x="1558492" y="26916"/>
                  </a:cubicBezTo>
                  <a:lnTo>
                    <a:pt x="1558492" y="848099"/>
                  </a:lnTo>
                  <a:cubicBezTo>
                    <a:pt x="1558492" y="855237"/>
                    <a:pt x="1555656" y="862083"/>
                    <a:pt x="1550608" y="867131"/>
                  </a:cubicBezTo>
                  <a:cubicBezTo>
                    <a:pt x="1545561" y="872179"/>
                    <a:pt x="1538715" y="875015"/>
                    <a:pt x="1531576" y="875015"/>
                  </a:cubicBezTo>
                  <a:lnTo>
                    <a:pt x="26916" y="875015"/>
                  </a:lnTo>
                  <a:cubicBezTo>
                    <a:pt x="19778" y="875015"/>
                    <a:pt x="12931" y="872179"/>
                    <a:pt x="7884" y="867131"/>
                  </a:cubicBezTo>
                  <a:cubicBezTo>
                    <a:pt x="2836" y="862083"/>
                    <a:pt x="0" y="855237"/>
                    <a:pt x="0" y="848099"/>
                  </a:cubicBezTo>
                  <a:lnTo>
                    <a:pt x="0" y="26916"/>
                  </a:lnTo>
                  <a:cubicBezTo>
                    <a:pt x="0" y="19778"/>
                    <a:pt x="2836" y="12931"/>
                    <a:pt x="7884" y="7884"/>
                  </a:cubicBezTo>
                  <a:cubicBezTo>
                    <a:pt x="12931" y="2836"/>
                    <a:pt x="19778" y="0"/>
                    <a:pt x="26916" y="0"/>
                  </a:cubicBezTo>
                  <a:close/>
                </a:path>
              </a:pathLst>
            </a:custGeom>
            <a:solidFill>
              <a:srgbClr val="8F6234"/>
            </a:solidFill>
          </p:spPr>
        </p:sp>
        <p:sp>
          <p:nvSpPr>
            <p:cNvPr name="TextBox 20" id="20"/>
            <p:cNvSpPr txBox="true"/>
            <p:nvPr/>
          </p:nvSpPr>
          <p:spPr>
            <a:xfrm>
              <a:off x="0" y="-66675"/>
              <a:ext cx="1558492" cy="941690"/>
            </a:xfrm>
            <a:prstGeom prst="rect">
              <a:avLst/>
            </a:prstGeom>
          </p:spPr>
          <p:txBody>
            <a:bodyPr anchor="ctr" rtlCol="false" tIns="50800" lIns="50800" bIns="50800" rIns="50800"/>
            <a:lstStyle/>
            <a:p>
              <a:pPr algn="ctr">
                <a:lnSpc>
                  <a:spcPts val="4060"/>
                </a:lnSpc>
              </a:pPr>
              <a:r>
                <a:rPr lang="en-US" sz="2900" i="true">
                  <a:solidFill>
                    <a:srgbClr val="FFF7EF"/>
                  </a:solidFill>
                  <a:latin typeface="Alice Bold Italics"/>
                  <a:ea typeface="Alice Bold Italics"/>
                  <a:cs typeface="Alice Bold Italics"/>
                  <a:sym typeface="Alice Bold Italics"/>
                </a:rPr>
                <a:t>Vectorization (TF-IDF)</a:t>
              </a:r>
            </a:p>
            <a:p>
              <a:pPr algn="l">
                <a:lnSpc>
                  <a:spcPts val="4060"/>
                </a:lnSpc>
              </a:pPr>
            </a:p>
            <a:p>
              <a:pPr algn="ctr">
                <a:lnSpc>
                  <a:spcPts val="4060"/>
                </a:lnSpc>
              </a:pPr>
              <a:r>
                <a:rPr lang="en-US" sz="2900">
                  <a:solidFill>
                    <a:srgbClr val="FFF7EF"/>
                  </a:solidFill>
                  <a:latin typeface="Alice"/>
                  <a:ea typeface="Alice"/>
                  <a:cs typeface="Alice"/>
                  <a:sym typeface="Alice"/>
                </a:rPr>
                <a:t>The</a:t>
              </a:r>
              <a:r>
                <a:rPr lang="en-US" sz="2900" i="true">
                  <a:solidFill>
                    <a:srgbClr val="FFF7EF"/>
                  </a:solidFill>
                  <a:latin typeface="Alice Bold Italics"/>
                  <a:ea typeface="Alice Bold Italics"/>
                  <a:cs typeface="Alice Bold Italics"/>
                  <a:sym typeface="Alice Bold Italics"/>
                </a:rPr>
                <a:t> </a:t>
              </a:r>
              <a:r>
                <a:rPr lang="en-US" sz="2900">
                  <a:solidFill>
                    <a:srgbClr val="FFF7EF"/>
                  </a:solidFill>
                  <a:latin typeface="Alice"/>
                  <a:ea typeface="Alice"/>
                  <a:cs typeface="Alice"/>
                  <a:sym typeface="Alice"/>
                </a:rPr>
                <a:t>system converts words into numerical values based on their importance and frequency in the industry.</a:t>
              </a:r>
            </a:p>
          </p:txBody>
        </p:sp>
      </p:grpSp>
      <p:sp>
        <p:nvSpPr>
          <p:cNvPr name="TextBox 21" id="21"/>
          <p:cNvSpPr txBox="true"/>
          <p:nvPr/>
        </p:nvSpPr>
        <p:spPr>
          <a:xfrm rot="0">
            <a:off x="1611597" y="333371"/>
            <a:ext cx="11941136" cy="1179830"/>
          </a:xfrm>
          <a:prstGeom prst="rect">
            <a:avLst/>
          </a:prstGeom>
        </p:spPr>
        <p:txBody>
          <a:bodyPr anchor="t" rtlCol="false" tIns="0" lIns="0" bIns="0" rIns="0">
            <a:spAutoFit/>
          </a:bodyPr>
          <a:lstStyle/>
          <a:p>
            <a:pPr algn="l">
              <a:lnSpc>
                <a:spcPts val="9520"/>
              </a:lnSpc>
              <a:spcBef>
                <a:spcPct val="0"/>
              </a:spcBef>
            </a:pPr>
            <a:r>
              <a:rPr lang="en-US" sz="6800">
                <a:solidFill>
                  <a:srgbClr val="8F6234"/>
                </a:solidFill>
                <a:latin typeface="Alice"/>
                <a:ea typeface="Alice"/>
                <a:cs typeface="Alice"/>
                <a:sym typeface="Alice"/>
              </a:rPr>
              <a:t>Algorithms</a:t>
            </a:r>
          </a:p>
        </p:txBody>
      </p:sp>
      <p:sp>
        <p:nvSpPr>
          <p:cNvPr name="TextBox 22" id="22"/>
          <p:cNvSpPr txBox="true"/>
          <p:nvPr/>
        </p:nvSpPr>
        <p:spPr>
          <a:xfrm rot="0">
            <a:off x="2980380" y="1603821"/>
            <a:ext cx="1133369" cy="647065"/>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MT"/>
                <a:ea typeface="Times New Roman MT"/>
                <a:cs typeface="Times New Roman MT"/>
                <a:sym typeface="Times New Roman MT"/>
              </a:rPr>
              <a:t>Step 1</a:t>
            </a:r>
          </a:p>
        </p:txBody>
      </p:sp>
      <p:sp>
        <p:nvSpPr>
          <p:cNvPr name="TextBox 23" id="23"/>
          <p:cNvSpPr txBox="true"/>
          <p:nvPr/>
        </p:nvSpPr>
        <p:spPr>
          <a:xfrm rot="0">
            <a:off x="9438434" y="1603821"/>
            <a:ext cx="1133369" cy="647065"/>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MT"/>
                <a:ea typeface="Times New Roman MT"/>
                <a:cs typeface="Times New Roman MT"/>
                <a:sym typeface="Times New Roman MT"/>
              </a:rPr>
              <a:t>Step 2</a:t>
            </a:r>
          </a:p>
        </p:txBody>
      </p:sp>
      <p:sp>
        <p:nvSpPr>
          <p:cNvPr name="TextBox 24" id="24"/>
          <p:cNvSpPr txBox="true"/>
          <p:nvPr/>
        </p:nvSpPr>
        <p:spPr>
          <a:xfrm rot="0">
            <a:off x="9438434" y="6056773"/>
            <a:ext cx="1133369" cy="647065"/>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MT"/>
                <a:ea typeface="Times New Roman MT"/>
                <a:cs typeface="Times New Roman MT"/>
                <a:sym typeface="Times New Roman MT"/>
              </a:rPr>
              <a:t>Step 4</a:t>
            </a:r>
          </a:p>
        </p:txBody>
      </p:sp>
      <p:sp>
        <p:nvSpPr>
          <p:cNvPr name="TextBox 25" id="25"/>
          <p:cNvSpPr txBox="true"/>
          <p:nvPr/>
        </p:nvSpPr>
        <p:spPr>
          <a:xfrm rot="0">
            <a:off x="9438434" y="10141920"/>
            <a:ext cx="1133369" cy="647065"/>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MT"/>
                <a:ea typeface="Times New Roman MT"/>
                <a:cs typeface="Times New Roman MT"/>
                <a:sym typeface="Times New Roman MT"/>
              </a:rPr>
              <a:t>Step 1</a:t>
            </a:r>
          </a:p>
        </p:txBody>
      </p:sp>
      <p:sp>
        <p:nvSpPr>
          <p:cNvPr name="TextBox 26" id="26"/>
          <p:cNvSpPr txBox="true"/>
          <p:nvPr/>
        </p:nvSpPr>
        <p:spPr>
          <a:xfrm rot="0">
            <a:off x="2980380" y="5799915"/>
            <a:ext cx="1133369" cy="647065"/>
          </a:xfrm>
          <a:prstGeom prst="rect">
            <a:avLst/>
          </a:prstGeom>
        </p:spPr>
        <p:txBody>
          <a:bodyPr anchor="t" rtlCol="false" tIns="0" lIns="0" bIns="0" rIns="0">
            <a:spAutoFit/>
          </a:bodyPr>
          <a:lstStyle/>
          <a:p>
            <a:pPr algn="ctr">
              <a:lnSpc>
                <a:spcPts val="4759"/>
              </a:lnSpc>
            </a:pPr>
            <a:r>
              <a:rPr lang="en-US" sz="3399">
                <a:solidFill>
                  <a:srgbClr val="000000"/>
                </a:solidFill>
                <a:latin typeface="Times New Roman MT"/>
                <a:ea typeface="Times New Roman MT"/>
                <a:cs typeface="Times New Roman MT"/>
                <a:sym typeface="Times New Roman MT"/>
              </a:rPr>
              <a:t>Step 3</a:t>
            </a:r>
          </a:p>
        </p:txBody>
      </p:sp>
      <p:sp>
        <p:nvSpPr>
          <p:cNvPr name="Freeform 27" id="27"/>
          <p:cNvSpPr/>
          <p:nvPr/>
        </p:nvSpPr>
        <p:spPr>
          <a:xfrm flipH="false" flipV="false" rot="0">
            <a:off x="6823468" y="1994028"/>
            <a:ext cx="768222" cy="768222"/>
          </a:xfrm>
          <a:custGeom>
            <a:avLst/>
            <a:gdLst/>
            <a:ahLst/>
            <a:cxnLst/>
            <a:rect r="r" b="b" t="t" l="l"/>
            <a:pathLst>
              <a:path h="768222" w="768222">
                <a:moveTo>
                  <a:pt x="0" y="0"/>
                </a:moveTo>
                <a:lnTo>
                  <a:pt x="768222" y="0"/>
                </a:lnTo>
                <a:lnTo>
                  <a:pt x="768222" y="768223"/>
                </a:lnTo>
                <a:lnTo>
                  <a:pt x="0" y="7682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3836012" y="2072191"/>
            <a:ext cx="737685" cy="737685"/>
          </a:xfrm>
          <a:custGeom>
            <a:avLst/>
            <a:gdLst/>
            <a:ahLst/>
            <a:cxnLst/>
            <a:rect r="r" b="b" t="t" l="l"/>
            <a:pathLst>
              <a:path h="737685" w="737685">
                <a:moveTo>
                  <a:pt x="0" y="0"/>
                </a:moveTo>
                <a:lnTo>
                  <a:pt x="737684" y="0"/>
                </a:lnTo>
                <a:lnTo>
                  <a:pt x="737684" y="737685"/>
                </a:lnTo>
                <a:lnTo>
                  <a:pt x="0" y="7376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0">
            <a:off x="13740762" y="6428954"/>
            <a:ext cx="683119" cy="683119"/>
          </a:xfrm>
          <a:custGeom>
            <a:avLst/>
            <a:gdLst/>
            <a:ahLst/>
            <a:cxnLst/>
            <a:rect r="r" b="b" t="t" l="l"/>
            <a:pathLst>
              <a:path h="683119" w="683119">
                <a:moveTo>
                  <a:pt x="0" y="0"/>
                </a:moveTo>
                <a:lnTo>
                  <a:pt x="683118" y="0"/>
                </a:lnTo>
                <a:lnTo>
                  <a:pt x="683118" y="683118"/>
                </a:lnTo>
                <a:lnTo>
                  <a:pt x="0" y="6831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false" flipV="false" rot="0">
            <a:off x="6946989" y="6152340"/>
            <a:ext cx="720901" cy="720901"/>
          </a:xfrm>
          <a:custGeom>
            <a:avLst/>
            <a:gdLst/>
            <a:ahLst/>
            <a:cxnLst/>
            <a:rect r="r" b="b" t="t" l="l"/>
            <a:pathLst>
              <a:path h="720901" w="720901">
                <a:moveTo>
                  <a:pt x="0" y="0"/>
                </a:moveTo>
                <a:lnTo>
                  <a:pt x="720901" y="0"/>
                </a:lnTo>
                <a:lnTo>
                  <a:pt x="720901" y="720902"/>
                </a:lnTo>
                <a:lnTo>
                  <a:pt x="0" y="7209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sp>
        <p:nvSpPr>
          <p:cNvPr name="TextBox 2" id="2"/>
          <p:cNvSpPr txBox="true"/>
          <p:nvPr/>
        </p:nvSpPr>
        <p:spPr>
          <a:xfrm rot="0">
            <a:off x="1434571" y="614179"/>
            <a:ext cx="13022493" cy="1410971"/>
          </a:xfrm>
          <a:prstGeom prst="rect">
            <a:avLst/>
          </a:prstGeom>
        </p:spPr>
        <p:txBody>
          <a:bodyPr anchor="t" rtlCol="false" tIns="0" lIns="0" bIns="0" rIns="0">
            <a:spAutoFit/>
          </a:bodyPr>
          <a:lstStyle/>
          <a:p>
            <a:pPr algn="l" marL="0" indent="0" lvl="0">
              <a:lnSpc>
                <a:spcPts val="11479"/>
              </a:lnSpc>
              <a:spcBef>
                <a:spcPct val="0"/>
              </a:spcBef>
            </a:pPr>
            <a:r>
              <a:rPr lang="en-US" sz="8199">
                <a:solidFill>
                  <a:srgbClr val="8F6234"/>
                </a:solidFill>
                <a:latin typeface="Alice"/>
                <a:ea typeface="Alice"/>
                <a:cs typeface="Alice"/>
                <a:sym typeface="Alice"/>
              </a:rPr>
              <a:t>Architecture </a:t>
            </a:r>
          </a:p>
        </p:txBody>
      </p:sp>
      <p:grpSp>
        <p:nvGrpSpPr>
          <p:cNvPr name="Group 3" id="3"/>
          <p:cNvGrpSpPr/>
          <p:nvPr/>
        </p:nvGrpSpPr>
        <p:grpSpPr>
          <a:xfrm rot="0">
            <a:off x="1028700" y="2431549"/>
            <a:ext cx="11528827" cy="7302881"/>
            <a:chOff x="0" y="0"/>
            <a:chExt cx="3123371" cy="1978484"/>
          </a:xfrm>
        </p:grpSpPr>
        <p:sp>
          <p:nvSpPr>
            <p:cNvPr name="Freeform 4" id="4"/>
            <p:cNvSpPr/>
            <p:nvPr/>
          </p:nvSpPr>
          <p:spPr>
            <a:xfrm flipH="false" flipV="false" rot="0">
              <a:off x="0" y="0"/>
              <a:ext cx="3123371" cy="1978484"/>
            </a:xfrm>
            <a:custGeom>
              <a:avLst/>
              <a:gdLst/>
              <a:ahLst/>
              <a:cxnLst/>
              <a:rect r="r" b="b" t="t" l="l"/>
              <a:pathLst>
                <a:path h="1978484" w="3123371">
                  <a:moveTo>
                    <a:pt x="13431" y="0"/>
                  </a:moveTo>
                  <a:lnTo>
                    <a:pt x="3109940" y="0"/>
                  </a:lnTo>
                  <a:cubicBezTo>
                    <a:pt x="3117358" y="0"/>
                    <a:pt x="3123371" y="6013"/>
                    <a:pt x="3123371" y="13431"/>
                  </a:cubicBezTo>
                  <a:lnTo>
                    <a:pt x="3123371" y="1965054"/>
                  </a:lnTo>
                  <a:cubicBezTo>
                    <a:pt x="3123371" y="1968616"/>
                    <a:pt x="3121956" y="1972032"/>
                    <a:pt x="3119437" y="1974551"/>
                  </a:cubicBezTo>
                  <a:cubicBezTo>
                    <a:pt x="3116918" y="1977069"/>
                    <a:pt x="3113502" y="1978484"/>
                    <a:pt x="3109940" y="1978484"/>
                  </a:cubicBezTo>
                  <a:lnTo>
                    <a:pt x="13431" y="1978484"/>
                  </a:lnTo>
                  <a:cubicBezTo>
                    <a:pt x="9869" y="1978484"/>
                    <a:pt x="6452" y="1977069"/>
                    <a:pt x="3934" y="1974551"/>
                  </a:cubicBezTo>
                  <a:cubicBezTo>
                    <a:pt x="1415" y="1972032"/>
                    <a:pt x="0" y="1968616"/>
                    <a:pt x="0" y="1965054"/>
                  </a:cubicBezTo>
                  <a:lnTo>
                    <a:pt x="0" y="13431"/>
                  </a:lnTo>
                  <a:cubicBezTo>
                    <a:pt x="0" y="9869"/>
                    <a:pt x="1415" y="6452"/>
                    <a:pt x="3934" y="3934"/>
                  </a:cubicBezTo>
                  <a:cubicBezTo>
                    <a:pt x="6452" y="1415"/>
                    <a:pt x="9869" y="0"/>
                    <a:pt x="13431" y="0"/>
                  </a:cubicBezTo>
                  <a:close/>
                </a:path>
              </a:pathLst>
            </a:custGeom>
            <a:solidFill>
              <a:srgbClr val="FFE5BA"/>
            </a:solidFill>
          </p:spPr>
        </p:sp>
        <p:sp>
          <p:nvSpPr>
            <p:cNvPr name="TextBox 5" id="5"/>
            <p:cNvSpPr txBox="true"/>
            <p:nvPr/>
          </p:nvSpPr>
          <p:spPr>
            <a:xfrm>
              <a:off x="0" y="-66675"/>
              <a:ext cx="3123371" cy="2045159"/>
            </a:xfrm>
            <a:prstGeom prst="rect">
              <a:avLst/>
            </a:prstGeom>
          </p:spPr>
          <p:txBody>
            <a:bodyPr anchor="ctr" rtlCol="false" tIns="50800" lIns="50800" bIns="50800" rIns="50800"/>
            <a:lstStyle/>
            <a:p>
              <a:pPr algn="l" marL="626111" indent="-313055" lvl="1">
                <a:lnSpc>
                  <a:spcPts val="4060"/>
                </a:lnSpc>
                <a:buFont typeface="Arial"/>
                <a:buChar char="•"/>
              </a:pPr>
              <a:r>
                <a:rPr lang="en-US" sz="2900" i="true">
                  <a:solidFill>
                    <a:srgbClr val="000000"/>
                  </a:solidFill>
                  <a:latin typeface="Alice Bold Italics"/>
                  <a:ea typeface="Alice Bold Italics"/>
                  <a:cs typeface="Alice Bold Italics"/>
                  <a:sym typeface="Alice Bold Italics"/>
                </a:rPr>
                <a:t>User Interface </a:t>
              </a:r>
              <a:r>
                <a:rPr lang="en-US" sz="2900">
                  <a:solidFill>
                    <a:srgbClr val="000000"/>
                  </a:solidFill>
                  <a:latin typeface="Alice"/>
                  <a:ea typeface="Alice"/>
                  <a:cs typeface="Alice"/>
                  <a:sym typeface="Alice"/>
                </a:rPr>
                <a:t>:</a:t>
              </a:r>
            </a:p>
            <a:p>
              <a:pPr algn="l">
                <a:lnSpc>
                  <a:spcPts val="4060"/>
                </a:lnSpc>
              </a:pPr>
              <a:r>
                <a:rPr lang="en-US" sz="2900">
                  <a:solidFill>
                    <a:srgbClr val="000000"/>
                  </a:solidFill>
                  <a:latin typeface="Alice"/>
                  <a:ea typeface="Alice"/>
                  <a:cs typeface="Alice"/>
                  <a:sym typeface="Alice"/>
                </a:rPr>
                <a:t>      </a:t>
              </a:r>
              <a:r>
                <a:rPr lang="en-US" sz="2900">
                  <a:solidFill>
                    <a:srgbClr val="000000"/>
                  </a:solidFill>
                  <a:latin typeface="Alice"/>
                  <a:ea typeface="Alice"/>
                  <a:cs typeface="Alice"/>
                  <a:sym typeface="Alice"/>
                </a:rPr>
                <a:t>Job seekers and recruiters interact with the system through                                                             a web or mobile interface.</a:t>
              </a:r>
            </a:p>
            <a:p>
              <a:pPr algn="l" marL="626111" indent="-313055" lvl="1">
                <a:lnSpc>
                  <a:spcPts val="4060"/>
                </a:lnSpc>
                <a:buFont typeface="Arial"/>
                <a:buChar char="•"/>
              </a:pPr>
              <a:r>
                <a:rPr lang="en-US" sz="2900" i="true">
                  <a:solidFill>
                    <a:srgbClr val="000000"/>
                  </a:solidFill>
                  <a:latin typeface="Alice Bold Italics"/>
                  <a:ea typeface="Alice Bold Italics"/>
                  <a:cs typeface="Alice Bold Italics"/>
                  <a:sym typeface="Alice Bold Italics"/>
                </a:rPr>
                <a:t>User Authentication Module </a:t>
              </a:r>
              <a:r>
                <a:rPr lang="en-US" sz="2900">
                  <a:solidFill>
                    <a:srgbClr val="000000"/>
                  </a:solidFill>
                  <a:latin typeface="Alice"/>
                  <a:ea typeface="Alice"/>
                  <a:cs typeface="Alice"/>
                  <a:sym typeface="Alice"/>
                </a:rPr>
                <a:t>:</a:t>
              </a:r>
            </a:p>
            <a:p>
              <a:pPr algn="l">
                <a:lnSpc>
                  <a:spcPts val="4060"/>
                </a:lnSpc>
              </a:pPr>
              <a:r>
                <a:rPr lang="en-US" sz="2900">
                  <a:solidFill>
                    <a:srgbClr val="000000"/>
                  </a:solidFill>
                  <a:latin typeface="Alice"/>
                  <a:ea typeface="Alice"/>
                  <a:cs typeface="Alice"/>
                  <a:sym typeface="Alice"/>
                </a:rPr>
                <a:t>       </a:t>
              </a:r>
              <a:r>
                <a:rPr lang="en-US" sz="2900">
                  <a:solidFill>
                    <a:srgbClr val="000000"/>
                  </a:solidFill>
                  <a:latin typeface="Alice"/>
                  <a:ea typeface="Alice"/>
                  <a:cs typeface="Alice"/>
                  <a:sym typeface="Alice"/>
                </a:rPr>
                <a:t>Handles user registration and login for secure access.</a:t>
              </a:r>
            </a:p>
            <a:p>
              <a:pPr algn="l" marL="626111" indent="-313055" lvl="1">
                <a:lnSpc>
                  <a:spcPts val="4060"/>
                </a:lnSpc>
                <a:buFont typeface="Arial"/>
                <a:buChar char="•"/>
              </a:pPr>
              <a:r>
                <a:rPr lang="en-US" sz="2900" i="true">
                  <a:solidFill>
                    <a:srgbClr val="000000"/>
                  </a:solidFill>
                  <a:latin typeface="Alice Bold Italics"/>
                  <a:ea typeface="Alice Bold Italics"/>
                  <a:cs typeface="Alice Bold Italics"/>
                  <a:sym typeface="Alice Bold Italics"/>
                </a:rPr>
                <a:t>Application Server :</a:t>
              </a:r>
            </a:p>
            <a:p>
              <a:pPr algn="l">
                <a:lnSpc>
                  <a:spcPts val="4060"/>
                </a:lnSpc>
              </a:pPr>
              <a:r>
                <a:rPr lang="en-US" sz="2900">
                  <a:solidFill>
                    <a:srgbClr val="000000"/>
                  </a:solidFill>
                  <a:latin typeface="Alice"/>
                  <a:ea typeface="Alice"/>
                  <a:cs typeface="Alice"/>
                  <a:sym typeface="Alice"/>
                </a:rPr>
                <a:t>      </a:t>
              </a:r>
              <a:r>
                <a:rPr lang="en-US" sz="2900">
                  <a:solidFill>
                    <a:srgbClr val="000000"/>
                  </a:solidFill>
                  <a:latin typeface="Alice"/>
                  <a:ea typeface="Alice"/>
                  <a:cs typeface="Alice"/>
                  <a:sym typeface="Alice"/>
                </a:rPr>
                <a:t>Processes user requests such as job search, job posting, and applications.</a:t>
              </a:r>
            </a:p>
            <a:p>
              <a:pPr algn="l" marL="626111" indent="-313055" lvl="1">
                <a:lnSpc>
                  <a:spcPts val="4060"/>
                </a:lnSpc>
                <a:buFont typeface="Arial"/>
                <a:buChar char="•"/>
              </a:pPr>
              <a:r>
                <a:rPr lang="en-US" sz="2900" i="true">
                  <a:solidFill>
                    <a:srgbClr val="000000"/>
                  </a:solidFill>
                  <a:latin typeface="Alice Bold Italics"/>
                  <a:ea typeface="Alice Bold Italics"/>
                  <a:cs typeface="Alice Bold Italics"/>
                  <a:sym typeface="Alice Bold Italics"/>
                </a:rPr>
                <a:t>AI Recommendation Module :</a:t>
              </a:r>
            </a:p>
            <a:p>
              <a:pPr algn="l">
                <a:lnSpc>
                  <a:spcPts val="4060"/>
                </a:lnSpc>
              </a:pPr>
              <a:r>
                <a:rPr lang="en-US" sz="2900">
                  <a:solidFill>
                    <a:srgbClr val="000000"/>
                  </a:solidFill>
                  <a:latin typeface="Alice"/>
                  <a:ea typeface="Alice"/>
                  <a:cs typeface="Alice"/>
                  <a:sym typeface="Alice"/>
                </a:rPr>
                <a:t>   </a:t>
              </a:r>
              <a:r>
                <a:rPr lang="en-US" sz="2900">
                  <a:solidFill>
                    <a:srgbClr val="000000"/>
                  </a:solidFill>
                  <a:latin typeface="Alice"/>
                  <a:ea typeface="Alice"/>
                  <a:cs typeface="Alice"/>
                  <a:sym typeface="Alice"/>
                </a:rPr>
                <a:t>Analyzes user profile, skills, and interests to recommend suitable jobs.</a:t>
              </a:r>
            </a:p>
            <a:p>
              <a:pPr algn="l" marL="626111" indent="-313055" lvl="1">
                <a:lnSpc>
                  <a:spcPts val="4060"/>
                </a:lnSpc>
                <a:buFont typeface="Arial"/>
                <a:buChar char="•"/>
              </a:pPr>
              <a:r>
                <a:rPr lang="en-US" sz="2900" i="true">
                  <a:solidFill>
                    <a:srgbClr val="000000"/>
                  </a:solidFill>
                  <a:latin typeface="Alice Bold Italics"/>
                  <a:ea typeface="Alice Bold Italics"/>
                  <a:cs typeface="Alice Bold Italics"/>
                  <a:sym typeface="Alice Bold Italics"/>
                </a:rPr>
                <a:t>Database Management System :</a:t>
              </a:r>
            </a:p>
            <a:p>
              <a:pPr algn="l">
                <a:lnSpc>
                  <a:spcPts val="4060"/>
                </a:lnSpc>
              </a:pPr>
              <a:r>
                <a:rPr lang="en-US" sz="2900">
                  <a:solidFill>
                    <a:srgbClr val="000000"/>
                  </a:solidFill>
                  <a:latin typeface="Alice"/>
                  <a:ea typeface="Alice"/>
                  <a:cs typeface="Alice"/>
                  <a:sym typeface="Alice"/>
                </a:rPr>
                <a:t>    </a:t>
              </a:r>
              <a:r>
                <a:rPr lang="en-US" sz="2900">
                  <a:solidFill>
                    <a:srgbClr val="000000"/>
                  </a:solidFill>
                  <a:latin typeface="Alice"/>
                  <a:ea typeface="Alice"/>
                  <a:cs typeface="Alice"/>
                  <a:sym typeface="Alice"/>
                </a:rPr>
                <a:t>Stores user details, job postings, resumes, and application                   records.</a:t>
              </a:r>
            </a:p>
          </p:txBody>
        </p:sp>
      </p:grpSp>
      <p:sp>
        <p:nvSpPr>
          <p:cNvPr name="Freeform 6" id="6"/>
          <p:cNvSpPr/>
          <p:nvPr/>
        </p:nvSpPr>
        <p:spPr>
          <a:xfrm flipH="false" flipV="false" rot="0">
            <a:off x="12651365" y="2431549"/>
            <a:ext cx="5636635" cy="7315200"/>
          </a:xfrm>
          <a:custGeom>
            <a:avLst/>
            <a:gdLst/>
            <a:ahLst/>
            <a:cxnLst/>
            <a:rect r="r" b="b" t="t" l="l"/>
            <a:pathLst>
              <a:path h="7315200" w="5636635">
                <a:moveTo>
                  <a:pt x="0" y="0"/>
                </a:moveTo>
                <a:lnTo>
                  <a:pt x="5636635" y="0"/>
                </a:lnTo>
                <a:lnTo>
                  <a:pt x="5636635" y="7315200"/>
                </a:lnTo>
                <a:lnTo>
                  <a:pt x="0" y="7315200"/>
                </a:lnTo>
                <a:lnTo>
                  <a:pt x="0" y="0"/>
                </a:lnTo>
                <a:close/>
              </a:path>
            </a:pathLst>
          </a:custGeom>
          <a:blipFill>
            <a:blip r:embed="rId2"/>
            <a:stretch>
              <a:fillRect l="0" t="-29759" r="0" b="-37294"/>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359885" y="9837955"/>
            <a:ext cx="19403020" cy="2466909"/>
            <a:chOff x="0" y="0"/>
            <a:chExt cx="5110260" cy="649721"/>
          </a:xfrm>
        </p:grpSpPr>
        <p:sp>
          <p:nvSpPr>
            <p:cNvPr name="Freeform 3" id="3"/>
            <p:cNvSpPr/>
            <p:nvPr/>
          </p:nvSpPr>
          <p:spPr>
            <a:xfrm flipH="false" flipV="false" rot="0">
              <a:off x="0" y="0"/>
              <a:ext cx="5110261" cy="649721"/>
            </a:xfrm>
            <a:custGeom>
              <a:avLst/>
              <a:gdLst/>
              <a:ahLst/>
              <a:cxnLst/>
              <a:rect r="r" b="b" t="t" l="l"/>
              <a:pathLst>
                <a:path h="649721" w="5110261">
                  <a:moveTo>
                    <a:pt x="0" y="0"/>
                  </a:moveTo>
                  <a:lnTo>
                    <a:pt x="5110261" y="0"/>
                  </a:lnTo>
                  <a:lnTo>
                    <a:pt x="5110261" y="649721"/>
                  </a:lnTo>
                  <a:lnTo>
                    <a:pt x="0" y="649721"/>
                  </a:lnTo>
                  <a:close/>
                </a:path>
              </a:pathLst>
            </a:custGeom>
            <a:solidFill>
              <a:srgbClr val="8DAFA8"/>
            </a:solidFill>
          </p:spPr>
        </p:sp>
        <p:sp>
          <p:nvSpPr>
            <p:cNvPr name="TextBox 4" id="4"/>
            <p:cNvSpPr txBox="true"/>
            <p:nvPr/>
          </p:nvSpPr>
          <p:spPr>
            <a:xfrm>
              <a:off x="0" y="-38100"/>
              <a:ext cx="5110260" cy="6878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112659" y="3385295"/>
            <a:ext cx="4484627" cy="44846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377381" y="1652749"/>
            <a:ext cx="4275928" cy="427592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1938941" y="1269444"/>
            <a:ext cx="5320359" cy="7034129"/>
          </a:xfrm>
          <a:custGeom>
            <a:avLst/>
            <a:gdLst/>
            <a:ahLst/>
            <a:cxnLst/>
            <a:rect r="r" b="b" t="t" l="l"/>
            <a:pathLst>
              <a:path h="7034129" w="5320359">
                <a:moveTo>
                  <a:pt x="0" y="0"/>
                </a:moveTo>
                <a:lnTo>
                  <a:pt x="5320359" y="0"/>
                </a:lnTo>
                <a:lnTo>
                  <a:pt x="5320359" y="7034129"/>
                </a:lnTo>
                <a:lnTo>
                  <a:pt x="0" y="70341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878760" y="305409"/>
            <a:ext cx="13140109" cy="1436016"/>
          </a:xfrm>
          <a:prstGeom prst="rect">
            <a:avLst/>
          </a:prstGeom>
        </p:spPr>
        <p:txBody>
          <a:bodyPr anchor="t" rtlCol="false" tIns="0" lIns="0" bIns="0" rIns="0">
            <a:spAutoFit/>
          </a:bodyPr>
          <a:lstStyle/>
          <a:p>
            <a:pPr algn="l">
              <a:lnSpc>
                <a:spcPts val="11674"/>
              </a:lnSpc>
              <a:spcBef>
                <a:spcPct val="0"/>
              </a:spcBef>
            </a:pPr>
            <a:r>
              <a:rPr lang="en-US" sz="8338">
                <a:solidFill>
                  <a:srgbClr val="8F6234"/>
                </a:solidFill>
                <a:latin typeface="Alice"/>
                <a:ea typeface="Alice"/>
                <a:cs typeface="Alice"/>
                <a:sym typeface="Alice"/>
              </a:rPr>
              <a:t>Methodologies </a:t>
            </a:r>
          </a:p>
        </p:txBody>
      </p:sp>
      <p:sp>
        <p:nvSpPr>
          <p:cNvPr name="TextBox 13" id="13"/>
          <p:cNvSpPr txBox="true"/>
          <p:nvPr/>
        </p:nvSpPr>
        <p:spPr>
          <a:xfrm rot="0">
            <a:off x="6331008" y="1288005"/>
            <a:ext cx="4126231" cy="978855"/>
          </a:xfrm>
          <a:prstGeom prst="rect">
            <a:avLst/>
          </a:prstGeom>
        </p:spPr>
        <p:txBody>
          <a:bodyPr anchor="t" rtlCol="false" tIns="0" lIns="0" bIns="0" rIns="0">
            <a:spAutoFit/>
          </a:bodyPr>
          <a:lstStyle/>
          <a:p>
            <a:pPr algn="l">
              <a:lnSpc>
                <a:spcPts val="8063"/>
              </a:lnSpc>
              <a:spcBef>
                <a:spcPct val="0"/>
              </a:spcBef>
            </a:pPr>
            <a:r>
              <a:rPr lang="en-US" sz="5759">
                <a:solidFill>
                  <a:srgbClr val="1E302C"/>
                </a:solidFill>
                <a:latin typeface="Amsterdam Four"/>
                <a:ea typeface="Amsterdam Four"/>
                <a:cs typeface="Amsterdam Four"/>
                <a:sym typeface="Amsterdam Four"/>
              </a:rPr>
              <a:t>Used</a:t>
            </a:r>
          </a:p>
        </p:txBody>
      </p:sp>
      <p:sp>
        <p:nvSpPr>
          <p:cNvPr name="TextBox 14" id="14"/>
          <p:cNvSpPr txBox="true"/>
          <p:nvPr/>
        </p:nvSpPr>
        <p:spPr>
          <a:xfrm rot="0">
            <a:off x="1419539" y="2632163"/>
            <a:ext cx="7724461" cy="2622550"/>
          </a:xfrm>
          <a:prstGeom prst="rect">
            <a:avLst/>
          </a:prstGeom>
        </p:spPr>
        <p:txBody>
          <a:bodyPr anchor="t" rtlCol="false" tIns="0" lIns="0" bIns="0" rIns="0">
            <a:spAutoFit/>
          </a:bodyPr>
          <a:lstStyle/>
          <a:p>
            <a:pPr algn="just">
              <a:lnSpc>
                <a:spcPts val="3499"/>
              </a:lnSpc>
            </a:pPr>
            <a:r>
              <a:rPr lang="en-US" sz="2499" i="true">
                <a:solidFill>
                  <a:srgbClr val="1E302C"/>
                </a:solidFill>
                <a:latin typeface="Alice Bold Italics"/>
                <a:ea typeface="Alice Bold Italics"/>
                <a:cs typeface="Alice Bold Italics"/>
                <a:sym typeface="Alice Bold Italics"/>
              </a:rPr>
              <a:t>AI-Based Recommendation Method</a:t>
            </a:r>
          </a:p>
          <a:p>
            <a:pPr algn="just">
              <a:lnSpc>
                <a:spcPts val="3499"/>
              </a:lnSpc>
              <a:spcBef>
                <a:spcPct val="0"/>
              </a:spcBef>
            </a:pPr>
            <a:r>
              <a:rPr lang="en-US" sz="2499">
                <a:solidFill>
                  <a:srgbClr val="1E302C"/>
                </a:solidFill>
                <a:latin typeface="Alice"/>
                <a:ea typeface="Alice"/>
                <a:cs typeface="Alice"/>
                <a:sym typeface="Alice"/>
              </a:rPr>
              <a:t>The system uses Artificial Intelligence to analyze user profiles, skills, and job preferences. Based on this analysis, the system recommends suitable job opportunities to the users. This method improves the accuracy of job matching.</a:t>
            </a:r>
          </a:p>
        </p:txBody>
      </p:sp>
      <p:sp>
        <p:nvSpPr>
          <p:cNvPr name="Freeform 15" id="15"/>
          <p:cNvSpPr/>
          <p:nvPr/>
        </p:nvSpPr>
        <p:spPr>
          <a:xfrm flipH="false" flipV="false" rot="1903489">
            <a:off x="15712399" y="2536959"/>
            <a:ext cx="1980059" cy="853226"/>
          </a:xfrm>
          <a:custGeom>
            <a:avLst/>
            <a:gdLst/>
            <a:ahLst/>
            <a:cxnLst/>
            <a:rect r="r" b="b" t="t" l="l"/>
            <a:pathLst>
              <a:path h="853226" w="1980059">
                <a:moveTo>
                  <a:pt x="0" y="0"/>
                </a:moveTo>
                <a:lnTo>
                  <a:pt x="1980059" y="0"/>
                </a:lnTo>
                <a:lnTo>
                  <a:pt x="1980059" y="853225"/>
                </a:lnTo>
                <a:lnTo>
                  <a:pt x="0" y="8532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false" rot="0">
            <a:off x="12142567" y="2080104"/>
            <a:ext cx="970091" cy="1036020"/>
          </a:xfrm>
          <a:custGeom>
            <a:avLst/>
            <a:gdLst/>
            <a:ahLst/>
            <a:cxnLst/>
            <a:rect r="r" b="b" t="t" l="l"/>
            <a:pathLst>
              <a:path h="1036020" w="970091">
                <a:moveTo>
                  <a:pt x="970092" y="0"/>
                </a:moveTo>
                <a:lnTo>
                  <a:pt x="0" y="0"/>
                </a:lnTo>
                <a:lnTo>
                  <a:pt x="0" y="1036020"/>
                </a:lnTo>
                <a:lnTo>
                  <a:pt x="970092" y="1036020"/>
                </a:lnTo>
                <a:lnTo>
                  <a:pt x="97009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5314203" y="1392780"/>
            <a:ext cx="643585" cy="687324"/>
          </a:xfrm>
          <a:custGeom>
            <a:avLst/>
            <a:gdLst/>
            <a:ahLst/>
            <a:cxnLst/>
            <a:rect r="r" b="b" t="t" l="l"/>
            <a:pathLst>
              <a:path h="687324" w="643585">
                <a:moveTo>
                  <a:pt x="0" y="0"/>
                </a:moveTo>
                <a:lnTo>
                  <a:pt x="643586" y="0"/>
                </a:lnTo>
                <a:lnTo>
                  <a:pt x="643586" y="687324"/>
                </a:lnTo>
                <a:lnTo>
                  <a:pt x="0" y="6873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2871760" y="7147449"/>
            <a:ext cx="643585" cy="687324"/>
          </a:xfrm>
          <a:custGeom>
            <a:avLst/>
            <a:gdLst/>
            <a:ahLst/>
            <a:cxnLst/>
            <a:rect r="r" b="b" t="t" l="l"/>
            <a:pathLst>
              <a:path h="687324" w="643585">
                <a:moveTo>
                  <a:pt x="0" y="0"/>
                </a:moveTo>
                <a:lnTo>
                  <a:pt x="643585" y="0"/>
                </a:lnTo>
                <a:lnTo>
                  <a:pt x="643585" y="687324"/>
                </a:lnTo>
                <a:lnTo>
                  <a:pt x="0" y="6873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487920" y="2603617"/>
            <a:ext cx="781679" cy="781679"/>
          </a:xfrm>
          <a:custGeom>
            <a:avLst/>
            <a:gdLst/>
            <a:ahLst/>
            <a:cxnLst/>
            <a:rect r="r" b="b" t="t" l="l"/>
            <a:pathLst>
              <a:path h="781679" w="781679">
                <a:moveTo>
                  <a:pt x="0" y="0"/>
                </a:moveTo>
                <a:lnTo>
                  <a:pt x="781679" y="0"/>
                </a:lnTo>
                <a:lnTo>
                  <a:pt x="781679" y="781678"/>
                </a:lnTo>
                <a:lnTo>
                  <a:pt x="0" y="7816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0" id="20"/>
          <p:cNvSpPr txBox="true"/>
          <p:nvPr/>
        </p:nvSpPr>
        <p:spPr>
          <a:xfrm rot="0">
            <a:off x="1419539" y="5987409"/>
            <a:ext cx="8387376" cy="3060700"/>
          </a:xfrm>
          <a:prstGeom prst="rect">
            <a:avLst/>
          </a:prstGeom>
        </p:spPr>
        <p:txBody>
          <a:bodyPr anchor="t" rtlCol="false" tIns="0" lIns="0" bIns="0" rIns="0">
            <a:spAutoFit/>
          </a:bodyPr>
          <a:lstStyle/>
          <a:p>
            <a:pPr algn="just">
              <a:lnSpc>
                <a:spcPts val="3499"/>
              </a:lnSpc>
            </a:pPr>
            <a:r>
              <a:rPr lang="en-US" sz="2499" i="true">
                <a:solidFill>
                  <a:srgbClr val="1E302C"/>
                </a:solidFill>
                <a:latin typeface="Alice Bold Italics"/>
                <a:ea typeface="Alice Bold Italics"/>
                <a:cs typeface="Alice Bold Italics"/>
                <a:sym typeface="Alice Bold Italics"/>
              </a:rPr>
              <a:t>Agile Methodology</a:t>
            </a:r>
          </a:p>
          <a:p>
            <a:pPr algn="just">
              <a:lnSpc>
                <a:spcPts val="3499"/>
              </a:lnSpc>
              <a:spcBef>
                <a:spcPct val="0"/>
              </a:spcBef>
            </a:pPr>
            <a:r>
              <a:rPr lang="en-US" sz="2499">
                <a:solidFill>
                  <a:srgbClr val="1E302C"/>
                </a:solidFill>
                <a:latin typeface="Alice"/>
                <a:ea typeface="Alice"/>
                <a:cs typeface="Alice"/>
                <a:sym typeface="Alice"/>
              </a:rPr>
              <a:t>The project follows the Agile methodology, where the development process is divided into small stages called iterations. Each stage focuses on developing and improving specific features of the system. This approach helps in continuous improvement, faster development, and easy modification based on user feedback.</a:t>
            </a:r>
          </a:p>
        </p:txBody>
      </p:sp>
      <p:sp>
        <p:nvSpPr>
          <p:cNvPr name="Freeform 21" id="21"/>
          <p:cNvSpPr/>
          <p:nvPr/>
        </p:nvSpPr>
        <p:spPr>
          <a:xfrm flipH="false" flipV="false" rot="0">
            <a:off x="487920" y="5928677"/>
            <a:ext cx="781679" cy="781679"/>
          </a:xfrm>
          <a:custGeom>
            <a:avLst/>
            <a:gdLst/>
            <a:ahLst/>
            <a:cxnLst/>
            <a:rect r="r" b="b" t="t" l="l"/>
            <a:pathLst>
              <a:path h="781679" w="781679">
                <a:moveTo>
                  <a:pt x="0" y="0"/>
                </a:moveTo>
                <a:lnTo>
                  <a:pt x="781679" y="0"/>
                </a:lnTo>
                <a:lnTo>
                  <a:pt x="781679" y="781678"/>
                </a:lnTo>
                <a:lnTo>
                  <a:pt x="0" y="7816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557510" y="9888722"/>
            <a:ext cx="19403020" cy="2466909"/>
            <a:chOff x="0" y="0"/>
            <a:chExt cx="5110260" cy="649721"/>
          </a:xfrm>
        </p:grpSpPr>
        <p:sp>
          <p:nvSpPr>
            <p:cNvPr name="Freeform 3" id="3"/>
            <p:cNvSpPr/>
            <p:nvPr/>
          </p:nvSpPr>
          <p:spPr>
            <a:xfrm flipH="false" flipV="false" rot="0">
              <a:off x="0" y="0"/>
              <a:ext cx="5110261" cy="649721"/>
            </a:xfrm>
            <a:custGeom>
              <a:avLst/>
              <a:gdLst/>
              <a:ahLst/>
              <a:cxnLst/>
              <a:rect r="r" b="b" t="t" l="l"/>
              <a:pathLst>
                <a:path h="649721" w="5110261">
                  <a:moveTo>
                    <a:pt x="0" y="0"/>
                  </a:moveTo>
                  <a:lnTo>
                    <a:pt x="5110261" y="0"/>
                  </a:lnTo>
                  <a:lnTo>
                    <a:pt x="5110261" y="649721"/>
                  </a:lnTo>
                  <a:lnTo>
                    <a:pt x="0" y="649721"/>
                  </a:lnTo>
                  <a:close/>
                </a:path>
              </a:pathLst>
            </a:custGeom>
            <a:solidFill>
              <a:srgbClr val="8DAFA8"/>
            </a:solidFill>
          </p:spPr>
        </p:sp>
        <p:sp>
          <p:nvSpPr>
            <p:cNvPr name="TextBox 4" id="4"/>
            <p:cNvSpPr txBox="true"/>
            <p:nvPr/>
          </p:nvSpPr>
          <p:spPr>
            <a:xfrm>
              <a:off x="0" y="-38100"/>
              <a:ext cx="5110260" cy="6878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61661" y="3394354"/>
            <a:ext cx="3289136" cy="328913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AFA8">
                <a:alpha val="40000"/>
              </a:srgbClr>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2570910" y="5038922"/>
            <a:ext cx="3010647" cy="301064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415305" y="3985240"/>
            <a:ext cx="2316520" cy="231652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A160">
                <a:alpha val="40000"/>
              </a:srgbClr>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028700" y="4786118"/>
            <a:ext cx="3406252" cy="2916990"/>
          </a:xfrm>
          <a:custGeom>
            <a:avLst/>
            <a:gdLst/>
            <a:ahLst/>
            <a:cxnLst/>
            <a:rect r="r" b="b" t="t" l="l"/>
            <a:pathLst>
              <a:path h="2916990" w="3406252">
                <a:moveTo>
                  <a:pt x="0" y="0"/>
                </a:moveTo>
                <a:lnTo>
                  <a:pt x="3406252" y="0"/>
                </a:lnTo>
                <a:lnTo>
                  <a:pt x="3406252" y="2916990"/>
                </a:lnTo>
                <a:lnTo>
                  <a:pt x="0" y="29169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6599342" y="1212329"/>
            <a:ext cx="5089316" cy="1442961"/>
          </a:xfrm>
          <a:prstGeom prst="rect">
            <a:avLst/>
          </a:prstGeom>
        </p:spPr>
        <p:txBody>
          <a:bodyPr anchor="t" rtlCol="false" tIns="0" lIns="0" bIns="0" rIns="0">
            <a:spAutoFit/>
          </a:bodyPr>
          <a:lstStyle/>
          <a:p>
            <a:pPr algn="l">
              <a:lnSpc>
                <a:spcPts val="11816"/>
              </a:lnSpc>
              <a:spcBef>
                <a:spcPct val="0"/>
              </a:spcBef>
            </a:pPr>
            <a:r>
              <a:rPr lang="en-US" sz="8440">
                <a:solidFill>
                  <a:srgbClr val="1E302C"/>
                </a:solidFill>
                <a:latin typeface="Amsterdam Four"/>
                <a:ea typeface="Amsterdam Four"/>
                <a:cs typeface="Amsterdam Four"/>
                <a:sym typeface="Amsterdam Four"/>
              </a:rPr>
              <a:t>Used</a:t>
            </a:r>
          </a:p>
        </p:txBody>
      </p:sp>
      <p:sp>
        <p:nvSpPr>
          <p:cNvPr name="Freeform 16" id="16"/>
          <p:cNvSpPr/>
          <p:nvPr/>
        </p:nvSpPr>
        <p:spPr>
          <a:xfrm flipH="false" flipV="false" rot="-6773629">
            <a:off x="-97227" y="6023758"/>
            <a:ext cx="1025064" cy="441709"/>
          </a:xfrm>
          <a:custGeom>
            <a:avLst/>
            <a:gdLst/>
            <a:ahLst/>
            <a:cxnLst/>
            <a:rect r="r" b="b" t="t" l="l"/>
            <a:pathLst>
              <a:path h="441709" w="1025064">
                <a:moveTo>
                  <a:pt x="0" y="0"/>
                </a:moveTo>
                <a:lnTo>
                  <a:pt x="1025064" y="0"/>
                </a:lnTo>
                <a:lnTo>
                  <a:pt x="1025064" y="441710"/>
                </a:lnTo>
                <a:lnTo>
                  <a:pt x="0" y="4417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0">
            <a:off x="4607873" y="2958709"/>
            <a:ext cx="815845" cy="871291"/>
          </a:xfrm>
          <a:custGeom>
            <a:avLst/>
            <a:gdLst/>
            <a:ahLst/>
            <a:cxnLst/>
            <a:rect r="r" b="b" t="t" l="l"/>
            <a:pathLst>
              <a:path h="871291" w="815845">
                <a:moveTo>
                  <a:pt x="815846" y="0"/>
                </a:moveTo>
                <a:lnTo>
                  <a:pt x="0" y="0"/>
                </a:lnTo>
                <a:lnTo>
                  <a:pt x="0" y="871291"/>
                </a:lnTo>
                <a:lnTo>
                  <a:pt x="815846" y="871291"/>
                </a:lnTo>
                <a:lnTo>
                  <a:pt x="81584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1028700" y="245262"/>
            <a:ext cx="6209189" cy="1769133"/>
          </a:xfrm>
          <a:prstGeom prst="rect">
            <a:avLst/>
          </a:prstGeom>
        </p:spPr>
        <p:txBody>
          <a:bodyPr anchor="t" rtlCol="false" tIns="0" lIns="0" bIns="0" rIns="0">
            <a:spAutoFit/>
          </a:bodyPr>
          <a:lstStyle/>
          <a:p>
            <a:pPr algn="l" marL="0" indent="0" lvl="0">
              <a:lnSpc>
                <a:spcPts val="14313"/>
              </a:lnSpc>
              <a:spcBef>
                <a:spcPct val="0"/>
              </a:spcBef>
            </a:pPr>
            <a:r>
              <a:rPr lang="en-US" sz="10224" strike="noStrike" u="none">
                <a:solidFill>
                  <a:srgbClr val="8F6234"/>
                </a:solidFill>
                <a:latin typeface="Alice"/>
                <a:ea typeface="Alice"/>
                <a:cs typeface="Alice"/>
                <a:sym typeface="Alice"/>
              </a:rPr>
              <a:t>MODULES</a:t>
            </a:r>
          </a:p>
        </p:txBody>
      </p:sp>
      <p:grpSp>
        <p:nvGrpSpPr>
          <p:cNvPr name="Group 19" id="19"/>
          <p:cNvGrpSpPr/>
          <p:nvPr/>
        </p:nvGrpSpPr>
        <p:grpSpPr>
          <a:xfrm rot="0">
            <a:off x="7120083" y="3424854"/>
            <a:ext cx="5012570" cy="5639517"/>
            <a:chOff x="0" y="0"/>
            <a:chExt cx="1357997" cy="1527849"/>
          </a:xfrm>
        </p:grpSpPr>
        <p:sp>
          <p:nvSpPr>
            <p:cNvPr name="Freeform 20" id="20"/>
            <p:cNvSpPr/>
            <p:nvPr/>
          </p:nvSpPr>
          <p:spPr>
            <a:xfrm flipH="false" flipV="false" rot="0">
              <a:off x="0" y="0"/>
              <a:ext cx="1357997" cy="1527849"/>
            </a:xfrm>
            <a:custGeom>
              <a:avLst/>
              <a:gdLst/>
              <a:ahLst/>
              <a:cxnLst/>
              <a:rect r="r" b="b" t="t" l="l"/>
              <a:pathLst>
                <a:path h="1527849" w="1357997">
                  <a:moveTo>
                    <a:pt x="30890" y="0"/>
                  </a:moveTo>
                  <a:lnTo>
                    <a:pt x="1327107" y="0"/>
                  </a:lnTo>
                  <a:cubicBezTo>
                    <a:pt x="1344167" y="0"/>
                    <a:pt x="1357997" y="13830"/>
                    <a:pt x="1357997" y="30890"/>
                  </a:cubicBezTo>
                  <a:lnTo>
                    <a:pt x="1357997" y="1496959"/>
                  </a:lnTo>
                  <a:cubicBezTo>
                    <a:pt x="1357997" y="1505151"/>
                    <a:pt x="1354743" y="1513008"/>
                    <a:pt x="1348950" y="1518801"/>
                  </a:cubicBezTo>
                  <a:cubicBezTo>
                    <a:pt x="1343157" y="1524594"/>
                    <a:pt x="1335300" y="1527849"/>
                    <a:pt x="1327107" y="1527849"/>
                  </a:cubicBezTo>
                  <a:lnTo>
                    <a:pt x="30890" y="1527849"/>
                  </a:lnTo>
                  <a:cubicBezTo>
                    <a:pt x="22697" y="1527849"/>
                    <a:pt x="14840" y="1524594"/>
                    <a:pt x="9047" y="1518801"/>
                  </a:cubicBezTo>
                  <a:cubicBezTo>
                    <a:pt x="3254" y="1513008"/>
                    <a:pt x="0" y="1505151"/>
                    <a:pt x="0" y="1496959"/>
                  </a:cubicBezTo>
                  <a:lnTo>
                    <a:pt x="0" y="30890"/>
                  </a:lnTo>
                  <a:cubicBezTo>
                    <a:pt x="0" y="22697"/>
                    <a:pt x="3254" y="14840"/>
                    <a:pt x="9047" y="9047"/>
                  </a:cubicBezTo>
                  <a:cubicBezTo>
                    <a:pt x="14840" y="3254"/>
                    <a:pt x="22697" y="0"/>
                    <a:pt x="30890" y="0"/>
                  </a:cubicBezTo>
                  <a:close/>
                </a:path>
              </a:pathLst>
            </a:custGeom>
            <a:solidFill>
              <a:srgbClr val="FFE5BA"/>
            </a:solidFill>
          </p:spPr>
        </p:sp>
        <p:sp>
          <p:nvSpPr>
            <p:cNvPr name="TextBox 21" id="21"/>
            <p:cNvSpPr txBox="true"/>
            <p:nvPr/>
          </p:nvSpPr>
          <p:spPr>
            <a:xfrm>
              <a:off x="0" y="-66675"/>
              <a:ext cx="1357997" cy="1594524"/>
            </a:xfrm>
            <a:prstGeom prst="rect">
              <a:avLst/>
            </a:prstGeom>
          </p:spPr>
          <p:txBody>
            <a:bodyPr anchor="ctr" rtlCol="false" tIns="50800" lIns="50800" bIns="50800" rIns="50800"/>
            <a:lstStyle/>
            <a:p>
              <a:pPr algn="l">
                <a:lnSpc>
                  <a:spcPts val="4060"/>
                </a:lnSpc>
              </a:pPr>
            </a:p>
          </p:txBody>
        </p:sp>
      </p:grpSp>
      <p:grpSp>
        <p:nvGrpSpPr>
          <p:cNvPr name="Group 22" id="22"/>
          <p:cNvGrpSpPr/>
          <p:nvPr/>
        </p:nvGrpSpPr>
        <p:grpSpPr>
          <a:xfrm rot="0">
            <a:off x="12824844" y="3394354"/>
            <a:ext cx="5012570" cy="5639517"/>
            <a:chOff x="0" y="0"/>
            <a:chExt cx="1357997" cy="1527849"/>
          </a:xfrm>
        </p:grpSpPr>
        <p:sp>
          <p:nvSpPr>
            <p:cNvPr name="Freeform 23" id="23"/>
            <p:cNvSpPr/>
            <p:nvPr/>
          </p:nvSpPr>
          <p:spPr>
            <a:xfrm flipH="false" flipV="false" rot="0">
              <a:off x="0" y="0"/>
              <a:ext cx="1357997" cy="1527849"/>
            </a:xfrm>
            <a:custGeom>
              <a:avLst/>
              <a:gdLst/>
              <a:ahLst/>
              <a:cxnLst/>
              <a:rect r="r" b="b" t="t" l="l"/>
              <a:pathLst>
                <a:path h="1527849" w="1357997">
                  <a:moveTo>
                    <a:pt x="30890" y="0"/>
                  </a:moveTo>
                  <a:lnTo>
                    <a:pt x="1327107" y="0"/>
                  </a:lnTo>
                  <a:cubicBezTo>
                    <a:pt x="1344167" y="0"/>
                    <a:pt x="1357997" y="13830"/>
                    <a:pt x="1357997" y="30890"/>
                  </a:cubicBezTo>
                  <a:lnTo>
                    <a:pt x="1357997" y="1496959"/>
                  </a:lnTo>
                  <a:cubicBezTo>
                    <a:pt x="1357997" y="1505151"/>
                    <a:pt x="1354743" y="1513008"/>
                    <a:pt x="1348950" y="1518801"/>
                  </a:cubicBezTo>
                  <a:cubicBezTo>
                    <a:pt x="1343157" y="1524594"/>
                    <a:pt x="1335300" y="1527849"/>
                    <a:pt x="1327107" y="1527849"/>
                  </a:cubicBezTo>
                  <a:lnTo>
                    <a:pt x="30890" y="1527849"/>
                  </a:lnTo>
                  <a:cubicBezTo>
                    <a:pt x="22697" y="1527849"/>
                    <a:pt x="14840" y="1524594"/>
                    <a:pt x="9047" y="1518801"/>
                  </a:cubicBezTo>
                  <a:cubicBezTo>
                    <a:pt x="3254" y="1513008"/>
                    <a:pt x="0" y="1505151"/>
                    <a:pt x="0" y="1496959"/>
                  </a:cubicBezTo>
                  <a:lnTo>
                    <a:pt x="0" y="30890"/>
                  </a:lnTo>
                  <a:cubicBezTo>
                    <a:pt x="0" y="22697"/>
                    <a:pt x="3254" y="14840"/>
                    <a:pt x="9047" y="9047"/>
                  </a:cubicBezTo>
                  <a:cubicBezTo>
                    <a:pt x="14840" y="3254"/>
                    <a:pt x="22697" y="0"/>
                    <a:pt x="30890" y="0"/>
                  </a:cubicBezTo>
                  <a:close/>
                </a:path>
              </a:pathLst>
            </a:custGeom>
            <a:solidFill>
              <a:srgbClr val="FFE5BA"/>
            </a:solidFill>
          </p:spPr>
        </p:sp>
        <p:sp>
          <p:nvSpPr>
            <p:cNvPr name="TextBox 24" id="24"/>
            <p:cNvSpPr txBox="true"/>
            <p:nvPr/>
          </p:nvSpPr>
          <p:spPr>
            <a:xfrm>
              <a:off x="0" y="-66675"/>
              <a:ext cx="1357997" cy="1594524"/>
            </a:xfrm>
            <a:prstGeom prst="rect">
              <a:avLst/>
            </a:prstGeom>
          </p:spPr>
          <p:txBody>
            <a:bodyPr anchor="ctr" rtlCol="false" tIns="50800" lIns="50800" bIns="50800" rIns="50800"/>
            <a:lstStyle/>
            <a:p>
              <a:pPr algn="l">
                <a:lnSpc>
                  <a:spcPts val="4060"/>
                </a:lnSpc>
              </a:pPr>
            </a:p>
          </p:txBody>
        </p:sp>
      </p:grpSp>
      <p:sp>
        <p:nvSpPr>
          <p:cNvPr name="TextBox 25" id="25"/>
          <p:cNvSpPr txBox="true"/>
          <p:nvPr/>
        </p:nvSpPr>
        <p:spPr>
          <a:xfrm rot="0">
            <a:off x="13285951" y="4678530"/>
            <a:ext cx="4090356" cy="2998816"/>
          </a:xfrm>
          <a:prstGeom prst="rect">
            <a:avLst/>
          </a:prstGeom>
        </p:spPr>
        <p:txBody>
          <a:bodyPr anchor="t" rtlCol="false" tIns="0" lIns="0" bIns="0" rIns="0">
            <a:spAutoFit/>
          </a:bodyPr>
          <a:lstStyle/>
          <a:p>
            <a:pPr algn="just">
              <a:lnSpc>
                <a:spcPts val="3993"/>
              </a:lnSpc>
            </a:pPr>
            <a:r>
              <a:rPr lang="en-US" sz="2194">
                <a:solidFill>
                  <a:srgbClr val="1E302C"/>
                </a:solidFill>
                <a:latin typeface="Alice"/>
                <a:ea typeface="Alice"/>
                <a:cs typeface="Alice"/>
                <a:sym typeface="Alice"/>
              </a:rPr>
              <a:t>This module helps users search for jobs using filters such as job role, location, and qualification. It allows users to easily browse and find available job opportunities.</a:t>
            </a:r>
          </a:p>
        </p:txBody>
      </p:sp>
      <p:sp>
        <p:nvSpPr>
          <p:cNvPr name="TextBox 26" id="26"/>
          <p:cNvSpPr txBox="true"/>
          <p:nvPr/>
        </p:nvSpPr>
        <p:spPr>
          <a:xfrm rot="0">
            <a:off x="7593879" y="4905572"/>
            <a:ext cx="3748812" cy="3505187"/>
          </a:xfrm>
          <a:prstGeom prst="rect">
            <a:avLst/>
          </a:prstGeom>
        </p:spPr>
        <p:txBody>
          <a:bodyPr anchor="t" rtlCol="false" tIns="0" lIns="0" bIns="0" rIns="0">
            <a:spAutoFit/>
          </a:bodyPr>
          <a:lstStyle/>
          <a:p>
            <a:pPr algn="just">
              <a:lnSpc>
                <a:spcPts val="3993"/>
              </a:lnSpc>
            </a:pPr>
            <a:r>
              <a:rPr lang="en-US" sz="2194">
                <a:solidFill>
                  <a:srgbClr val="1E302C"/>
                </a:solidFill>
                <a:latin typeface="Alice"/>
                <a:ea typeface="Alice"/>
                <a:cs typeface="Alice"/>
                <a:sym typeface="Alice"/>
              </a:rPr>
              <a:t>This module allows users to create an account, log in to the system, and manage their profiles. Job seekers can upload their resumes and provide details such as skills, education, and experience</a:t>
            </a:r>
          </a:p>
        </p:txBody>
      </p:sp>
      <p:sp>
        <p:nvSpPr>
          <p:cNvPr name="TextBox 27" id="27"/>
          <p:cNvSpPr txBox="true"/>
          <p:nvPr/>
        </p:nvSpPr>
        <p:spPr>
          <a:xfrm rot="0">
            <a:off x="7422429" y="3772850"/>
            <a:ext cx="4407879" cy="939608"/>
          </a:xfrm>
          <a:prstGeom prst="rect">
            <a:avLst/>
          </a:prstGeom>
        </p:spPr>
        <p:txBody>
          <a:bodyPr anchor="t" rtlCol="false" tIns="0" lIns="0" bIns="0" rIns="0">
            <a:spAutoFit/>
          </a:bodyPr>
          <a:lstStyle/>
          <a:p>
            <a:pPr algn="ctr">
              <a:lnSpc>
                <a:spcPts val="3771"/>
              </a:lnSpc>
            </a:pPr>
            <a:r>
              <a:rPr lang="en-US" sz="2693" i="true">
                <a:solidFill>
                  <a:srgbClr val="000000"/>
                </a:solidFill>
                <a:latin typeface="Alice Bold Italics"/>
                <a:ea typeface="Alice Bold Italics"/>
                <a:cs typeface="Alice Bold Italics"/>
                <a:sym typeface="Alice Bold Italics"/>
              </a:rPr>
              <a:t>User Registration and Login Module</a:t>
            </a:r>
          </a:p>
        </p:txBody>
      </p:sp>
      <p:sp>
        <p:nvSpPr>
          <p:cNvPr name="TextBox 28" id="28"/>
          <p:cNvSpPr txBox="true"/>
          <p:nvPr/>
        </p:nvSpPr>
        <p:spPr>
          <a:xfrm rot="0">
            <a:off x="13753156" y="3967604"/>
            <a:ext cx="2918231" cy="482311"/>
          </a:xfrm>
          <a:prstGeom prst="rect">
            <a:avLst/>
          </a:prstGeom>
        </p:spPr>
        <p:txBody>
          <a:bodyPr anchor="t" rtlCol="false" tIns="0" lIns="0" bIns="0" rIns="0">
            <a:spAutoFit/>
          </a:bodyPr>
          <a:lstStyle/>
          <a:p>
            <a:pPr algn="ctr">
              <a:lnSpc>
                <a:spcPts val="3851"/>
              </a:lnSpc>
            </a:pPr>
            <a:r>
              <a:rPr lang="en-US" sz="2750" i="true">
                <a:solidFill>
                  <a:srgbClr val="000000"/>
                </a:solidFill>
                <a:latin typeface="Alice Bold Italics"/>
                <a:ea typeface="Alice Bold Italics"/>
                <a:cs typeface="Alice Bold Italics"/>
                <a:sym typeface="Alice Bold Italics"/>
              </a:rPr>
              <a:t>Job Search Module</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557510" y="9888722"/>
            <a:ext cx="19403020" cy="2466909"/>
            <a:chOff x="0" y="0"/>
            <a:chExt cx="5110260" cy="649721"/>
          </a:xfrm>
        </p:grpSpPr>
        <p:sp>
          <p:nvSpPr>
            <p:cNvPr name="Freeform 3" id="3"/>
            <p:cNvSpPr/>
            <p:nvPr/>
          </p:nvSpPr>
          <p:spPr>
            <a:xfrm flipH="false" flipV="false" rot="0">
              <a:off x="0" y="0"/>
              <a:ext cx="5110261" cy="649721"/>
            </a:xfrm>
            <a:custGeom>
              <a:avLst/>
              <a:gdLst/>
              <a:ahLst/>
              <a:cxnLst/>
              <a:rect r="r" b="b" t="t" l="l"/>
              <a:pathLst>
                <a:path h="649721" w="5110261">
                  <a:moveTo>
                    <a:pt x="0" y="0"/>
                  </a:moveTo>
                  <a:lnTo>
                    <a:pt x="5110261" y="0"/>
                  </a:lnTo>
                  <a:lnTo>
                    <a:pt x="5110261" y="649721"/>
                  </a:lnTo>
                  <a:lnTo>
                    <a:pt x="0" y="649721"/>
                  </a:lnTo>
                  <a:close/>
                </a:path>
              </a:pathLst>
            </a:custGeom>
            <a:solidFill>
              <a:srgbClr val="8DAFA8"/>
            </a:solidFill>
          </p:spPr>
        </p:sp>
        <p:sp>
          <p:nvSpPr>
            <p:cNvPr name="TextBox 4" id="4"/>
            <p:cNvSpPr txBox="true"/>
            <p:nvPr/>
          </p:nvSpPr>
          <p:spPr>
            <a:xfrm>
              <a:off x="0" y="-38100"/>
              <a:ext cx="5110260" cy="68782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637715" y="1751087"/>
            <a:ext cx="5012570" cy="6809456"/>
            <a:chOff x="0" y="0"/>
            <a:chExt cx="1357997" cy="1844807"/>
          </a:xfrm>
        </p:grpSpPr>
        <p:sp>
          <p:nvSpPr>
            <p:cNvPr name="Freeform 6" id="6"/>
            <p:cNvSpPr/>
            <p:nvPr/>
          </p:nvSpPr>
          <p:spPr>
            <a:xfrm flipH="false" flipV="false" rot="0">
              <a:off x="0" y="0"/>
              <a:ext cx="1357997" cy="1844807"/>
            </a:xfrm>
            <a:custGeom>
              <a:avLst/>
              <a:gdLst/>
              <a:ahLst/>
              <a:cxnLst/>
              <a:rect r="r" b="b" t="t" l="l"/>
              <a:pathLst>
                <a:path h="1844807" w="1357997">
                  <a:moveTo>
                    <a:pt x="30890" y="0"/>
                  </a:moveTo>
                  <a:lnTo>
                    <a:pt x="1327107" y="0"/>
                  </a:lnTo>
                  <a:cubicBezTo>
                    <a:pt x="1344167" y="0"/>
                    <a:pt x="1357997" y="13830"/>
                    <a:pt x="1357997" y="30890"/>
                  </a:cubicBezTo>
                  <a:lnTo>
                    <a:pt x="1357997" y="1813917"/>
                  </a:lnTo>
                  <a:cubicBezTo>
                    <a:pt x="1357997" y="1822109"/>
                    <a:pt x="1354743" y="1829966"/>
                    <a:pt x="1348950" y="1835759"/>
                  </a:cubicBezTo>
                  <a:cubicBezTo>
                    <a:pt x="1343157" y="1841552"/>
                    <a:pt x="1335300" y="1844807"/>
                    <a:pt x="1327107" y="1844807"/>
                  </a:cubicBezTo>
                  <a:lnTo>
                    <a:pt x="30890" y="1844807"/>
                  </a:lnTo>
                  <a:cubicBezTo>
                    <a:pt x="13830" y="1844807"/>
                    <a:pt x="0" y="1830977"/>
                    <a:pt x="0" y="1813917"/>
                  </a:cubicBezTo>
                  <a:lnTo>
                    <a:pt x="0" y="30890"/>
                  </a:lnTo>
                  <a:cubicBezTo>
                    <a:pt x="0" y="22697"/>
                    <a:pt x="3254" y="14840"/>
                    <a:pt x="9047" y="9047"/>
                  </a:cubicBezTo>
                  <a:cubicBezTo>
                    <a:pt x="14840" y="3254"/>
                    <a:pt x="22697" y="0"/>
                    <a:pt x="30890" y="0"/>
                  </a:cubicBezTo>
                  <a:close/>
                </a:path>
              </a:pathLst>
            </a:custGeom>
            <a:solidFill>
              <a:srgbClr val="FFE5BA"/>
            </a:solidFill>
          </p:spPr>
        </p:sp>
        <p:sp>
          <p:nvSpPr>
            <p:cNvPr name="TextBox 7" id="7"/>
            <p:cNvSpPr txBox="true"/>
            <p:nvPr/>
          </p:nvSpPr>
          <p:spPr>
            <a:xfrm>
              <a:off x="0" y="-66675"/>
              <a:ext cx="1357997" cy="1911482"/>
            </a:xfrm>
            <a:prstGeom prst="rect">
              <a:avLst/>
            </a:prstGeom>
          </p:spPr>
          <p:txBody>
            <a:bodyPr anchor="ctr" rtlCol="false" tIns="50800" lIns="50800" bIns="50800" rIns="50800"/>
            <a:lstStyle/>
            <a:p>
              <a:pPr algn="l">
                <a:lnSpc>
                  <a:spcPts val="4060"/>
                </a:lnSpc>
              </a:pPr>
            </a:p>
          </p:txBody>
        </p:sp>
      </p:grpSp>
      <p:grpSp>
        <p:nvGrpSpPr>
          <p:cNvPr name="Group 8" id="8"/>
          <p:cNvGrpSpPr/>
          <p:nvPr/>
        </p:nvGrpSpPr>
        <p:grpSpPr>
          <a:xfrm rot="0">
            <a:off x="12574210" y="1751087"/>
            <a:ext cx="5012570" cy="6809456"/>
            <a:chOff x="0" y="0"/>
            <a:chExt cx="1357997" cy="1844807"/>
          </a:xfrm>
        </p:grpSpPr>
        <p:sp>
          <p:nvSpPr>
            <p:cNvPr name="Freeform 9" id="9"/>
            <p:cNvSpPr/>
            <p:nvPr/>
          </p:nvSpPr>
          <p:spPr>
            <a:xfrm flipH="false" flipV="false" rot="0">
              <a:off x="0" y="0"/>
              <a:ext cx="1357997" cy="1844807"/>
            </a:xfrm>
            <a:custGeom>
              <a:avLst/>
              <a:gdLst/>
              <a:ahLst/>
              <a:cxnLst/>
              <a:rect r="r" b="b" t="t" l="l"/>
              <a:pathLst>
                <a:path h="1844807" w="1357997">
                  <a:moveTo>
                    <a:pt x="30890" y="0"/>
                  </a:moveTo>
                  <a:lnTo>
                    <a:pt x="1327107" y="0"/>
                  </a:lnTo>
                  <a:cubicBezTo>
                    <a:pt x="1344167" y="0"/>
                    <a:pt x="1357997" y="13830"/>
                    <a:pt x="1357997" y="30890"/>
                  </a:cubicBezTo>
                  <a:lnTo>
                    <a:pt x="1357997" y="1813917"/>
                  </a:lnTo>
                  <a:cubicBezTo>
                    <a:pt x="1357997" y="1822109"/>
                    <a:pt x="1354743" y="1829966"/>
                    <a:pt x="1348950" y="1835759"/>
                  </a:cubicBezTo>
                  <a:cubicBezTo>
                    <a:pt x="1343157" y="1841552"/>
                    <a:pt x="1335300" y="1844807"/>
                    <a:pt x="1327107" y="1844807"/>
                  </a:cubicBezTo>
                  <a:lnTo>
                    <a:pt x="30890" y="1844807"/>
                  </a:lnTo>
                  <a:cubicBezTo>
                    <a:pt x="13830" y="1844807"/>
                    <a:pt x="0" y="1830977"/>
                    <a:pt x="0" y="1813917"/>
                  </a:cubicBezTo>
                  <a:lnTo>
                    <a:pt x="0" y="30890"/>
                  </a:lnTo>
                  <a:cubicBezTo>
                    <a:pt x="0" y="22697"/>
                    <a:pt x="3254" y="14840"/>
                    <a:pt x="9047" y="9047"/>
                  </a:cubicBezTo>
                  <a:cubicBezTo>
                    <a:pt x="14840" y="3254"/>
                    <a:pt x="22697" y="0"/>
                    <a:pt x="30890" y="0"/>
                  </a:cubicBezTo>
                  <a:close/>
                </a:path>
              </a:pathLst>
            </a:custGeom>
            <a:solidFill>
              <a:srgbClr val="FFE5BA"/>
            </a:solidFill>
          </p:spPr>
        </p:sp>
        <p:sp>
          <p:nvSpPr>
            <p:cNvPr name="TextBox 10" id="10"/>
            <p:cNvSpPr txBox="true"/>
            <p:nvPr/>
          </p:nvSpPr>
          <p:spPr>
            <a:xfrm>
              <a:off x="0" y="-66675"/>
              <a:ext cx="1357997" cy="1911482"/>
            </a:xfrm>
            <a:prstGeom prst="rect">
              <a:avLst/>
            </a:prstGeom>
          </p:spPr>
          <p:txBody>
            <a:bodyPr anchor="ctr" rtlCol="false" tIns="50800" lIns="50800" bIns="50800" rIns="50800"/>
            <a:lstStyle/>
            <a:p>
              <a:pPr algn="l">
                <a:lnSpc>
                  <a:spcPts val="4060"/>
                </a:lnSpc>
              </a:pPr>
            </a:p>
          </p:txBody>
        </p:sp>
      </p:grpSp>
      <p:sp>
        <p:nvSpPr>
          <p:cNvPr name="TextBox 11" id="11"/>
          <p:cNvSpPr txBox="true"/>
          <p:nvPr/>
        </p:nvSpPr>
        <p:spPr>
          <a:xfrm rot="0">
            <a:off x="12885588" y="3241008"/>
            <a:ext cx="4389815" cy="5229187"/>
          </a:xfrm>
          <a:prstGeom prst="rect">
            <a:avLst/>
          </a:prstGeom>
        </p:spPr>
        <p:txBody>
          <a:bodyPr anchor="t" rtlCol="false" tIns="0" lIns="0" bIns="0" rIns="0">
            <a:spAutoFit/>
          </a:bodyPr>
          <a:lstStyle/>
          <a:p>
            <a:pPr algn="just" marL="0" indent="0" lvl="0">
              <a:lnSpc>
                <a:spcPts val="3751"/>
              </a:lnSpc>
            </a:pPr>
            <a:r>
              <a:rPr lang="en-US" sz="2500" strike="noStrike" u="none">
                <a:solidFill>
                  <a:srgbClr val="1E302C"/>
                </a:solidFill>
                <a:latin typeface="Alice"/>
                <a:ea typeface="Alice"/>
                <a:cs typeface="Alice"/>
                <a:sym typeface="Alice"/>
              </a:rPr>
              <a:t>This module allows employers or recruiters to post job vacancies on the portal. Employers can add details such as job title, job description, required skills, qualifications, experience, and job location. It helps organizations reach a large number of job seekers through the platform.</a:t>
            </a:r>
          </a:p>
        </p:txBody>
      </p:sp>
      <p:sp>
        <p:nvSpPr>
          <p:cNvPr name="TextBox 12" id="12"/>
          <p:cNvSpPr txBox="true"/>
          <p:nvPr/>
        </p:nvSpPr>
        <p:spPr>
          <a:xfrm rot="0">
            <a:off x="6934811" y="3237542"/>
            <a:ext cx="4273284" cy="5159921"/>
          </a:xfrm>
          <a:prstGeom prst="rect">
            <a:avLst/>
          </a:prstGeom>
        </p:spPr>
        <p:txBody>
          <a:bodyPr anchor="t" rtlCol="false" tIns="0" lIns="0" bIns="0" rIns="0">
            <a:spAutoFit/>
          </a:bodyPr>
          <a:lstStyle/>
          <a:p>
            <a:pPr algn="just">
              <a:lnSpc>
                <a:spcPts val="4551"/>
              </a:lnSpc>
            </a:pPr>
            <a:r>
              <a:rPr lang="en-US" sz="2500">
                <a:solidFill>
                  <a:srgbClr val="1E302C"/>
                </a:solidFill>
                <a:latin typeface="Alice"/>
                <a:ea typeface="Alice"/>
                <a:cs typeface="Alice"/>
                <a:sym typeface="Alice"/>
              </a:rPr>
              <a:t>This module analyzes the user’s profile, including skills, qualifications, experience, and preferences. Based on this information, the system suggests jobs that best match the user’s profile. This helps users quickly find relevant job opportunities</a:t>
            </a:r>
          </a:p>
        </p:txBody>
      </p:sp>
      <p:sp>
        <p:nvSpPr>
          <p:cNvPr name="TextBox 13" id="13"/>
          <p:cNvSpPr txBox="true"/>
          <p:nvPr/>
        </p:nvSpPr>
        <p:spPr>
          <a:xfrm rot="0">
            <a:off x="6934811" y="2188616"/>
            <a:ext cx="4407879" cy="939608"/>
          </a:xfrm>
          <a:prstGeom prst="rect">
            <a:avLst/>
          </a:prstGeom>
        </p:spPr>
        <p:txBody>
          <a:bodyPr anchor="t" rtlCol="false" tIns="0" lIns="0" bIns="0" rIns="0">
            <a:spAutoFit/>
          </a:bodyPr>
          <a:lstStyle/>
          <a:p>
            <a:pPr algn="ctr">
              <a:lnSpc>
                <a:spcPts val="3771"/>
              </a:lnSpc>
            </a:pPr>
            <a:r>
              <a:rPr lang="en-US" sz="2693" i="true">
                <a:solidFill>
                  <a:srgbClr val="000000"/>
                </a:solidFill>
                <a:latin typeface="Alice Bold Italics"/>
                <a:ea typeface="Alice Bold Italics"/>
                <a:cs typeface="Alice Bold Italics"/>
                <a:sym typeface="Alice Bold Italics"/>
              </a:rPr>
              <a:t>AI Recommendation </a:t>
            </a:r>
          </a:p>
          <a:p>
            <a:pPr algn="ctr">
              <a:lnSpc>
                <a:spcPts val="3771"/>
              </a:lnSpc>
            </a:pPr>
            <a:r>
              <a:rPr lang="en-US" sz="2693" i="true">
                <a:solidFill>
                  <a:srgbClr val="000000"/>
                </a:solidFill>
                <a:latin typeface="Alice Bold Italics"/>
                <a:ea typeface="Alice Bold Italics"/>
                <a:cs typeface="Alice Bold Italics"/>
                <a:sym typeface="Alice Bold Italics"/>
              </a:rPr>
              <a:t>Module</a:t>
            </a:r>
          </a:p>
        </p:txBody>
      </p:sp>
      <p:sp>
        <p:nvSpPr>
          <p:cNvPr name="TextBox 14" id="14"/>
          <p:cNvSpPr txBox="true"/>
          <p:nvPr/>
        </p:nvSpPr>
        <p:spPr>
          <a:xfrm rot="0">
            <a:off x="14137281" y="2144155"/>
            <a:ext cx="1854223" cy="967820"/>
          </a:xfrm>
          <a:prstGeom prst="rect">
            <a:avLst/>
          </a:prstGeom>
        </p:spPr>
        <p:txBody>
          <a:bodyPr anchor="t" rtlCol="false" tIns="0" lIns="0" bIns="0" rIns="0">
            <a:spAutoFit/>
          </a:bodyPr>
          <a:lstStyle/>
          <a:p>
            <a:pPr algn="ctr">
              <a:lnSpc>
                <a:spcPts val="3851"/>
              </a:lnSpc>
            </a:pPr>
            <a:r>
              <a:rPr lang="en-US" sz="2750" i="true">
                <a:solidFill>
                  <a:srgbClr val="000000"/>
                </a:solidFill>
                <a:latin typeface="Alice Bold Italics"/>
                <a:ea typeface="Alice Bold Italics"/>
                <a:cs typeface="Alice Bold Italics"/>
                <a:sym typeface="Alice Bold Italics"/>
              </a:rPr>
              <a:t>Job Posting </a:t>
            </a:r>
          </a:p>
          <a:p>
            <a:pPr algn="ctr">
              <a:lnSpc>
                <a:spcPts val="3851"/>
              </a:lnSpc>
            </a:pPr>
            <a:r>
              <a:rPr lang="en-US" sz="2750" i="true">
                <a:solidFill>
                  <a:srgbClr val="000000"/>
                </a:solidFill>
                <a:latin typeface="Alice Bold Italics"/>
                <a:ea typeface="Alice Bold Italics"/>
                <a:cs typeface="Alice Bold Italics"/>
                <a:sym typeface="Alice Bold Italics"/>
              </a:rPr>
              <a:t>Module</a:t>
            </a:r>
          </a:p>
        </p:txBody>
      </p:sp>
      <p:grpSp>
        <p:nvGrpSpPr>
          <p:cNvPr name="Group 15" id="15"/>
          <p:cNvGrpSpPr/>
          <p:nvPr/>
        </p:nvGrpSpPr>
        <p:grpSpPr>
          <a:xfrm rot="0">
            <a:off x="777420" y="1751087"/>
            <a:ext cx="5012570" cy="6809456"/>
            <a:chOff x="0" y="0"/>
            <a:chExt cx="1357997" cy="1844807"/>
          </a:xfrm>
        </p:grpSpPr>
        <p:sp>
          <p:nvSpPr>
            <p:cNvPr name="Freeform 16" id="16"/>
            <p:cNvSpPr/>
            <p:nvPr/>
          </p:nvSpPr>
          <p:spPr>
            <a:xfrm flipH="false" flipV="false" rot="0">
              <a:off x="0" y="0"/>
              <a:ext cx="1357997" cy="1844807"/>
            </a:xfrm>
            <a:custGeom>
              <a:avLst/>
              <a:gdLst/>
              <a:ahLst/>
              <a:cxnLst/>
              <a:rect r="r" b="b" t="t" l="l"/>
              <a:pathLst>
                <a:path h="1844807" w="1357997">
                  <a:moveTo>
                    <a:pt x="30890" y="0"/>
                  </a:moveTo>
                  <a:lnTo>
                    <a:pt x="1327107" y="0"/>
                  </a:lnTo>
                  <a:cubicBezTo>
                    <a:pt x="1344167" y="0"/>
                    <a:pt x="1357997" y="13830"/>
                    <a:pt x="1357997" y="30890"/>
                  </a:cubicBezTo>
                  <a:lnTo>
                    <a:pt x="1357997" y="1813917"/>
                  </a:lnTo>
                  <a:cubicBezTo>
                    <a:pt x="1357997" y="1822109"/>
                    <a:pt x="1354743" y="1829966"/>
                    <a:pt x="1348950" y="1835759"/>
                  </a:cubicBezTo>
                  <a:cubicBezTo>
                    <a:pt x="1343157" y="1841552"/>
                    <a:pt x="1335300" y="1844807"/>
                    <a:pt x="1327107" y="1844807"/>
                  </a:cubicBezTo>
                  <a:lnTo>
                    <a:pt x="30890" y="1844807"/>
                  </a:lnTo>
                  <a:cubicBezTo>
                    <a:pt x="13830" y="1844807"/>
                    <a:pt x="0" y="1830977"/>
                    <a:pt x="0" y="1813917"/>
                  </a:cubicBezTo>
                  <a:lnTo>
                    <a:pt x="0" y="30890"/>
                  </a:lnTo>
                  <a:cubicBezTo>
                    <a:pt x="0" y="22697"/>
                    <a:pt x="3254" y="14840"/>
                    <a:pt x="9047" y="9047"/>
                  </a:cubicBezTo>
                  <a:cubicBezTo>
                    <a:pt x="14840" y="3254"/>
                    <a:pt x="22697" y="0"/>
                    <a:pt x="30890" y="0"/>
                  </a:cubicBezTo>
                  <a:close/>
                </a:path>
              </a:pathLst>
            </a:custGeom>
            <a:solidFill>
              <a:srgbClr val="FFE5BA"/>
            </a:solidFill>
          </p:spPr>
        </p:sp>
        <p:sp>
          <p:nvSpPr>
            <p:cNvPr name="TextBox 17" id="17"/>
            <p:cNvSpPr txBox="true"/>
            <p:nvPr/>
          </p:nvSpPr>
          <p:spPr>
            <a:xfrm>
              <a:off x="0" y="-66675"/>
              <a:ext cx="1357997" cy="1911482"/>
            </a:xfrm>
            <a:prstGeom prst="rect">
              <a:avLst/>
            </a:prstGeom>
          </p:spPr>
          <p:txBody>
            <a:bodyPr anchor="ctr" rtlCol="false" tIns="50800" lIns="50800" bIns="50800" rIns="50800"/>
            <a:lstStyle/>
            <a:p>
              <a:pPr algn="l">
                <a:lnSpc>
                  <a:spcPts val="4060"/>
                </a:lnSpc>
              </a:pPr>
            </a:p>
          </p:txBody>
        </p:sp>
      </p:grpSp>
      <p:sp>
        <p:nvSpPr>
          <p:cNvPr name="TextBox 18" id="18"/>
          <p:cNvSpPr txBox="true"/>
          <p:nvPr/>
        </p:nvSpPr>
        <p:spPr>
          <a:xfrm rot="0">
            <a:off x="1524662" y="2134811"/>
            <a:ext cx="3952570" cy="967820"/>
          </a:xfrm>
          <a:prstGeom prst="rect">
            <a:avLst/>
          </a:prstGeom>
        </p:spPr>
        <p:txBody>
          <a:bodyPr anchor="t" rtlCol="false" tIns="0" lIns="0" bIns="0" rIns="0">
            <a:spAutoFit/>
          </a:bodyPr>
          <a:lstStyle/>
          <a:p>
            <a:pPr algn="ctr">
              <a:lnSpc>
                <a:spcPts val="3851"/>
              </a:lnSpc>
            </a:pPr>
            <a:r>
              <a:rPr lang="en-US" sz="2750" i="true">
                <a:solidFill>
                  <a:srgbClr val="000000"/>
                </a:solidFill>
                <a:latin typeface="Alice Bold Italics"/>
                <a:ea typeface="Alice Bold Italics"/>
                <a:cs typeface="Alice Bold Italics"/>
                <a:sym typeface="Alice Bold Italics"/>
              </a:rPr>
              <a:t>Application Management</a:t>
            </a:r>
          </a:p>
          <a:p>
            <a:pPr algn="ctr">
              <a:lnSpc>
                <a:spcPts val="3851"/>
              </a:lnSpc>
            </a:pPr>
            <a:r>
              <a:rPr lang="en-US" sz="2750" i="true">
                <a:solidFill>
                  <a:srgbClr val="000000"/>
                </a:solidFill>
                <a:latin typeface="Alice Bold Italics"/>
                <a:ea typeface="Alice Bold Italics"/>
                <a:cs typeface="Alice Bold Italics"/>
                <a:sym typeface="Alice Bold Italics"/>
              </a:rPr>
              <a:t> Module</a:t>
            </a:r>
          </a:p>
        </p:txBody>
      </p:sp>
      <p:sp>
        <p:nvSpPr>
          <p:cNvPr name="TextBox 19" id="19"/>
          <p:cNvSpPr txBox="true"/>
          <p:nvPr/>
        </p:nvSpPr>
        <p:spPr>
          <a:xfrm rot="0">
            <a:off x="951710" y="3288965"/>
            <a:ext cx="4663990" cy="5108497"/>
          </a:xfrm>
          <a:prstGeom prst="rect">
            <a:avLst/>
          </a:prstGeom>
        </p:spPr>
        <p:txBody>
          <a:bodyPr anchor="t" rtlCol="false" tIns="0" lIns="0" bIns="0" rIns="0">
            <a:spAutoFit/>
          </a:bodyPr>
          <a:lstStyle/>
          <a:p>
            <a:pPr algn="just">
              <a:lnSpc>
                <a:spcPts val="4551"/>
              </a:lnSpc>
            </a:pPr>
            <a:r>
              <a:rPr lang="en-US" sz="2500">
                <a:solidFill>
                  <a:srgbClr val="1E302C"/>
                </a:solidFill>
                <a:latin typeface="Alice"/>
                <a:ea typeface="Alice"/>
                <a:cs typeface="Alice"/>
                <a:sym typeface="Alice"/>
              </a:rPr>
              <a:t>This module manages the entire job application process. It allows job seekers to apply for jobs directly through the portal by submitting their resumes and details. Employers can view the list of applicants and select suitable candidates for further steps such as interviews.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1759482" y="2792773"/>
            <a:ext cx="5116292" cy="3941703"/>
          </a:xfrm>
          <a:custGeom>
            <a:avLst/>
            <a:gdLst/>
            <a:ahLst/>
            <a:cxnLst/>
            <a:rect r="r" b="b" t="t" l="l"/>
            <a:pathLst>
              <a:path h="3941703" w="5116292">
                <a:moveTo>
                  <a:pt x="0" y="0"/>
                </a:moveTo>
                <a:lnTo>
                  <a:pt x="5116291" y="0"/>
                </a:lnTo>
                <a:lnTo>
                  <a:pt x="5116291" y="3941704"/>
                </a:lnTo>
                <a:lnTo>
                  <a:pt x="0" y="3941704"/>
                </a:lnTo>
                <a:lnTo>
                  <a:pt x="0" y="0"/>
                </a:lnTo>
                <a:close/>
              </a:path>
            </a:pathLst>
          </a:custGeom>
          <a:blipFill>
            <a:blip r:embed="rId2"/>
            <a:stretch>
              <a:fillRect l="-6351" t="0" r="-9283" b="0"/>
            </a:stretch>
          </a:blipFill>
        </p:spPr>
      </p:sp>
      <p:sp>
        <p:nvSpPr>
          <p:cNvPr name="TextBox 6" id="6"/>
          <p:cNvSpPr txBox="true"/>
          <p:nvPr/>
        </p:nvSpPr>
        <p:spPr>
          <a:xfrm rot="0">
            <a:off x="1028700" y="722630"/>
            <a:ext cx="6642841" cy="1136016"/>
          </a:xfrm>
          <a:prstGeom prst="rect">
            <a:avLst/>
          </a:prstGeom>
        </p:spPr>
        <p:txBody>
          <a:bodyPr anchor="t" rtlCol="false" tIns="0" lIns="0" bIns="0" rIns="0">
            <a:spAutoFit/>
          </a:bodyPr>
          <a:lstStyle/>
          <a:p>
            <a:pPr algn="l" marL="0" indent="0" lvl="0">
              <a:lnSpc>
                <a:spcPts val="8259"/>
              </a:lnSpc>
              <a:spcBef>
                <a:spcPct val="0"/>
              </a:spcBef>
            </a:pPr>
            <a:r>
              <a:rPr lang="en-US" sz="5899">
                <a:solidFill>
                  <a:srgbClr val="8F6234"/>
                </a:solidFill>
                <a:latin typeface="Times New Roman MT"/>
                <a:ea typeface="Times New Roman MT"/>
                <a:cs typeface="Times New Roman MT"/>
                <a:sym typeface="Times New Roman MT"/>
              </a:rPr>
              <a:t>UML DIAGRAMS </a:t>
            </a:r>
          </a:p>
        </p:txBody>
      </p:sp>
      <p:sp>
        <p:nvSpPr>
          <p:cNvPr name="TextBox 7" id="7"/>
          <p:cNvSpPr txBox="true"/>
          <p:nvPr/>
        </p:nvSpPr>
        <p:spPr>
          <a:xfrm rot="0">
            <a:off x="1158134" y="2305069"/>
            <a:ext cx="9344048" cy="6181687"/>
          </a:xfrm>
          <a:prstGeom prst="rect">
            <a:avLst/>
          </a:prstGeom>
        </p:spPr>
        <p:txBody>
          <a:bodyPr anchor="t" rtlCol="false" tIns="0" lIns="0" bIns="0" rIns="0">
            <a:spAutoFit/>
          </a:bodyPr>
          <a:lstStyle/>
          <a:p>
            <a:pPr algn="just">
              <a:lnSpc>
                <a:spcPts val="3751"/>
              </a:lnSpc>
            </a:pPr>
            <a:r>
              <a:rPr lang="en-US" sz="2500">
                <a:solidFill>
                  <a:srgbClr val="1E302C"/>
                </a:solidFill>
                <a:latin typeface="Alice"/>
                <a:ea typeface="Alice"/>
                <a:cs typeface="Alice"/>
                <a:sym typeface="Alice"/>
              </a:rPr>
              <a:t>UML (Unified Modeling Language) is a standard graphical language used to design and represent a software system. It helps in understanding the structure, workflow, and interaction of different modules in a project. In the Job Portal System, UML diagrams are used to explain system functionality clearly and effectively.</a:t>
            </a:r>
          </a:p>
          <a:p>
            <a:pPr algn="just">
              <a:lnSpc>
                <a:spcPts val="3751"/>
              </a:lnSpc>
            </a:pPr>
          </a:p>
          <a:p>
            <a:pPr algn="just">
              <a:lnSpc>
                <a:spcPts val="3751"/>
              </a:lnSpc>
            </a:pPr>
            <a:r>
              <a:rPr lang="en-US" sz="2500">
                <a:solidFill>
                  <a:srgbClr val="1E302C"/>
                </a:solidFill>
                <a:latin typeface="Alice"/>
                <a:ea typeface="Alice"/>
                <a:cs typeface="Alice"/>
                <a:sym typeface="Alice"/>
              </a:rPr>
              <a:t>In the Job Portal System, UML diagrams such as Use Case, Class, Sequence, Collaboration, Activity, Component, and Deployment diagrams are used to explain user interactions, system modules, workflow, and architecture. These diagrams help in proper planning, development, testing, and maintenance of the system, making the project easier to understand and implement.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156190" y="2738119"/>
            <a:ext cx="9259904" cy="5589270"/>
            <a:chOff x="0" y="0"/>
            <a:chExt cx="1947383" cy="1175439"/>
          </a:xfrm>
        </p:grpSpPr>
        <p:sp>
          <p:nvSpPr>
            <p:cNvPr name="Freeform 6" id="6"/>
            <p:cNvSpPr/>
            <p:nvPr/>
          </p:nvSpPr>
          <p:spPr>
            <a:xfrm flipH="false" flipV="false" rot="0">
              <a:off x="0" y="0"/>
              <a:ext cx="1947383" cy="1175439"/>
            </a:xfrm>
            <a:custGeom>
              <a:avLst/>
              <a:gdLst/>
              <a:ahLst/>
              <a:cxnLst/>
              <a:rect r="r" b="b" t="t" l="l"/>
              <a:pathLst>
                <a:path h="1175439" w="1947383">
                  <a:moveTo>
                    <a:pt x="25918" y="0"/>
                  </a:moveTo>
                  <a:lnTo>
                    <a:pt x="1921465" y="0"/>
                  </a:lnTo>
                  <a:cubicBezTo>
                    <a:pt x="1935780" y="0"/>
                    <a:pt x="1947383" y="11604"/>
                    <a:pt x="1947383" y="25918"/>
                  </a:cubicBezTo>
                  <a:lnTo>
                    <a:pt x="1947383" y="1149521"/>
                  </a:lnTo>
                  <a:cubicBezTo>
                    <a:pt x="1947383" y="1163835"/>
                    <a:pt x="1935780" y="1175439"/>
                    <a:pt x="1921465" y="1175439"/>
                  </a:cubicBezTo>
                  <a:lnTo>
                    <a:pt x="25918" y="1175439"/>
                  </a:lnTo>
                  <a:cubicBezTo>
                    <a:pt x="11604" y="1175439"/>
                    <a:pt x="0" y="1163835"/>
                    <a:pt x="0" y="1149521"/>
                  </a:cubicBezTo>
                  <a:lnTo>
                    <a:pt x="0" y="25918"/>
                  </a:lnTo>
                  <a:cubicBezTo>
                    <a:pt x="0" y="11604"/>
                    <a:pt x="11604" y="0"/>
                    <a:pt x="25918" y="0"/>
                  </a:cubicBezTo>
                  <a:close/>
                </a:path>
              </a:pathLst>
            </a:custGeom>
            <a:solidFill>
              <a:srgbClr val="FFE5BA"/>
            </a:solidFill>
          </p:spPr>
        </p:sp>
        <p:sp>
          <p:nvSpPr>
            <p:cNvPr name="TextBox 7" id="7"/>
            <p:cNvSpPr txBox="true"/>
            <p:nvPr/>
          </p:nvSpPr>
          <p:spPr>
            <a:xfrm>
              <a:off x="0" y="-66675"/>
              <a:ext cx="1947383" cy="1242114"/>
            </a:xfrm>
            <a:prstGeom prst="rect">
              <a:avLst/>
            </a:prstGeom>
          </p:spPr>
          <p:txBody>
            <a:bodyPr anchor="t" rtlCol="false" tIns="152400" lIns="152400" bIns="152400" rIns="152400"/>
            <a:lstStyle/>
            <a:p>
              <a:pPr algn="l" marL="647700" indent="-323850" lvl="1">
                <a:lnSpc>
                  <a:spcPts val="4200"/>
                </a:lnSpc>
                <a:buFont typeface="Arial"/>
                <a:buChar char="•"/>
              </a:pPr>
              <a:r>
                <a:rPr lang="en-US" sz="3000">
                  <a:solidFill>
                    <a:srgbClr val="1E302C"/>
                  </a:solidFill>
                  <a:latin typeface="Alice"/>
                  <a:ea typeface="Alice"/>
                  <a:cs typeface="Alice"/>
                  <a:sym typeface="Alice"/>
                </a:rPr>
                <a:t>Use Case Diagram shows the interaction between users and the Job Portal System.</a:t>
              </a:r>
            </a:p>
            <a:p>
              <a:pPr algn="l" marL="647700" indent="-323850" lvl="1">
                <a:lnSpc>
                  <a:spcPts val="4200"/>
                </a:lnSpc>
                <a:buFont typeface="Arial"/>
                <a:buChar char="•"/>
              </a:pPr>
              <a:r>
                <a:rPr lang="en-US" sz="3000">
                  <a:solidFill>
                    <a:srgbClr val="1E302C"/>
                  </a:solidFill>
                  <a:latin typeface="Alice"/>
                  <a:ea typeface="Alice"/>
                  <a:cs typeface="Alice"/>
                  <a:sym typeface="Alice"/>
                </a:rPr>
                <a:t>Main actors in the diagram are Job Seeker, Employer, and Admin.</a:t>
              </a:r>
            </a:p>
            <a:p>
              <a:pPr algn="l" marL="647700" indent="-323850" lvl="1">
                <a:lnSpc>
                  <a:spcPts val="4200"/>
                </a:lnSpc>
                <a:buFont typeface="Arial"/>
                <a:buChar char="•"/>
              </a:pPr>
              <a:r>
                <a:rPr lang="en-US" sz="3000">
                  <a:solidFill>
                    <a:srgbClr val="1E302C"/>
                  </a:solidFill>
                  <a:latin typeface="Alice"/>
                  <a:ea typeface="Alice"/>
                  <a:cs typeface="Alice"/>
                  <a:sym typeface="Alice"/>
                </a:rPr>
                <a:t>Diagram represents functions such as login, registration, apply job, and post job.</a:t>
              </a:r>
            </a:p>
            <a:p>
              <a:pPr algn="l" marL="647700" indent="-323850" lvl="1">
                <a:lnSpc>
                  <a:spcPts val="4200"/>
                </a:lnSpc>
                <a:buFont typeface="Arial"/>
                <a:buChar char="•"/>
              </a:pPr>
              <a:r>
                <a:rPr lang="en-US" sz="3000">
                  <a:solidFill>
                    <a:srgbClr val="1E302C"/>
                  </a:solidFill>
                  <a:latin typeface="Alice"/>
                  <a:ea typeface="Alice"/>
                  <a:cs typeface="Alice"/>
                  <a:sym typeface="Alice"/>
                </a:rPr>
                <a:t>Use Case Diagram helps in identifying system requirements clearly.</a:t>
              </a:r>
            </a:p>
            <a:p>
              <a:pPr algn="l" marL="647700" indent="-323850" lvl="1">
                <a:lnSpc>
                  <a:spcPts val="4200"/>
                </a:lnSpc>
                <a:buFont typeface="Arial"/>
                <a:buChar char="•"/>
              </a:pPr>
              <a:r>
                <a:rPr lang="en-US" sz="3000">
                  <a:solidFill>
                    <a:srgbClr val="1E302C"/>
                  </a:solidFill>
                  <a:latin typeface="Alice"/>
                  <a:ea typeface="Alice"/>
                  <a:cs typeface="Alice"/>
                  <a:sym typeface="Alice"/>
                </a:rPr>
                <a:t>Diagram is useful for understanding user roles and services.</a:t>
              </a:r>
            </a:p>
          </p:txBody>
        </p:sp>
      </p:grpSp>
      <p:sp>
        <p:nvSpPr>
          <p:cNvPr name="Freeform 8" id="8"/>
          <p:cNvSpPr/>
          <p:nvPr/>
        </p:nvSpPr>
        <p:spPr>
          <a:xfrm flipH="false" flipV="false" rot="0">
            <a:off x="1085850" y="1230931"/>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470803" y="2978038"/>
            <a:ext cx="4407497" cy="5109432"/>
          </a:xfrm>
          <a:custGeom>
            <a:avLst/>
            <a:gdLst/>
            <a:ahLst/>
            <a:cxnLst/>
            <a:rect r="r" b="b" t="t" l="l"/>
            <a:pathLst>
              <a:path h="5109432" w="4407497">
                <a:moveTo>
                  <a:pt x="0" y="0"/>
                </a:moveTo>
                <a:lnTo>
                  <a:pt x="4407497" y="0"/>
                </a:lnTo>
                <a:lnTo>
                  <a:pt x="4407497" y="5109432"/>
                </a:lnTo>
                <a:lnTo>
                  <a:pt x="0" y="5109432"/>
                </a:lnTo>
                <a:lnTo>
                  <a:pt x="0" y="0"/>
                </a:lnTo>
                <a:close/>
              </a:path>
            </a:pathLst>
          </a:custGeom>
          <a:blipFill>
            <a:blip r:embed="rId4"/>
            <a:stretch>
              <a:fillRect l="0" t="0" r="0" b="0"/>
            </a:stretch>
          </a:blipFill>
        </p:spPr>
      </p:sp>
      <p:sp>
        <p:nvSpPr>
          <p:cNvPr name="TextBox 10" id="10"/>
          <p:cNvSpPr txBox="true"/>
          <p:nvPr/>
        </p:nvSpPr>
        <p:spPr>
          <a:xfrm rot="0">
            <a:off x="2156190" y="859458"/>
            <a:ext cx="8944399" cy="1244600"/>
          </a:xfrm>
          <a:prstGeom prst="rect">
            <a:avLst/>
          </a:prstGeom>
        </p:spPr>
        <p:txBody>
          <a:bodyPr anchor="t" rtlCol="false" tIns="0" lIns="0" bIns="0" rIns="0">
            <a:spAutoFit/>
          </a:bodyPr>
          <a:lstStyle/>
          <a:p>
            <a:pPr algn="l" marL="0" indent="0" lvl="0">
              <a:lnSpc>
                <a:spcPts val="9100"/>
              </a:lnSpc>
              <a:spcBef>
                <a:spcPct val="0"/>
              </a:spcBef>
            </a:pPr>
            <a:r>
              <a:rPr lang="en-US" sz="6500">
                <a:solidFill>
                  <a:srgbClr val="8F6234"/>
                </a:solidFill>
                <a:latin typeface="Times New Roman MT"/>
                <a:ea typeface="Times New Roman MT"/>
                <a:cs typeface="Times New Roman MT"/>
                <a:sym typeface="Times New Roman MT"/>
              </a:rPr>
              <a:t>USE CASE DIAGRAM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17043" y="2738119"/>
            <a:ext cx="9380350" cy="5589270"/>
            <a:chOff x="0" y="0"/>
            <a:chExt cx="1972714" cy="1175439"/>
          </a:xfrm>
        </p:grpSpPr>
        <p:sp>
          <p:nvSpPr>
            <p:cNvPr name="Freeform 6" id="6"/>
            <p:cNvSpPr/>
            <p:nvPr/>
          </p:nvSpPr>
          <p:spPr>
            <a:xfrm flipH="false" flipV="false" rot="0">
              <a:off x="0" y="0"/>
              <a:ext cx="1972714" cy="1175439"/>
            </a:xfrm>
            <a:custGeom>
              <a:avLst/>
              <a:gdLst/>
              <a:ahLst/>
              <a:cxnLst/>
              <a:rect r="r" b="b" t="t" l="l"/>
              <a:pathLst>
                <a:path h="1175439" w="1972714">
                  <a:moveTo>
                    <a:pt x="25585" y="0"/>
                  </a:moveTo>
                  <a:lnTo>
                    <a:pt x="1947128" y="0"/>
                  </a:lnTo>
                  <a:cubicBezTo>
                    <a:pt x="1961259" y="0"/>
                    <a:pt x="1972714" y="11455"/>
                    <a:pt x="1972714" y="25585"/>
                  </a:cubicBezTo>
                  <a:lnTo>
                    <a:pt x="1972714" y="1149853"/>
                  </a:lnTo>
                  <a:cubicBezTo>
                    <a:pt x="1972714" y="1163984"/>
                    <a:pt x="1961259" y="1175439"/>
                    <a:pt x="1947128" y="1175439"/>
                  </a:cubicBezTo>
                  <a:lnTo>
                    <a:pt x="25585" y="1175439"/>
                  </a:lnTo>
                  <a:cubicBezTo>
                    <a:pt x="11455" y="1175439"/>
                    <a:pt x="0" y="1163984"/>
                    <a:pt x="0" y="1149853"/>
                  </a:cubicBezTo>
                  <a:lnTo>
                    <a:pt x="0" y="25585"/>
                  </a:lnTo>
                  <a:cubicBezTo>
                    <a:pt x="0" y="11455"/>
                    <a:pt x="11455" y="0"/>
                    <a:pt x="25585" y="0"/>
                  </a:cubicBezTo>
                  <a:close/>
                </a:path>
              </a:pathLst>
            </a:custGeom>
            <a:solidFill>
              <a:srgbClr val="FFE5BA"/>
            </a:solidFill>
          </p:spPr>
        </p:sp>
        <p:sp>
          <p:nvSpPr>
            <p:cNvPr name="TextBox 7" id="7"/>
            <p:cNvSpPr txBox="true"/>
            <p:nvPr/>
          </p:nvSpPr>
          <p:spPr>
            <a:xfrm>
              <a:off x="0" y="-66675"/>
              <a:ext cx="1972714" cy="1242114"/>
            </a:xfrm>
            <a:prstGeom prst="rect">
              <a:avLst/>
            </a:prstGeom>
          </p:spPr>
          <p:txBody>
            <a:bodyPr anchor="t" rtlCol="false" tIns="152400" lIns="152400" bIns="152400" rIns="152400"/>
            <a:lstStyle/>
            <a:p>
              <a:pPr algn="l" marL="647700" indent="-323850" lvl="1">
                <a:lnSpc>
                  <a:spcPts val="4200"/>
                </a:lnSpc>
                <a:buFont typeface="Arial"/>
                <a:buChar char="•"/>
              </a:pPr>
              <a:r>
                <a:rPr lang="en-US" sz="3000">
                  <a:solidFill>
                    <a:srgbClr val="1E302C"/>
                  </a:solidFill>
                  <a:latin typeface="Alice"/>
                  <a:ea typeface="Alice"/>
                  <a:cs typeface="Alice"/>
                  <a:sym typeface="Alice"/>
                </a:rPr>
                <a:t>Class Diagram shows the classes, attributes, methods, and relationships in the system.</a:t>
              </a:r>
            </a:p>
            <a:p>
              <a:pPr algn="l" marL="647700" indent="-323850" lvl="1">
                <a:lnSpc>
                  <a:spcPts val="4200"/>
                </a:lnSpc>
                <a:buFont typeface="Arial"/>
                <a:buChar char="•"/>
              </a:pPr>
              <a:r>
                <a:rPr lang="en-US" sz="3000">
                  <a:solidFill>
                    <a:srgbClr val="1E302C"/>
                  </a:solidFill>
                  <a:latin typeface="Alice"/>
                  <a:ea typeface="Alice"/>
                  <a:cs typeface="Alice"/>
                  <a:sym typeface="Alice"/>
                </a:rPr>
                <a:t>Main classes in the project are User, JobSeeker, Employer, Job, and Application.</a:t>
              </a:r>
            </a:p>
            <a:p>
              <a:pPr algn="l" marL="647700" indent="-323850" lvl="1">
                <a:lnSpc>
                  <a:spcPts val="4200"/>
                </a:lnSpc>
                <a:buFont typeface="Arial"/>
                <a:buChar char="•"/>
              </a:pPr>
              <a:r>
                <a:rPr lang="en-US" sz="3000">
                  <a:solidFill>
                    <a:srgbClr val="1E302C"/>
                  </a:solidFill>
                  <a:latin typeface="Alice"/>
                  <a:ea typeface="Alice"/>
                  <a:cs typeface="Alice"/>
                  <a:sym typeface="Alice"/>
                </a:rPr>
                <a:t>Diagram represents the static structure of the Job Portal System.</a:t>
              </a:r>
            </a:p>
            <a:p>
              <a:pPr algn="l" marL="647700" indent="-323850" lvl="1">
                <a:lnSpc>
                  <a:spcPts val="4200"/>
                </a:lnSpc>
                <a:buFont typeface="Arial"/>
                <a:buChar char="•"/>
              </a:pPr>
              <a:r>
                <a:rPr lang="en-US" sz="3000">
                  <a:solidFill>
                    <a:srgbClr val="1E302C"/>
                  </a:solidFill>
                  <a:latin typeface="Alice"/>
                  <a:ea typeface="Alice"/>
                  <a:cs typeface="Alice"/>
                  <a:sym typeface="Alice"/>
                </a:rPr>
                <a:t>Class Diagram helps in object-oriented system design.</a:t>
              </a:r>
            </a:p>
            <a:p>
              <a:pPr algn="l" marL="647700" indent="-323850" lvl="1">
                <a:lnSpc>
                  <a:spcPts val="4200"/>
                </a:lnSpc>
                <a:buFont typeface="Arial"/>
                <a:buChar char="•"/>
              </a:pPr>
              <a:r>
                <a:rPr lang="en-US" sz="3000">
                  <a:solidFill>
                    <a:srgbClr val="1E302C"/>
                  </a:solidFill>
                  <a:latin typeface="Alice"/>
                  <a:ea typeface="Alice"/>
                  <a:cs typeface="Alice"/>
                  <a:sym typeface="Alice"/>
                </a:rPr>
                <a:t>Diagram is useful for coding and database planning.</a:t>
              </a:r>
            </a:p>
          </p:txBody>
        </p:sp>
      </p:grpSp>
      <p:sp>
        <p:nvSpPr>
          <p:cNvPr name="Freeform 8" id="8"/>
          <p:cNvSpPr/>
          <p:nvPr/>
        </p:nvSpPr>
        <p:spPr>
          <a:xfrm flipH="false" flipV="false" rot="0">
            <a:off x="1085850" y="1230931"/>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760949" y="2994403"/>
            <a:ext cx="5207359" cy="5038602"/>
          </a:xfrm>
          <a:custGeom>
            <a:avLst/>
            <a:gdLst/>
            <a:ahLst/>
            <a:cxnLst/>
            <a:rect r="r" b="b" t="t" l="l"/>
            <a:pathLst>
              <a:path h="5038602" w="5207359">
                <a:moveTo>
                  <a:pt x="0" y="0"/>
                </a:moveTo>
                <a:lnTo>
                  <a:pt x="5207359" y="0"/>
                </a:lnTo>
                <a:lnTo>
                  <a:pt x="5207359" y="5038602"/>
                </a:lnTo>
                <a:lnTo>
                  <a:pt x="0" y="5038602"/>
                </a:lnTo>
                <a:lnTo>
                  <a:pt x="0" y="0"/>
                </a:lnTo>
                <a:close/>
              </a:path>
            </a:pathLst>
          </a:custGeom>
          <a:blipFill>
            <a:blip r:embed="rId4"/>
            <a:stretch>
              <a:fillRect l="0" t="0" r="0" b="0"/>
            </a:stretch>
          </a:blipFill>
        </p:spPr>
      </p:sp>
      <p:sp>
        <p:nvSpPr>
          <p:cNvPr name="TextBox 10" id="10"/>
          <p:cNvSpPr txBox="true"/>
          <p:nvPr/>
        </p:nvSpPr>
        <p:spPr>
          <a:xfrm rot="0">
            <a:off x="2156190" y="859458"/>
            <a:ext cx="7508028" cy="1244600"/>
          </a:xfrm>
          <a:prstGeom prst="rect">
            <a:avLst/>
          </a:prstGeom>
        </p:spPr>
        <p:txBody>
          <a:bodyPr anchor="t" rtlCol="false" tIns="0" lIns="0" bIns="0" rIns="0">
            <a:spAutoFit/>
          </a:bodyPr>
          <a:lstStyle/>
          <a:p>
            <a:pPr algn="l" marL="0" indent="0" lvl="0">
              <a:lnSpc>
                <a:spcPts val="9100"/>
              </a:lnSpc>
              <a:spcBef>
                <a:spcPct val="0"/>
              </a:spcBef>
            </a:pPr>
            <a:r>
              <a:rPr lang="en-US" sz="6500">
                <a:solidFill>
                  <a:srgbClr val="8F6234"/>
                </a:solidFill>
                <a:latin typeface="Times New Roman MT"/>
                <a:ea typeface="Times New Roman MT"/>
                <a:cs typeface="Times New Roman MT"/>
                <a:sym typeface="Times New Roman MT"/>
              </a:rPr>
              <a:t>CLASS DIAGRAM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15734" y="2738119"/>
            <a:ext cx="9247234" cy="5589270"/>
            <a:chOff x="0" y="0"/>
            <a:chExt cx="1944719" cy="1175439"/>
          </a:xfrm>
        </p:grpSpPr>
        <p:sp>
          <p:nvSpPr>
            <p:cNvPr name="Freeform 6" id="6"/>
            <p:cNvSpPr/>
            <p:nvPr/>
          </p:nvSpPr>
          <p:spPr>
            <a:xfrm flipH="false" flipV="false" rot="0">
              <a:off x="0" y="0"/>
              <a:ext cx="1944719" cy="1175439"/>
            </a:xfrm>
            <a:custGeom>
              <a:avLst/>
              <a:gdLst/>
              <a:ahLst/>
              <a:cxnLst/>
              <a:rect r="r" b="b" t="t" l="l"/>
              <a:pathLst>
                <a:path h="1175439" w="1944719">
                  <a:moveTo>
                    <a:pt x="25954" y="0"/>
                  </a:moveTo>
                  <a:lnTo>
                    <a:pt x="1918765" y="0"/>
                  </a:lnTo>
                  <a:cubicBezTo>
                    <a:pt x="1933099" y="0"/>
                    <a:pt x="1944719" y="11620"/>
                    <a:pt x="1944719" y="25954"/>
                  </a:cubicBezTo>
                  <a:lnTo>
                    <a:pt x="1944719" y="1149485"/>
                  </a:lnTo>
                  <a:cubicBezTo>
                    <a:pt x="1944719" y="1163819"/>
                    <a:pt x="1933099" y="1175439"/>
                    <a:pt x="1918765" y="1175439"/>
                  </a:cubicBezTo>
                  <a:lnTo>
                    <a:pt x="25954" y="1175439"/>
                  </a:lnTo>
                  <a:cubicBezTo>
                    <a:pt x="11620" y="1175439"/>
                    <a:pt x="0" y="1163819"/>
                    <a:pt x="0" y="1149485"/>
                  </a:cubicBezTo>
                  <a:lnTo>
                    <a:pt x="0" y="25954"/>
                  </a:lnTo>
                  <a:cubicBezTo>
                    <a:pt x="0" y="11620"/>
                    <a:pt x="11620" y="0"/>
                    <a:pt x="25954" y="0"/>
                  </a:cubicBezTo>
                  <a:close/>
                </a:path>
              </a:pathLst>
            </a:custGeom>
            <a:solidFill>
              <a:srgbClr val="FFE5BA"/>
            </a:solidFill>
          </p:spPr>
        </p:sp>
        <p:sp>
          <p:nvSpPr>
            <p:cNvPr name="TextBox 7" id="7"/>
            <p:cNvSpPr txBox="true"/>
            <p:nvPr/>
          </p:nvSpPr>
          <p:spPr>
            <a:xfrm>
              <a:off x="0" y="-66675"/>
              <a:ext cx="1944719" cy="1242114"/>
            </a:xfrm>
            <a:prstGeom prst="rect">
              <a:avLst/>
            </a:prstGeom>
          </p:spPr>
          <p:txBody>
            <a:bodyPr anchor="t" rtlCol="false" tIns="152400" lIns="152400" bIns="152400" rIns="152400"/>
            <a:lstStyle/>
            <a:p>
              <a:pPr algn="l" marL="647700" indent="-323850" lvl="1">
                <a:lnSpc>
                  <a:spcPts val="4200"/>
                </a:lnSpc>
                <a:buFont typeface="Arial"/>
                <a:buChar char="•"/>
              </a:pPr>
              <a:r>
                <a:rPr lang="en-US" sz="3000">
                  <a:solidFill>
                    <a:srgbClr val="1E302C"/>
                  </a:solidFill>
                  <a:latin typeface="Alice"/>
                  <a:ea typeface="Alice"/>
                  <a:cs typeface="Alice"/>
                  <a:sym typeface="Alice"/>
                </a:rPr>
                <a:t>Sequence Diagram shows the step-by-step interaction between objects over time.</a:t>
              </a:r>
            </a:p>
            <a:p>
              <a:pPr algn="l" marL="647700" indent="-323850" lvl="1">
                <a:lnSpc>
                  <a:spcPts val="4200"/>
                </a:lnSpc>
                <a:buFont typeface="Arial"/>
                <a:buChar char="•"/>
              </a:pPr>
              <a:r>
                <a:rPr lang="en-US" sz="3000">
                  <a:solidFill>
                    <a:srgbClr val="1E302C"/>
                  </a:solidFill>
                  <a:latin typeface="Alice"/>
                  <a:ea typeface="Alice"/>
                  <a:cs typeface="Alice"/>
                  <a:sym typeface="Alice"/>
                </a:rPr>
                <a:t>Diagram explains processes such as login and applying for jobs.</a:t>
              </a:r>
            </a:p>
            <a:p>
              <a:pPr algn="l" marL="647700" indent="-323850" lvl="1">
                <a:lnSpc>
                  <a:spcPts val="4200"/>
                </a:lnSpc>
                <a:buFont typeface="Arial"/>
                <a:buChar char="•"/>
              </a:pPr>
              <a:r>
                <a:rPr lang="en-US" sz="3000">
                  <a:solidFill>
                    <a:srgbClr val="1E302C"/>
                  </a:solidFill>
                  <a:latin typeface="Alice"/>
                  <a:ea typeface="Alice"/>
                  <a:cs typeface="Alice"/>
                  <a:sym typeface="Alice"/>
                </a:rPr>
                <a:t>Sequence Diagram represents message flow between user and system components.</a:t>
              </a:r>
            </a:p>
            <a:p>
              <a:pPr algn="l" marL="647700" indent="-323850" lvl="1">
                <a:lnSpc>
                  <a:spcPts val="4200"/>
                </a:lnSpc>
                <a:buFont typeface="Arial"/>
                <a:buChar char="•"/>
              </a:pPr>
              <a:r>
                <a:rPr lang="en-US" sz="3000">
                  <a:solidFill>
                    <a:srgbClr val="1E302C"/>
                  </a:solidFill>
                  <a:latin typeface="Alice"/>
                  <a:ea typeface="Alice"/>
                  <a:cs typeface="Alice"/>
                  <a:sym typeface="Alice"/>
                </a:rPr>
                <a:t>Diagram helps in understanding the execution order of processes.</a:t>
              </a:r>
            </a:p>
            <a:p>
              <a:pPr algn="l" marL="647700" indent="-323850" lvl="1">
                <a:lnSpc>
                  <a:spcPts val="4200"/>
                </a:lnSpc>
                <a:buFont typeface="Arial"/>
                <a:buChar char="•"/>
              </a:pPr>
              <a:r>
                <a:rPr lang="en-US" sz="3000">
                  <a:solidFill>
                    <a:srgbClr val="1E302C"/>
                  </a:solidFill>
                  <a:latin typeface="Alice"/>
                  <a:ea typeface="Alice"/>
                  <a:cs typeface="Alice"/>
                  <a:sym typeface="Alice"/>
                </a:rPr>
                <a:t>Sequence Diagram is useful for analyzing dynamic behavior.</a:t>
              </a:r>
            </a:p>
          </p:txBody>
        </p:sp>
      </p:grpSp>
      <p:sp>
        <p:nvSpPr>
          <p:cNvPr name="Freeform 8" id="8"/>
          <p:cNvSpPr/>
          <p:nvPr/>
        </p:nvSpPr>
        <p:spPr>
          <a:xfrm flipH="false" flipV="false" rot="0">
            <a:off x="1085850" y="1230931"/>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496660" y="2757169"/>
            <a:ext cx="6248415" cy="5496291"/>
          </a:xfrm>
          <a:custGeom>
            <a:avLst/>
            <a:gdLst/>
            <a:ahLst/>
            <a:cxnLst/>
            <a:rect r="r" b="b" t="t" l="l"/>
            <a:pathLst>
              <a:path h="5496291" w="6248415">
                <a:moveTo>
                  <a:pt x="0" y="0"/>
                </a:moveTo>
                <a:lnTo>
                  <a:pt x="6248415" y="0"/>
                </a:lnTo>
                <a:lnTo>
                  <a:pt x="6248415" y="5496291"/>
                </a:lnTo>
                <a:lnTo>
                  <a:pt x="0" y="5496291"/>
                </a:lnTo>
                <a:lnTo>
                  <a:pt x="0" y="0"/>
                </a:lnTo>
                <a:close/>
              </a:path>
            </a:pathLst>
          </a:custGeom>
          <a:blipFill>
            <a:blip r:embed="rId4"/>
            <a:stretch>
              <a:fillRect l="0" t="0" r="0" b="0"/>
            </a:stretch>
          </a:blipFill>
        </p:spPr>
      </p:sp>
      <p:sp>
        <p:nvSpPr>
          <p:cNvPr name="TextBox 10" id="10"/>
          <p:cNvSpPr txBox="true"/>
          <p:nvPr/>
        </p:nvSpPr>
        <p:spPr>
          <a:xfrm rot="0">
            <a:off x="2156190" y="859458"/>
            <a:ext cx="9512300" cy="1244600"/>
          </a:xfrm>
          <a:prstGeom prst="rect">
            <a:avLst/>
          </a:prstGeom>
        </p:spPr>
        <p:txBody>
          <a:bodyPr anchor="t" rtlCol="false" tIns="0" lIns="0" bIns="0" rIns="0">
            <a:spAutoFit/>
          </a:bodyPr>
          <a:lstStyle/>
          <a:p>
            <a:pPr algn="l" marL="0" indent="0" lvl="0">
              <a:lnSpc>
                <a:spcPts val="9100"/>
              </a:lnSpc>
              <a:spcBef>
                <a:spcPct val="0"/>
              </a:spcBef>
            </a:pPr>
            <a:r>
              <a:rPr lang="en-US" sz="6500">
                <a:solidFill>
                  <a:srgbClr val="8F6234"/>
                </a:solidFill>
                <a:latin typeface="Times New Roman MT"/>
                <a:ea typeface="Times New Roman MT"/>
                <a:cs typeface="Times New Roman MT"/>
                <a:sym typeface="Times New Roman MT"/>
              </a:rPr>
              <a:t>SEQUENCE DIAGRAM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83718" y="2753883"/>
            <a:ext cx="8749037" cy="6122670"/>
            <a:chOff x="0" y="0"/>
            <a:chExt cx="1839947" cy="1287614"/>
          </a:xfrm>
        </p:grpSpPr>
        <p:sp>
          <p:nvSpPr>
            <p:cNvPr name="Freeform 6" id="6"/>
            <p:cNvSpPr/>
            <p:nvPr/>
          </p:nvSpPr>
          <p:spPr>
            <a:xfrm flipH="false" flipV="false" rot="0">
              <a:off x="0" y="0"/>
              <a:ext cx="1839947" cy="1287614"/>
            </a:xfrm>
            <a:custGeom>
              <a:avLst/>
              <a:gdLst/>
              <a:ahLst/>
              <a:cxnLst/>
              <a:rect r="r" b="b" t="t" l="l"/>
              <a:pathLst>
                <a:path h="1287614" w="1839947">
                  <a:moveTo>
                    <a:pt x="27432" y="0"/>
                  </a:moveTo>
                  <a:lnTo>
                    <a:pt x="1812515" y="0"/>
                  </a:lnTo>
                  <a:cubicBezTo>
                    <a:pt x="1819790" y="0"/>
                    <a:pt x="1826768" y="2890"/>
                    <a:pt x="1831912" y="8035"/>
                  </a:cubicBezTo>
                  <a:cubicBezTo>
                    <a:pt x="1837056" y="13179"/>
                    <a:pt x="1839947" y="20156"/>
                    <a:pt x="1839947" y="27432"/>
                  </a:cubicBezTo>
                  <a:lnTo>
                    <a:pt x="1839947" y="1260183"/>
                  </a:lnTo>
                  <a:cubicBezTo>
                    <a:pt x="1839947" y="1267458"/>
                    <a:pt x="1837056" y="1274435"/>
                    <a:pt x="1831912" y="1279580"/>
                  </a:cubicBezTo>
                  <a:cubicBezTo>
                    <a:pt x="1826768" y="1284724"/>
                    <a:pt x="1819790" y="1287614"/>
                    <a:pt x="1812515" y="1287614"/>
                  </a:cubicBezTo>
                  <a:lnTo>
                    <a:pt x="27432" y="1287614"/>
                  </a:lnTo>
                  <a:cubicBezTo>
                    <a:pt x="20156" y="1287614"/>
                    <a:pt x="13179" y="1284724"/>
                    <a:pt x="8035" y="1279580"/>
                  </a:cubicBezTo>
                  <a:cubicBezTo>
                    <a:pt x="2890" y="1274435"/>
                    <a:pt x="0" y="1267458"/>
                    <a:pt x="0" y="1260183"/>
                  </a:cubicBezTo>
                  <a:lnTo>
                    <a:pt x="0" y="27432"/>
                  </a:lnTo>
                  <a:cubicBezTo>
                    <a:pt x="0" y="20156"/>
                    <a:pt x="2890" y="13179"/>
                    <a:pt x="8035" y="8035"/>
                  </a:cubicBezTo>
                  <a:cubicBezTo>
                    <a:pt x="13179" y="2890"/>
                    <a:pt x="20156" y="0"/>
                    <a:pt x="27432" y="0"/>
                  </a:cubicBezTo>
                  <a:close/>
                </a:path>
              </a:pathLst>
            </a:custGeom>
            <a:solidFill>
              <a:srgbClr val="FFE5BA"/>
            </a:solidFill>
          </p:spPr>
        </p:sp>
        <p:sp>
          <p:nvSpPr>
            <p:cNvPr name="TextBox 7" id="7"/>
            <p:cNvSpPr txBox="true"/>
            <p:nvPr/>
          </p:nvSpPr>
          <p:spPr>
            <a:xfrm>
              <a:off x="0" y="-66675"/>
              <a:ext cx="1839947" cy="1354289"/>
            </a:xfrm>
            <a:prstGeom prst="rect">
              <a:avLst/>
            </a:prstGeom>
          </p:spPr>
          <p:txBody>
            <a:bodyPr anchor="t" rtlCol="false" tIns="152400" lIns="152400" bIns="152400" rIns="152400"/>
            <a:lstStyle/>
            <a:p>
              <a:pPr algn="l" marL="647700" indent="-323850" lvl="1">
                <a:lnSpc>
                  <a:spcPts val="4200"/>
                </a:lnSpc>
                <a:buFont typeface="Arial"/>
                <a:buChar char="•"/>
              </a:pPr>
              <a:r>
                <a:rPr lang="en-US" sz="3000">
                  <a:solidFill>
                    <a:srgbClr val="1E302C"/>
                  </a:solidFill>
                  <a:latin typeface="Alice"/>
                  <a:ea typeface="Alice"/>
                  <a:cs typeface="Alice"/>
                  <a:sym typeface="Alice"/>
                </a:rPr>
                <a:t>Collaboration Diagram shows communication between different objects in the system.</a:t>
              </a:r>
            </a:p>
            <a:p>
              <a:pPr algn="l" marL="647700" indent="-323850" lvl="1">
                <a:lnSpc>
                  <a:spcPts val="4200"/>
                </a:lnSpc>
                <a:buFont typeface="Arial"/>
                <a:buChar char="•"/>
              </a:pPr>
              <a:r>
                <a:rPr lang="en-US" sz="3000">
                  <a:solidFill>
                    <a:srgbClr val="1E302C"/>
                  </a:solidFill>
                  <a:latin typeface="Alice"/>
                  <a:ea typeface="Alice"/>
                  <a:cs typeface="Alice"/>
                  <a:sym typeface="Alice"/>
                </a:rPr>
                <a:t>Diagram focuses on message exchange among modules.</a:t>
              </a:r>
            </a:p>
            <a:p>
              <a:pPr algn="l" marL="647700" indent="-323850" lvl="1">
                <a:lnSpc>
                  <a:spcPts val="4200"/>
                </a:lnSpc>
                <a:buFont typeface="Arial"/>
                <a:buChar char="•"/>
              </a:pPr>
              <a:r>
                <a:rPr lang="en-US" sz="3000">
                  <a:solidFill>
                    <a:srgbClr val="1E302C"/>
                  </a:solidFill>
                  <a:latin typeface="Alice"/>
                  <a:ea typeface="Alice"/>
                  <a:cs typeface="Alice"/>
                  <a:sym typeface="Alice"/>
                </a:rPr>
                <a:t>Main objects include user interface, controller, and database.</a:t>
              </a:r>
            </a:p>
            <a:p>
              <a:pPr algn="l" marL="647700" indent="-323850" lvl="1">
                <a:lnSpc>
                  <a:spcPts val="4200"/>
                </a:lnSpc>
                <a:buFont typeface="Arial"/>
                <a:buChar char="•"/>
              </a:pPr>
              <a:r>
                <a:rPr lang="en-US" sz="3000">
                  <a:solidFill>
                    <a:srgbClr val="1E302C"/>
                  </a:solidFill>
                  <a:latin typeface="Alice"/>
                  <a:ea typeface="Alice"/>
                  <a:cs typeface="Alice"/>
                  <a:sym typeface="Alice"/>
                </a:rPr>
                <a:t>Collaboration Diagram helps in understanding coordination between components.</a:t>
              </a:r>
            </a:p>
            <a:p>
              <a:pPr algn="l" marL="647700" indent="-323850" lvl="1">
                <a:lnSpc>
                  <a:spcPts val="4200"/>
                </a:lnSpc>
                <a:buFont typeface="Arial"/>
                <a:buChar char="•"/>
              </a:pPr>
              <a:r>
                <a:rPr lang="en-US" sz="3000">
                  <a:solidFill>
                    <a:srgbClr val="1E302C"/>
                  </a:solidFill>
                  <a:latin typeface="Alice"/>
                  <a:ea typeface="Alice"/>
                  <a:cs typeface="Alice"/>
                  <a:sym typeface="Alice"/>
                </a:rPr>
                <a:t>Diagram is useful for process interaction design.</a:t>
              </a:r>
            </a:p>
          </p:txBody>
        </p:sp>
      </p:grpSp>
      <p:sp>
        <p:nvSpPr>
          <p:cNvPr name="Freeform 8" id="8"/>
          <p:cNvSpPr/>
          <p:nvPr/>
        </p:nvSpPr>
        <p:spPr>
          <a:xfrm flipH="false" flipV="false" rot="0">
            <a:off x="1085850" y="1230931"/>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268981" y="3208746"/>
            <a:ext cx="5933169" cy="4565244"/>
          </a:xfrm>
          <a:custGeom>
            <a:avLst/>
            <a:gdLst/>
            <a:ahLst/>
            <a:cxnLst/>
            <a:rect r="r" b="b" t="t" l="l"/>
            <a:pathLst>
              <a:path h="4565244" w="5933169">
                <a:moveTo>
                  <a:pt x="0" y="0"/>
                </a:moveTo>
                <a:lnTo>
                  <a:pt x="5933169" y="0"/>
                </a:lnTo>
                <a:lnTo>
                  <a:pt x="5933169" y="4565244"/>
                </a:lnTo>
                <a:lnTo>
                  <a:pt x="0" y="4565244"/>
                </a:lnTo>
                <a:lnTo>
                  <a:pt x="0" y="0"/>
                </a:lnTo>
                <a:close/>
              </a:path>
            </a:pathLst>
          </a:custGeom>
          <a:blipFill>
            <a:blip r:embed="rId4"/>
            <a:stretch>
              <a:fillRect l="0" t="0" r="0" b="0"/>
            </a:stretch>
          </a:blipFill>
        </p:spPr>
      </p:sp>
      <p:sp>
        <p:nvSpPr>
          <p:cNvPr name="TextBox 10" id="10"/>
          <p:cNvSpPr txBox="true"/>
          <p:nvPr/>
        </p:nvSpPr>
        <p:spPr>
          <a:xfrm rot="0">
            <a:off x="2156190" y="859458"/>
            <a:ext cx="12428009" cy="1244600"/>
          </a:xfrm>
          <a:prstGeom prst="rect">
            <a:avLst/>
          </a:prstGeom>
        </p:spPr>
        <p:txBody>
          <a:bodyPr anchor="t" rtlCol="false" tIns="0" lIns="0" bIns="0" rIns="0">
            <a:spAutoFit/>
          </a:bodyPr>
          <a:lstStyle/>
          <a:p>
            <a:pPr algn="l" marL="0" indent="0" lvl="0">
              <a:lnSpc>
                <a:spcPts val="9100"/>
              </a:lnSpc>
              <a:spcBef>
                <a:spcPct val="0"/>
              </a:spcBef>
            </a:pPr>
            <a:r>
              <a:rPr lang="en-US" sz="6500">
                <a:solidFill>
                  <a:srgbClr val="8F6234"/>
                </a:solidFill>
                <a:latin typeface="Times New Roman MT"/>
                <a:ea typeface="Times New Roman MT"/>
                <a:cs typeface="Times New Roman MT"/>
                <a:sym typeface="Times New Roman MT"/>
              </a:rPr>
              <a:t>COLLABORATION DIAGRAM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156190" y="2738119"/>
            <a:ext cx="8770750" cy="5589270"/>
            <a:chOff x="0" y="0"/>
            <a:chExt cx="1844513" cy="1175439"/>
          </a:xfrm>
        </p:grpSpPr>
        <p:sp>
          <p:nvSpPr>
            <p:cNvPr name="Freeform 6" id="6"/>
            <p:cNvSpPr/>
            <p:nvPr/>
          </p:nvSpPr>
          <p:spPr>
            <a:xfrm flipH="false" flipV="false" rot="0">
              <a:off x="0" y="0"/>
              <a:ext cx="1844513" cy="1175439"/>
            </a:xfrm>
            <a:custGeom>
              <a:avLst/>
              <a:gdLst/>
              <a:ahLst/>
              <a:cxnLst/>
              <a:rect r="r" b="b" t="t" l="l"/>
              <a:pathLst>
                <a:path h="1175439" w="1844513">
                  <a:moveTo>
                    <a:pt x="27364" y="0"/>
                  </a:moveTo>
                  <a:lnTo>
                    <a:pt x="1817149" y="0"/>
                  </a:lnTo>
                  <a:cubicBezTo>
                    <a:pt x="1832262" y="0"/>
                    <a:pt x="1844513" y="12251"/>
                    <a:pt x="1844513" y="27364"/>
                  </a:cubicBezTo>
                  <a:lnTo>
                    <a:pt x="1844513" y="1148075"/>
                  </a:lnTo>
                  <a:cubicBezTo>
                    <a:pt x="1844513" y="1155332"/>
                    <a:pt x="1841630" y="1162293"/>
                    <a:pt x="1836498" y="1167424"/>
                  </a:cubicBezTo>
                  <a:cubicBezTo>
                    <a:pt x="1831367" y="1172556"/>
                    <a:pt x="1824407" y="1175439"/>
                    <a:pt x="1817149" y="1175439"/>
                  </a:cubicBezTo>
                  <a:lnTo>
                    <a:pt x="27364" y="1175439"/>
                  </a:lnTo>
                  <a:cubicBezTo>
                    <a:pt x="12251" y="1175439"/>
                    <a:pt x="0" y="1163188"/>
                    <a:pt x="0" y="1148075"/>
                  </a:cubicBezTo>
                  <a:lnTo>
                    <a:pt x="0" y="27364"/>
                  </a:lnTo>
                  <a:cubicBezTo>
                    <a:pt x="0" y="20106"/>
                    <a:pt x="2883" y="13146"/>
                    <a:pt x="8015" y="8015"/>
                  </a:cubicBezTo>
                  <a:cubicBezTo>
                    <a:pt x="13146" y="2883"/>
                    <a:pt x="20106" y="0"/>
                    <a:pt x="27364" y="0"/>
                  </a:cubicBezTo>
                  <a:close/>
                </a:path>
              </a:pathLst>
            </a:custGeom>
            <a:solidFill>
              <a:srgbClr val="FFE5BA"/>
            </a:solidFill>
          </p:spPr>
        </p:sp>
        <p:sp>
          <p:nvSpPr>
            <p:cNvPr name="TextBox 7" id="7"/>
            <p:cNvSpPr txBox="true"/>
            <p:nvPr/>
          </p:nvSpPr>
          <p:spPr>
            <a:xfrm>
              <a:off x="0" y="-66675"/>
              <a:ext cx="1844513" cy="1242114"/>
            </a:xfrm>
            <a:prstGeom prst="rect">
              <a:avLst/>
            </a:prstGeom>
          </p:spPr>
          <p:txBody>
            <a:bodyPr anchor="t" rtlCol="false" tIns="152400" lIns="152400" bIns="152400" rIns="152400"/>
            <a:lstStyle/>
            <a:p>
              <a:pPr algn="l" marL="647700" indent="-323850" lvl="1">
                <a:lnSpc>
                  <a:spcPts val="4200"/>
                </a:lnSpc>
                <a:buFont typeface="Arial"/>
                <a:buChar char="•"/>
              </a:pPr>
              <a:r>
                <a:rPr lang="en-US" sz="3000">
                  <a:solidFill>
                    <a:srgbClr val="1E302C"/>
                  </a:solidFill>
                  <a:latin typeface="Alice"/>
                  <a:ea typeface="Alice"/>
                  <a:cs typeface="Alice"/>
                  <a:sym typeface="Alice"/>
                </a:rPr>
                <a:t>Activity Diagram represents the workflow of activities in the system.</a:t>
              </a:r>
            </a:p>
            <a:p>
              <a:pPr algn="l" marL="647700" indent="-323850" lvl="1">
                <a:lnSpc>
                  <a:spcPts val="4200"/>
                </a:lnSpc>
                <a:buFont typeface="Arial"/>
                <a:buChar char="•"/>
              </a:pPr>
              <a:r>
                <a:rPr lang="en-US" sz="3000">
                  <a:solidFill>
                    <a:srgbClr val="1E302C"/>
                  </a:solidFill>
                  <a:latin typeface="Alice"/>
                  <a:ea typeface="Alice"/>
                  <a:cs typeface="Alice"/>
                  <a:sym typeface="Alice"/>
                </a:rPr>
                <a:t>Diagram shows steps such as registration, login, and job search.</a:t>
              </a:r>
            </a:p>
            <a:p>
              <a:pPr algn="l" marL="647700" indent="-323850" lvl="1">
                <a:lnSpc>
                  <a:spcPts val="4200"/>
                </a:lnSpc>
                <a:buFont typeface="Arial"/>
                <a:buChar char="•"/>
              </a:pPr>
              <a:r>
                <a:rPr lang="en-US" sz="3000">
                  <a:solidFill>
                    <a:srgbClr val="1E302C"/>
                  </a:solidFill>
                  <a:latin typeface="Alice"/>
                  <a:ea typeface="Alice"/>
                  <a:cs typeface="Alice"/>
                  <a:sym typeface="Alice"/>
                </a:rPr>
                <a:t>Activity Diagram includes decision points and control flow.</a:t>
              </a:r>
            </a:p>
            <a:p>
              <a:pPr algn="l" marL="647700" indent="-323850" lvl="1">
                <a:lnSpc>
                  <a:spcPts val="4200"/>
                </a:lnSpc>
                <a:buFont typeface="Arial"/>
                <a:buChar char="•"/>
              </a:pPr>
              <a:r>
                <a:rPr lang="en-US" sz="3000">
                  <a:solidFill>
                    <a:srgbClr val="1E302C"/>
                  </a:solidFill>
                  <a:latin typeface="Alice"/>
                  <a:ea typeface="Alice"/>
                  <a:cs typeface="Alice"/>
                  <a:sym typeface="Alice"/>
                </a:rPr>
                <a:t>Diagram helps in understanding complete business processes.</a:t>
              </a:r>
            </a:p>
            <a:p>
              <a:pPr algn="l" marL="647700" indent="-323850" lvl="1">
                <a:lnSpc>
                  <a:spcPts val="4200"/>
                </a:lnSpc>
                <a:buFont typeface="Arial"/>
                <a:buChar char="•"/>
              </a:pPr>
              <a:r>
                <a:rPr lang="en-US" sz="3000">
                  <a:solidFill>
                    <a:srgbClr val="1E302C"/>
                  </a:solidFill>
                  <a:latin typeface="Alice"/>
                  <a:ea typeface="Alice"/>
                  <a:cs typeface="Alice"/>
                  <a:sym typeface="Alice"/>
                </a:rPr>
                <a:t>Activity Diagram is useful for logic and flow planning.</a:t>
              </a:r>
            </a:p>
          </p:txBody>
        </p:sp>
      </p:grpSp>
      <p:sp>
        <p:nvSpPr>
          <p:cNvPr name="Freeform 8" id="8"/>
          <p:cNvSpPr/>
          <p:nvPr/>
        </p:nvSpPr>
        <p:spPr>
          <a:xfrm flipH="false" flipV="false" rot="0">
            <a:off x="1085850" y="1230931"/>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043502" y="1928799"/>
            <a:ext cx="4814527" cy="6401538"/>
          </a:xfrm>
          <a:custGeom>
            <a:avLst/>
            <a:gdLst/>
            <a:ahLst/>
            <a:cxnLst/>
            <a:rect r="r" b="b" t="t" l="l"/>
            <a:pathLst>
              <a:path h="6401538" w="4814527">
                <a:moveTo>
                  <a:pt x="0" y="0"/>
                </a:moveTo>
                <a:lnTo>
                  <a:pt x="4814527" y="0"/>
                </a:lnTo>
                <a:lnTo>
                  <a:pt x="4814527" y="6401538"/>
                </a:lnTo>
                <a:lnTo>
                  <a:pt x="0" y="6401538"/>
                </a:lnTo>
                <a:lnTo>
                  <a:pt x="0" y="0"/>
                </a:lnTo>
                <a:close/>
              </a:path>
            </a:pathLst>
          </a:custGeom>
          <a:blipFill>
            <a:blip r:embed="rId4"/>
            <a:stretch>
              <a:fillRect l="0" t="0" r="0" b="0"/>
            </a:stretch>
          </a:blipFill>
        </p:spPr>
      </p:sp>
      <p:sp>
        <p:nvSpPr>
          <p:cNvPr name="TextBox 10" id="10"/>
          <p:cNvSpPr txBox="true"/>
          <p:nvPr/>
        </p:nvSpPr>
        <p:spPr>
          <a:xfrm rot="0">
            <a:off x="2156190" y="859458"/>
            <a:ext cx="9012873" cy="1244600"/>
          </a:xfrm>
          <a:prstGeom prst="rect">
            <a:avLst/>
          </a:prstGeom>
        </p:spPr>
        <p:txBody>
          <a:bodyPr anchor="t" rtlCol="false" tIns="0" lIns="0" bIns="0" rIns="0">
            <a:spAutoFit/>
          </a:bodyPr>
          <a:lstStyle/>
          <a:p>
            <a:pPr algn="l" marL="0" indent="0" lvl="0">
              <a:lnSpc>
                <a:spcPts val="9100"/>
              </a:lnSpc>
              <a:spcBef>
                <a:spcPct val="0"/>
              </a:spcBef>
            </a:pPr>
            <a:r>
              <a:rPr lang="en-US" sz="6500">
                <a:solidFill>
                  <a:srgbClr val="8F6234"/>
                </a:solidFill>
                <a:latin typeface="Times New Roman MT"/>
                <a:ea typeface="Times New Roman MT"/>
                <a:cs typeface="Times New Roman MT"/>
                <a:sym typeface="Times New Roman MT"/>
              </a:rPr>
              <a:t>ACTIVITY DIAGRAM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156190" y="2738119"/>
            <a:ext cx="7570022" cy="6122670"/>
            <a:chOff x="0" y="0"/>
            <a:chExt cx="1591996" cy="1287614"/>
          </a:xfrm>
        </p:grpSpPr>
        <p:sp>
          <p:nvSpPr>
            <p:cNvPr name="Freeform 6" id="6"/>
            <p:cNvSpPr/>
            <p:nvPr/>
          </p:nvSpPr>
          <p:spPr>
            <a:xfrm flipH="false" flipV="false" rot="0">
              <a:off x="0" y="0"/>
              <a:ext cx="1591996" cy="1287614"/>
            </a:xfrm>
            <a:custGeom>
              <a:avLst/>
              <a:gdLst/>
              <a:ahLst/>
              <a:cxnLst/>
              <a:rect r="r" b="b" t="t" l="l"/>
              <a:pathLst>
                <a:path h="1287614" w="1591996">
                  <a:moveTo>
                    <a:pt x="31704" y="0"/>
                  </a:moveTo>
                  <a:lnTo>
                    <a:pt x="1560292" y="0"/>
                  </a:lnTo>
                  <a:cubicBezTo>
                    <a:pt x="1577802" y="0"/>
                    <a:pt x="1591996" y="14194"/>
                    <a:pt x="1591996" y="31704"/>
                  </a:cubicBezTo>
                  <a:lnTo>
                    <a:pt x="1591996" y="1255910"/>
                  </a:lnTo>
                  <a:cubicBezTo>
                    <a:pt x="1591996" y="1273420"/>
                    <a:pt x="1577802" y="1287614"/>
                    <a:pt x="1560292" y="1287614"/>
                  </a:cubicBezTo>
                  <a:lnTo>
                    <a:pt x="31704" y="1287614"/>
                  </a:lnTo>
                  <a:cubicBezTo>
                    <a:pt x="14194" y="1287614"/>
                    <a:pt x="0" y="1273420"/>
                    <a:pt x="0" y="1255910"/>
                  </a:cubicBezTo>
                  <a:lnTo>
                    <a:pt x="0" y="31704"/>
                  </a:lnTo>
                  <a:cubicBezTo>
                    <a:pt x="0" y="14194"/>
                    <a:pt x="14194" y="0"/>
                    <a:pt x="31704" y="0"/>
                  </a:cubicBezTo>
                  <a:close/>
                </a:path>
              </a:pathLst>
            </a:custGeom>
            <a:solidFill>
              <a:srgbClr val="FFE5BA"/>
            </a:solidFill>
          </p:spPr>
        </p:sp>
        <p:sp>
          <p:nvSpPr>
            <p:cNvPr name="TextBox 7" id="7"/>
            <p:cNvSpPr txBox="true"/>
            <p:nvPr/>
          </p:nvSpPr>
          <p:spPr>
            <a:xfrm>
              <a:off x="0" y="-66675"/>
              <a:ext cx="1591996" cy="1354289"/>
            </a:xfrm>
            <a:prstGeom prst="rect">
              <a:avLst/>
            </a:prstGeom>
          </p:spPr>
          <p:txBody>
            <a:bodyPr anchor="t" rtlCol="false" tIns="152400" lIns="152400" bIns="152400" rIns="152400"/>
            <a:lstStyle/>
            <a:p>
              <a:pPr algn="l" marL="647700" indent="-323850" lvl="1">
                <a:lnSpc>
                  <a:spcPts val="4200"/>
                </a:lnSpc>
                <a:buFont typeface="Arial"/>
                <a:buChar char="•"/>
              </a:pPr>
              <a:r>
                <a:rPr lang="en-US" sz="3000">
                  <a:solidFill>
                    <a:srgbClr val="1E302C"/>
                  </a:solidFill>
                  <a:latin typeface="Alice"/>
                  <a:ea typeface="Alice"/>
                  <a:cs typeface="Alice"/>
                  <a:sym typeface="Alice"/>
                </a:rPr>
                <a:t>Component Diagram shows the major software modules of the system.</a:t>
              </a:r>
            </a:p>
            <a:p>
              <a:pPr algn="l" marL="647700" indent="-323850" lvl="1">
                <a:lnSpc>
                  <a:spcPts val="4200"/>
                </a:lnSpc>
                <a:buFont typeface="Arial"/>
                <a:buChar char="•"/>
              </a:pPr>
              <a:r>
                <a:rPr lang="en-US" sz="3000">
                  <a:solidFill>
                    <a:srgbClr val="1E302C"/>
                  </a:solidFill>
                  <a:latin typeface="Alice"/>
                  <a:ea typeface="Alice"/>
                  <a:cs typeface="Alice"/>
                  <a:sym typeface="Alice"/>
                </a:rPr>
                <a:t>Diagram includes frontend, backend, database, and authentication modules.</a:t>
              </a:r>
            </a:p>
            <a:p>
              <a:pPr algn="l" marL="647700" indent="-323850" lvl="1">
                <a:lnSpc>
                  <a:spcPts val="4200"/>
                </a:lnSpc>
                <a:buFont typeface="Arial"/>
                <a:buChar char="•"/>
              </a:pPr>
              <a:r>
                <a:rPr lang="en-US" sz="3000">
                  <a:solidFill>
                    <a:srgbClr val="1E302C"/>
                  </a:solidFill>
                  <a:latin typeface="Alice"/>
                  <a:ea typeface="Alice"/>
                  <a:cs typeface="Alice"/>
                  <a:sym typeface="Alice"/>
                </a:rPr>
                <a:t>Component Diagram represents dependency between system components.</a:t>
              </a:r>
            </a:p>
            <a:p>
              <a:pPr algn="l" marL="647700" indent="-323850" lvl="1">
                <a:lnSpc>
                  <a:spcPts val="4200"/>
                </a:lnSpc>
                <a:buFont typeface="Arial"/>
                <a:buChar char="•"/>
              </a:pPr>
              <a:r>
                <a:rPr lang="en-US" sz="3000">
                  <a:solidFill>
                    <a:srgbClr val="1E302C"/>
                  </a:solidFill>
                  <a:latin typeface="Alice"/>
                  <a:ea typeface="Alice"/>
                  <a:cs typeface="Alice"/>
                  <a:sym typeface="Alice"/>
                </a:rPr>
                <a:t>Diagram helps in understanding modular system design.</a:t>
              </a:r>
            </a:p>
            <a:p>
              <a:pPr algn="l" marL="647700" indent="-323850" lvl="1">
                <a:lnSpc>
                  <a:spcPts val="4200"/>
                </a:lnSpc>
                <a:buFont typeface="Arial"/>
                <a:buChar char="•"/>
              </a:pPr>
              <a:r>
                <a:rPr lang="en-US" sz="3000">
                  <a:solidFill>
                    <a:srgbClr val="1E302C"/>
                  </a:solidFill>
                  <a:latin typeface="Alice"/>
                  <a:ea typeface="Alice"/>
                  <a:cs typeface="Alice"/>
                  <a:sym typeface="Alice"/>
                </a:rPr>
                <a:t>Component Diagram is useful for software architecture planning.</a:t>
              </a:r>
            </a:p>
          </p:txBody>
        </p:sp>
      </p:grpSp>
      <p:sp>
        <p:nvSpPr>
          <p:cNvPr name="Freeform 8" id="8"/>
          <p:cNvSpPr/>
          <p:nvPr/>
        </p:nvSpPr>
        <p:spPr>
          <a:xfrm flipH="false" flipV="false" rot="0">
            <a:off x="1085850" y="1230931"/>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196590" y="3495373"/>
            <a:ext cx="7517848" cy="4608162"/>
          </a:xfrm>
          <a:custGeom>
            <a:avLst/>
            <a:gdLst/>
            <a:ahLst/>
            <a:cxnLst/>
            <a:rect r="r" b="b" t="t" l="l"/>
            <a:pathLst>
              <a:path h="4608162" w="7517848">
                <a:moveTo>
                  <a:pt x="0" y="0"/>
                </a:moveTo>
                <a:lnTo>
                  <a:pt x="7517848" y="0"/>
                </a:lnTo>
                <a:lnTo>
                  <a:pt x="7517848" y="4608162"/>
                </a:lnTo>
                <a:lnTo>
                  <a:pt x="0" y="4608162"/>
                </a:lnTo>
                <a:lnTo>
                  <a:pt x="0" y="0"/>
                </a:lnTo>
                <a:close/>
              </a:path>
            </a:pathLst>
          </a:custGeom>
          <a:blipFill>
            <a:blip r:embed="rId4"/>
            <a:stretch>
              <a:fillRect l="0" t="0" r="0" b="0"/>
            </a:stretch>
          </a:blipFill>
        </p:spPr>
      </p:sp>
      <p:sp>
        <p:nvSpPr>
          <p:cNvPr name="TextBox 10" id="10"/>
          <p:cNvSpPr txBox="true"/>
          <p:nvPr/>
        </p:nvSpPr>
        <p:spPr>
          <a:xfrm rot="0">
            <a:off x="2156190" y="859458"/>
            <a:ext cx="10458344" cy="1244600"/>
          </a:xfrm>
          <a:prstGeom prst="rect">
            <a:avLst/>
          </a:prstGeom>
        </p:spPr>
        <p:txBody>
          <a:bodyPr anchor="t" rtlCol="false" tIns="0" lIns="0" bIns="0" rIns="0">
            <a:spAutoFit/>
          </a:bodyPr>
          <a:lstStyle/>
          <a:p>
            <a:pPr algn="l" marL="0" indent="0" lvl="0">
              <a:lnSpc>
                <a:spcPts val="9100"/>
              </a:lnSpc>
              <a:spcBef>
                <a:spcPct val="0"/>
              </a:spcBef>
            </a:pPr>
            <a:r>
              <a:rPr lang="en-US" sz="6500">
                <a:solidFill>
                  <a:srgbClr val="8F6234"/>
                </a:solidFill>
                <a:latin typeface="Times New Roman MT"/>
                <a:ea typeface="Times New Roman MT"/>
                <a:cs typeface="Times New Roman MT"/>
                <a:sym typeface="Times New Roman MT"/>
              </a:rPr>
              <a:t>COMPONENT DIAGRAM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85850" y="2617675"/>
            <a:ext cx="8058150" cy="6122670"/>
            <a:chOff x="0" y="0"/>
            <a:chExt cx="1694651" cy="1287614"/>
          </a:xfrm>
        </p:grpSpPr>
        <p:sp>
          <p:nvSpPr>
            <p:cNvPr name="Freeform 6" id="6"/>
            <p:cNvSpPr/>
            <p:nvPr/>
          </p:nvSpPr>
          <p:spPr>
            <a:xfrm flipH="false" flipV="false" rot="0">
              <a:off x="0" y="0"/>
              <a:ext cx="1694651" cy="1287614"/>
            </a:xfrm>
            <a:custGeom>
              <a:avLst/>
              <a:gdLst/>
              <a:ahLst/>
              <a:cxnLst/>
              <a:rect r="r" b="b" t="t" l="l"/>
              <a:pathLst>
                <a:path h="1287614" w="1694651">
                  <a:moveTo>
                    <a:pt x="29783" y="0"/>
                  </a:moveTo>
                  <a:lnTo>
                    <a:pt x="1664868" y="0"/>
                  </a:lnTo>
                  <a:cubicBezTo>
                    <a:pt x="1672767" y="0"/>
                    <a:pt x="1680342" y="3138"/>
                    <a:pt x="1685928" y="8723"/>
                  </a:cubicBezTo>
                  <a:cubicBezTo>
                    <a:pt x="1691513" y="14309"/>
                    <a:pt x="1694651" y="21884"/>
                    <a:pt x="1694651" y="29783"/>
                  </a:cubicBezTo>
                  <a:lnTo>
                    <a:pt x="1694651" y="1257831"/>
                  </a:lnTo>
                  <a:cubicBezTo>
                    <a:pt x="1694651" y="1265730"/>
                    <a:pt x="1691513" y="1273306"/>
                    <a:pt x="1685928" y="1278891"/>
                  </a:cubicBezTo>
                  <a:cubicBezTo>
                    <a:pt x="1680342" y="1284476"/>
                    <a:pt x="1672767" y="1287614"/>
                    <a:pt x="1664868" y="1287614"/>
                  </a:cubicBezTo>
                  <a:lnTo>
                    <a:pt x="29783" y="1287614"/>
                  </a:lnTo>
                  <a:cubicBezTo>
                    <a:pt x="21884" y="1287614"/>
                    <a:pt x="14309" y="1284476"/>
                    <a:pt x="8723" y="1278891"/>
                  </a:cubicBezTo>
                  <a:cubicBezTo>
                    <a:pt x="3138" y="1273306"/>
                    <a:pt x="0" y="1265730"/>
                    <a:pt x="0" y="1257831"/>
                  </a:cubicBezTo>
                  <a:lnTo>
                    <a:pt x="0" y="29783"/>
                  </a:lnTo>
                  <a:cubicBezTo>
                    <a:pt x="0" y="21884"/>
                    <a:pt x="3138" y="14309"/>
                    <a:pt x="8723" y="8723"/>
                  </a:cubicBezTo>
                  <a:cubicBezTo>
                    <a:pt x="14309" y="3138"/>
                    <a:pt x="21884" y="0"/>
                    <a:pt x="29783" y="0"/>
                  </a:cubicBezTo>
                  <a:close/>
                </a:path>
              </a:pathLst>
            </a:custGeom>
            <a:solidFill>
              <a:srgbClr val="FFE5BA"/>
            </a:solidFill>
          </p:spPr>
        </p:sp>
        <p:sp>
          <p:nvSpPr>
            <p:cNvPr name="TextBox 7" id="7"/>
            <p:cNvSpPr txBox="true"/>
            <p:nvPr/>
          </p:nvSpPr>
          <p:spPr>
            <a:xfrm>
              <a:off x="0" y="-66675"/>
              <a:ext cx="1694651" cy="1354289"/>
            </a:xfrm>
            <a:prstGeom prst="rect">
              <a:avLst/>
            </a:prstGeom>
          </p:spPr>
          <p:txBody>
            <a:bodyPr anchor="t" rtlCol="false" tIns="152400" lIns="152400" bIns="152400" rIns="152400"/>
            <a:lstStyle/>
            <a:p>
              <a:pPr algn="l" marL="647700" indent="-323850" lvl="1">
                <a:lnSpc>
                  <a:spcPts val="4200"/>
                </a:lnSpc>
                <a:buFont typeface="Arial"/>
                <a:buChar char="•"/>
              </a:pPr>
              <a:r>
                <a:rPr lang="en-US" sz="3000">
                  <a:solidFill>
                    <a:srgbClr val="1E302C"/>
                  </a:solidFill>
                  <a:latin typeface="Alice"/>
                  <a:ea typeface="Alice"/>
                  <a:cs typeface="Alice"/>
                  <a:sym typeface="Alice"/>
                </a:rPr>
                <a:t>Deployment Diagram shows the hardware and network structure of the system.</a:t>
              </a:r>
            </a:p>
            <a:p>
              <a:pPr algn="l" marL="647700" indent="-323850" lvl="1">
                <a:lnSpc>
                  <a:spcPts val="4200"/>
                </a:lnSpc>
                <a:buFont typeface="Arial"/>
                <a:buChar char="•"/>
              </a:pPr>
              <a:r>
                <a:rPr lang="en-US" sz="3000">
                  <a:solidFill>
                    <a:srgbClr val="1E302C"/>
                  </a:solidFill>
                  <a:latin typeface="Alice"/>
                  <a:ea typeface="Alice"/>
                  <a:cs typeface="Alice"/>
                  <a:sym typeface="Alice"/>
                </a:rPr>
                <a:t>Diagram includes client devices, web server, and database server.</a:t>
              </a:r>
            </a:p>
            <a:p>
              <a:pPr algn="l" marL="647700" indent="-323850" lvl="1">
                <a:lnSpc>
                  <a:spcPts val="4200"/>
                </a:lnSpc>
                <a:buFont typeface="Arial"/>
                <a:buChar char="•"/>
              </a:pPr>
              <a:r>
                <a:rPr lang="en-US" sz="3000">
                  <a:solidFill>
                    <a:srgbClr val="1E302C"/>
                  </a:solidFill>
                  <a:latin typeface="Alice"/>
                  <a:ea typeface="Alice"/>
                  <a:cs typeface="Alice"/>
                  <a:sym typeface="Alice"/>
                </a:rPr>
                <a:t>Deployment Diagram represents the installation and execution environment.</a:t>
              </a:r>
            </a:p>
            <a:p>
              <a:pPr algn="l" marL="647700" indent="-323850" lvl="1">
                <a:lnSpc>
                  <a:spcPts val="4200"/>
                </a:lnSpc>
                <a:buFont typeface="Arial"/>
                <a:buChar char="•"/>
              </a:pPr>
              <a:r>
                <a:rPr lang="en-US" sz="3000">
                  <a:solidFill>
                    <a:srgbClr val="1E302C"/>
                  </a:solidFill>
                  <a:latin typeface="Alice"/>
                  <a:ea typeface="Alice"/>
                  <a:cs typeface="Alice"/>
                  <a:sym typeface="Alice"/>
                </a:rPr>
                <a:t>Diagram helps in understanding system connectivity.</a:t>
              </a:r>
            </a:p>
            <a:p>
              <a:pPr algn="l" marL="647700" indent="-323850" lvl="1">
                <a:lnSpc>
                  <a:spcPts val="4200"/>
                </a:lnSpc>
                <a:buFont typeface="Arial"/>
                <a:buChar char="•"/>
              </a:pPr>
              <a:r>
                <a:rPr lang="en-US" sz="3000">
                  <a:solidFill>
                    <a:srgbClr val="1E302C"/>
                  </a:solidFill>
                  <a:latin typeface="Alice"/>
                  <a:ea typeface="Alice"/>
                  <a:cs typeface="Alice"/>
                  <a:sym typeface="Alice"/>
                </a:rPr>
                <a:t>Deployment Diagram is useful for deployment planning.</a:t>
              </a:r>
            </a:p>
          </p:txBody>
        </p:sp>
      </p:grpSp>
      <p:sp>
        <p:nvSpPr>
          <p:cNvPr name="Freeform 8" id="8"/>
          <p:cNvSpPr/>
          <p:nvPr/>
        </p:nvSpPr>
        <p:spPr>
          <a:xfrm flipH="false" flipV="false" rot="0">
            <a:off x="1085850" y="1230931"/>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669781" y="3477239"/>
            <a:ext cx="7824181" cy="3332521"/>
          </a:xfrm>
          <a:custGeom>
            <a:avLst/>
            <a:gdLst/>
            <a:ahLst/>
            <a:cxnLst/>
            <a:rect r="r" b="b" t="t" l="l"/>
            <a:pathLst>
              <a:path h="3332521" w="7824181">
                <a:moveTo>
                  <a:pt x="0" y="0"/>
                </a:moveTo>
                <a:lnTo>
                  <a:pt x="7824180" y="0"/>
                </a:lnTo>
                <a:lnTo>
                  <a:pt x="7824180" y="3332522"/>
                </a:lnTo>
                <a:lnTo>
                  <a:pt x="0" y="3332522"/>
                </a:lnTo>
                <a:lnTo>
                  <a:pt x="0" y="0"/>
                </a:lnTo>
                <a:close/>
              </a:path>
            </a:pathLst>
          </a:custGeom>
          <a:blipFill>
            <a:blip r:embed="rId4"/>
            <a:stretch>
              <a:fillRect l="0" t="0" r="0" b="0"/>
            </a:stretch>
          </a:blipFill>
        </p:spPr>
      </p:sp>
      <p:sp>
        <p:nvSpPr>
          <p:cNvPr name="TextBox 10" id="10"/>
          <p:cNvSpPr txBox="true"/>
          <p:nvPr/>
        </p:nvSpPr>
        <p:spPr>
          <a:xfrm rot="0">
            <a:off x="2156190" y="859458"/>
            <a:ext cx="10966027" cy="1244600"/>
          </a:xfrm>
          <a:prstGeom prst="rect">
            <a:avLst/>
          </a:prstGeom>
        </p:spPr>
        <p:txBody>
          <a:bodyPr anchor="t" rtlCol="false" tIns="0" lIns="0" bIns="0" rIns="0">
            <a:spAutoFit/>
          </a:bodyPr>
          <a:lstStyle/>
          <a:p>
            <a:pPr algn="l" marL="0" indent="0" lvl="0">
              <a:lnSpc>
                <a:spcPts val="9100"/>
              </a:lnSpc>
              <a:spcBef>
                <a:spcPct val="0"/>
              </a:spcBef>
            </a:pPr>
            <a:r>
              <a:rPr lang="en-US" sz="6500">
                <a:solidFill>
                  <a:srgbClr val="8F6234"/>
                </a:solidFill>
                <a:latin typeface="Times New Roman MT"/>
                <a:ea typeface="Times New Roman MT"/>
                <a:cs typeface="Times New Roman MT"/>
                <a:sym typeface="Times New Roman MT"/>
              </a:rPr>
              <a:t>DEPLOYMENT DIAGRAM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156190" y="2738119"/>
            <a:ext cx="8770750" cy="6122670"/>
            <a:chOff x="0" y="0"/>
            <a:chExt cx="1844513" cy="1287614"/>
          </a:xfrm>
        </p:grpSpPr>
        <p:sp>
          <p:nvSpPr>
            <p:cNvPr name="Freeform 6" id="6"/>
            <p:cNvSpPr/>
            <p:nvPr/>
          </p:nvSpPr>
          <p:spPr>
            <a:xfrm flipH="false" flipV="false" rot="0">
              <a:off x="0" y="0"/>
              <a:ext cx="1844513" cy="1287614"/>
            </a:xfrm>
            <a:custGeom>
              <a:avLst/>
              <a:gdLst/>
              <a:ahLst/>
              <a:cxnLst/>
              <a:rect r="r" b="b" t="t" l="l"/>
              <a:pathLst>
                <a:path h="1287614" w="1844513">
                  <a:moveTo>
                    <a:pt x="27364" y="0"/>
                  </a:moveTo>
                  <a:lnTo>
                    <a:pt x="1817149" y="0"/>
                  </a:lnTo>
                  <a:cubicBezTo>
                    <a:pt x="1832262" y="0"/>
                    <a:pt x="1844513" y="12251"/>
                    <a:pt x="1844513" y="27364"/>
                  </a:cubicBezTo>
                  <a:lnTo>
                    <a:pt x="1844513" y="1260251"/>
                  </a:lnTo>
                  <a:cubicBezTo>
                    <a:pt x="1844513" y="1267508"/>
                    <a:pt x="1841630" y="1274468"/>
                    <a:pt x="1836498" y="1279600"/>
                  </a:cubicBezTo>
                  <a:cubicBezTo>
                    <a:pt x="1831367" y="1284731"/>
                    <a:pt x="1824407" y="1287614"/>
                    <a:pt x="1817149" y="1287614"/>
                  </a:cubicBezTo>
                  <a:lnTo>
                    <a:pt x="27364" y="1287614"/>
                  </a:lnTo>
                  <a:cubicBezTo>
                    <a:pt x="20106" y="1287614"/>
                    <a:pt x="13146" y="1284731"/>
                    <a:pt x="8015" y="1279600"/>
                  </a:cubicBezTo>
                  <a:cubicBezTo>
                    <a:pt x="2883" y="1274468"/>
                    <a:pt x="0" y="1267508"/>
                    <a:pt x="0" y="1260251"/>
                  </a:cubicBezTo>
                  <a:lnTo>
                    <a:pt x="0" y="27364"/>
                  </a:lnTo>
                  <a:cubicBezTo>
                    <a:pt x="0" y="20106"/>
                    <a:pt x="2883" y="13146"/>
                    <a:pt x="8015" y="8015"/>
                  </a:cubicBezTo>
                  <a:cubicBezTo>
                    <a:pt x="13146" y="2883"/>
                    <a:pt x="20106" y="0"/>
                    <a:pt x="27364" y="0"/>
                  </a:cubicBezTo>
                  <a:close/>
                </a:path>
              </a:pathLst>
            </a:custGeom>
            <a:solidFill>
              <a:srgbClr val="FFE5BA"/>
            </a:solidFill>
          </p:spPr>
        </p:sp>
        <p:sp>
          <p:nvSpPr>
            <p:cNvPr name="TextBox 7" id="7"/>
            <p:cNvSpPr txBox="true"/>
            <p:nvPr/>
          </p:nvSpPr>
          <p:spPr>
            <a:xfrm>
              <a:off x="0" y="-66675"/>
              <a:ext cx="1844513" cy="1354289"/>
            </a:xfrm>
            <a:prstGeom prst="rect">
              <a:avLst/>
            </a:prstGeom>
          </p:spPr>
          <p:txBody>
            <a:bodyPr anchor="t" rtlCol="false" tIns="152400" lIns="152400" bIns="152400" rIns="152400"/>
            <a:lstStyle/>
            <a:p>
              <a:pPr algn="l" marL="647700" indent="-323850" lvl="1">
                <a:lnSpc>
                  <a:spcPts val="4200"/>
                </a:lnSpc>
                <a:buFont typeface="Arial"/>
                <a:buChar char="•"/>
              </a:pPr>
              <a:r>
                <a:rPr lang="en-US" sz="3000">
                  <a:solidFill>
                    <a:srgbClr val="1E302C"/>
                  </a:solidFill>
                  <a:latin typeface="Alice"/>
                  <a:ea typeface="Alice"/>
                  <a:cs typeface="Alice"/>
                  <a:sym typeface="Alice"/>
                </a:rPr>
                <a:t>Database Design defines the structure of data stored in the Job Portal System.</a:t>
              </a:r>
            </a:p>
            <a:p>
              <a:pPr algn="l" marL="647700" indent="-323850" lvl="1">
                <a:lnSpc>
                  <a:spcPts val="4200"/>
                </a:lnSpc>
                <a:buFont typeface="Arial"/>
                <a:buChar char="•"/>
              </a:pPr>
              <a:r>
                <a:rPr lang="en-US" sz="3000">
                  <a:solidFill>
                    <a:srgbClr val="1E302C"/>
                  </a:solidFill>
                  <a:latin typeface="Alice"/>
                  <a:ea typeface="Alice"/>
                  <a:cs typeface="Alice"/>
                  <a:sym typeface="Alice"/>
                </a:rPr>
                <a:t>Main tables used in the project are Users, JobSeekers, Employers, Jobs, Applications, and Admin.</a:t>
              </a:r>
            </a:p>
            <a:p>
              <a:pPr algn="l" marL="647700" indent="-323850" lvl="1">
                <a:lnSpc>
                  <a:spcPts val="4200"/>
                </a:lnSpc>
                <a:buFont typeface="Arial"/>
                <a:buChar char="•"/>
              </a:pPr>
              <a:r>
                <a:rPr lang="en-US" sz="3000">
                  <a:solidFill>
                    <a:srgbClr val="1E302C"/>
                  </a:solidFill>
                  <a:latin typeface="Alice"/>
                  <a:ea typeface="Alice"/>
                  <a:cs typeface="Alice"/>
                  <a:sym typeface="Alice"/>
                </a:rPr>
                <a:t>Users table stores login details such as name, email, password, and role.</a:t>
              </a:r>
            </a:p>
            <a:p>
              <a:pPr algn="l" marL="647700" indent="-323850" lvl="1">
                <a:lnSpc>
                  <a:spcPts val="4200"/>
                </a:lnSpc>
                <a:buFont typeface="Arial"/>
                <a:buChar char="•"/>
              </a:pPr>
              <a:r>
                <a:rPr lang="en-US" sz="3000">
                  <a:solidFill>
                    <a:srgbClr val="1E302C"/>
                  </a:solidFill>
                  <a:latin typeface="Alice"/>
                  <a:ea typeface="Alice"/>
                  <a:cs typeface="Alice"/>
                  <a:sym typeface="Alice"/>
                </a:rPr>
                <a:t>Jobs table stores job title, description, salary, location, and company details.</a:t>
              </a:r>
            </a:p>
            <a:p>
              <a:pPr algn="l" marL="647700" indent="-323850" lvl="1">
                <a:lnSpc>
                  <a:spcPts val="4200"/>
                </a:lnSpc>
                <a:buFont typeface="Arial"/>
                <a:buChar char="•"/>
              </a:pPr>
              <a:r>
                <a:rPr lang="en-US" sz="3000">
                  <a:solidFill>
                    <a:srgbClr val="1E302C"/>
                  </a:solidFill>
                  <a:latin typeface="Alice"/>
                  <a:ea typeface="Alice"/>
                  <a:cs typeface="Alice"/>
                  <a:sym typeface="Alice"/>
                </a:rPr>
                <a:t>Applications table stores candidate job applications and status information.</a:t>
              </a:r>
            </a:p>
          </p:txBody>
        </p:sp>
      </p:grpSp>
      <p:sp>
        <p:nvSpPr>
          <p:cNvPr name="Freeform 8" id="8"/>
          <p:cNvSpPr/>
          <p:nvPr/>
        </p:nvSpPr>
        <p:spPr>
          <a:xfrm flipH="false" flipV="false" rot="0">
            <a:off x="1085850" y="1230931"/>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1443398" y="3141141"/>
            <a:ext cx="6056917" cy="5316627"/>
          </a:xfrm>
          <a:custGeom>
            <a:avLst/>
            <a:gdLst/>
            <a:ahLst/>
            <a:cxnLst/>
            <a:rect r="r" b="b" t="t" l="l"/>
            <a:pathLst>
              <a:path h="5316627" w="6056917">
                <a:moveTo>
                  <a:pt x="0" y="0"/>
                </a:moveTo>
                <a:lnTo>
                  <a:pt x="6056917" y="0"/>
                </a:lnTo>
                <a:lnTo>
                  <a:pt x="6056917" y="5316626"/>
                </a:lnTo>
                <a:lnTo>
                  <a:pt x="0" y="5316626"/>
                </a:lnTo>
                <a:lnTo>
                  <a:pt x="0" y="0"/>
                </a:lnTo>
                <a:close/>
              </a:path>
            </a:pathLst>
          </a:custGeom>
          <a:blipFill>
            <a:blip r:embed="rId4"/>
            <a:stretch>
              <a:fillRect l="0" t="0" r="0" b="0"/>
            </a:stretch>
          </a:blipFill>
        </p:spPr>
      </p:sp>
      <p:sp>
        <p:nvSpPr>
          <p:cNvPr name="TextBox 10" id="10"/>
          <p:cNvSpPr txBox="true"/>
          <p:nvPr/>
        </p:nvSpPr>
        <p:spPr>
          <a:xfrm rot="0">
            <a:off x="2156190" y="859458"/>
            <a:ext cx="12315667" cy="1244600"/>
          </a:xfrm>
          <a:prstGeom prst="rect">
            <a:avLst/>
          </a:prstGeom>
        </p:spPr>
        <p:txBody>
          <a:bodyPr anchor="t" rtlCol="false" tIns="0" lIns="0" bIns="0" rIns="0">
            <a:spAutoFit/>
          </a:bodyPr>
          <a:lstStyle/>
          <a:p>
            <a:pPr algn="l" marL="0" indent="0" lvl="0">
              <a:lnSpc>
                <a:spcPts val="9100"/>
              </a:lnSpc>
              <a:spcBef>
                <a:spcPct val="0"/>
              </a:spcBef>
            </a:pPr>
            <a:r>
              <a:rPr lang="en-US" sz="6500">
                <a:solidFill>
                  <a:srgbClr val="8F6234"/>
                </a:solidFill>
                <a:latin typeface="Times New Roman MT"/>
                <a:ea typeface="Times New Roman MT"/>
                <a:cs typeface="Times New Roman MT"/>
                <a:sym typeface="Times New Roman MT"/>
              </a:rPr>
              <a:t>DATABASE DESIGN (TABLES)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09831" y="2398023"/>
            <a:ext cx="8770750" cy="6161924"/>
            <a:chOff x="0" y="0"/>
            <a:chExt cx="1844513" cy="1295870"/>
          </a:xfrm>
        </p:grpSpPr>
        <p:sp>
          <p:nvSpPr>
            <p:cNvPr name="Freeform 6" id="6"/>
            <p:cNvSpPr/>
            <p:nvPr/>
          </p:nvSpPr>
          <p:spPr>
            <a:xfrm flipH="false" flipV="false" rot="0">
              <a:off x="0" y="0"/>
              <a:ext cx="1844513" cy="1295870"/>
            </a:xfrm>
            <a:custGeom>
              <a:avLst/>
              <a:gdLst/>
              <a:ahLst/>
              <a:cxnLst/>
              <a:rect r="r" b="b" t="t" l="l"/>
              <a:pathLst>
                <a:path h="1295870" w="1844513">
                  <a:moveTo>
                    <a:pt x="27364" y="0"/>
                  </a:moveTo>
                  <a:lnTo>
                    <a:pt x="1817149" y="0"/>
                  </a:lnTo>
                  <a:cubicBezTo>
                    <a:pt x="1832262" y="0"/>
                    <a:pt x="1844513" y="12251"/>
                    <a:pt x="1844513" y="27364"/>
                  </a:cubicBezTo>
                  <a:lnTo>
                    <a:pt x="1844513" y="1268506"/>
                  </a:lnTo>
                  <a:cubicBezTo>
                    <a:pt x="1844513" y="1275763"/>
                    <a:pt x="1841630" y="1282723"/>
                    <a:pt x="1836498" y="1287855"/>
                  </a:cubicBezTo>
                  <a:cubicBezTo>
                    <a:pt x="1831367" y="1292987"/>
                    <a:pt x="1824407" y="1295870"/>
                    <a:pt x="1817149" y="1295870"/>
                  </a:cubicBezTo>
                  <a:lnTo>
                    <a:pt x="27364" y="1295870"/>
                  </a:lnTo>
                  <a:cubicBezTo>
                    <a:pt x="20106" y="1295870"/>
                    <a:pt x="13146" y="1292987"/>
                    <a:pt x="8015" y="1287855"/>
                  </a:cubicBezTo>
                  <a:cubicBezTo>
                    <a:pt x="2883" y="1282723"/>
                    <a:pt x="0" y="1275763"/>
                    <a:pt x="0" y="1268506"/>
                  </a:cubicBezTo>
                  <a:lnTo>
                    <a:pt x="0" y="27364"/>
                  </a:lnTo>
                  <a:cubicBezTo>
                    <a:pt x="0" y="20106"/>
                    <a:pt x="2883" y="13146"/>
                    <a:pt x="8015" y="8015"/>
                  </a:cubicBezTo>
                  <a:cubicBezTo>
                    <a:pt x="13146" y="2883"/>
                    <a:pt x="20106" y="0"/>
                    <a:pt x="27364" y="0"/>
                  </a:cubicBezTo>
                  <a:close/>
                </a:path>
              </a:pathLst>
            </a:custGeom>
            <a:solidFill>
              <a:srgbClr val="FFE5BA"/>
            </a:solidFill>
          </p:spPr>
        </p:sp>
        <p:sp>
          <p:nvSpPr>
            <p:cNvPr name="TextBox 7" id="7"/>
            <p:cNvSpPr txBox="true"/>
            <p:nvPr/>
          </p:nvSpPr>
          <p:spPr>
            <a:xfrm>
              <a:off x="0" y="-66675"/>
              <a:ext cx="1844513" cy="1362545"/>
            </a:xfrm>
            <a:prstGeom prst="rect">
              <a:avLst/>
            </a:prstGeom>
          </p:spPr>
          <p:txBody>
            <a:bodyPr anchor="t" rtlCol="false" tIns="152400" lIns="152400" bIns="152400" rIns="152400"/>
            <a:lstStyle/>
            <a:p>
              <a:pPr algn="l" marL="647700" indent="-323850" lvl="1">
                <a:lnSpc>
                  <a:spcPts val="4200"/>
                </a:lnSpc>
                <a:buFont typeface="Arial"/>
                <a:buChar char="•"/>
              </a:pPr>
              <a:r>
                <a:rPr lang="en-US" sz="3000">
                  <a:solidFill>
                    <a:srgbClr val="1E302C"/>
                  </a:solidFill>
                  <a:latin typeface="Alice"/>
                  <a:ea typeface="Alice"/>
                  <a:cs typeface="Alice"/>
                  <a:sym typeface="Alice"/>
                </a:rPr>
                <a:t>E-R Diagram represents entities and relationships in the Job Portal database.</a:t>
              </a:r>
            </a:p>
            <a:p>
              <a:pPr algn="l" marL="647700" indent="-323850" lvl="1">
                <a:lnSpc>
                  <a:spcPts val="4200"/>
                </a:lnSpc>
                <a:buFont typeface="Arial"/>
                <a:buChar char="•"/>
              </a:pPr>
              <a:r>
                <a:rPr lang="en-US" sz="3000">
                  <a:solidFill>
                    <a:srgbClr val="1E302C"/>
                  </a:solidFill>
                  <a:latin typeface="Alice"/>
                  <a:ea typeface="Alice"/>
                  <a:cs typeface="Alice"/>
                  <a:sym typeface="Alice"/>
                </a:rPr>
                <a:t>Main entities are User, JobSeeker, Employer, Job, and Application.</a:t>
              </a:r>
            </a:p>
            <a:p>
              <a:pPr algn="l" marL="647700" indent="-323850" lvl="1">
                <a:lnSpc>
                  <a:spcPts val="4200"/>
                </a:lnSpc>
                <a:buFont typeface="Arial"/>
                <a:buChar char="•"/>
              </a:pPr>
              <a:r>
                <a:rPr lang="en-US" sz="3000">
                  <a:solidFill>
                    <a:srgbClr val="1E302C"/>
                  </a:solidFill>
                  <a:latin typeface="Alice"/>
                  <a:ea typeface="Alice"/>
                  <a:cs typeface="Alice"/>
                  <a:sym typeface="Alice"/>
                </a:rPr>
                <a:t>Employers can post many jobs, and job seekers can apply for many jobs.</a:t>
              </a:r>
            </a:p>
            <a:p>
              <a:pPr algn="l" marL="647700" indent="-323850" lvl="1">
                <a:lnSpc>
                  <a:spcPts val="4200"/>
                </a:lnSpc>
                <a:buFont typeface="Arial"/>
                <a:buChar char="•"/>
              </a:pPr>
              <a:r>
                <a:rPr lang="en-US" sz="3000">
                  <a:solidFill>
                    <a:srgbClr val="1E302C"/>
                  </a:solidFill>
                  <a:latin typeface="Alice"/>
                  <a:ea typeface="Alice"/>
                  <a:cs typeface="Alice"/>
                  <a:sym typeface="Alice"/>
                </a:rPr>
                <a:t>Each application is linked with one candidate and one job.</a:t>
              </a:r>
            </a:p>
            <a:p>
              <a:pPr algn="l" marL="647700" indent="-323850" lvl="1">
                <a:lnSpc>
                  <a:spcPts val="4200"/>
                </a:lnSpc>
                <a:buFont typeface="Arial"/>
                <a:buChar char="•"/>
              </a:pPr>
              <a:r>
                <a:rPr lang="en-US" sz="3000">
                  <a:solidFill>
                    <a:srgbClr val="1E302C"/>
                  </a:solidFill>
                  <a:latin typeface="Alice"/>
                  <a:ea typeface="Alice"/>
                  <a:cs typeface="Alice"/>
                  <a:sym typeface="Alice"/>
                </a:rPr>
                <a:t>E-R Diagram helps in designing a structured and normalized database system.</a:t>
              </a:r>
            </a:p>
          </p:txBody>
        </p:sp>
      </p:grpSp>
      <p:sp>
        <p:nvSpPr>
          <p:cNvPr name="Freeform 8" id="8"/>
          <p:cNvSpPr/>
          <p:nvPr/>
        </p:nvSpPr>
        <p:spPr>
          <a:xfrm flipH="false" flipV="false" rot="0">
            <a:off x="1085850" y="1230931"/>
            <a:ext cx="697868" cy="697868"/>
          </a:xfrm>
          <a:custGeom>
            <a:avLst/>
            <a:gdLst/>
            <a:ahLst/>
            <a:cxnLst/>
            <a:rect r="r" b="b" t="t" l="l"/>
            <a:pathLst>
              <a:path h="697868" w="697868">
                <a:moveTo>
                  <a:pt x="0" y="0"/>
                </a:moveTo>
                <a:lnTo>
                  <a:pt x="697868" y="0"/>
                </a:lnTo>
                <a:lnTo>
                  <a:pt x="697868" y="697868"/>
                </a:lnTo>
                <a:lnTo>
                  <a:pt x="0" y="6978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002847" y="2950473"/>
            <a:ext cx="7599129" cy="4169871"/>
          </a:xfrm>
          <a:custGeom>
            <a:avLst/>
            <a:gdLst/>
            <a:ahLst/>
            <a:cxnLst/>
            <a:rect r="r" b="b" t="t" l="l"/>
            <a:pathLst>
              <a:path h="4169871" w="7599129">
                <a:moveTo>
                  <a:pt x="0" y="0"/>
                </a:moveTo>
                <a:lnTo>
                  <a:pt x="7599129" y="0"/>
                </a:lnTo>
                <a:lnTo>
                  <a:pt x="7599129" y="4169870"/>
                </a:lnTo>
                <a:lnTo>
                  <a:pt x="0" y="4169870"/>
                </a:lnTo>
                <a:lnTo>
                  <a:pt x="0" y="0"/>
                </a:lnTo>
                <a:close/>
              </a:path>
            </a:pathLst>
          </a:custGeom>
          <a:blipFill>
            <a:blip r:embed="rId4"/>
            <a:stretch>
              <a:fillRect l="0" t="0" r="0" b="0"/>
            </a:stretch>
          </a:blipFill>
        </p:spPr>
      </p:sp>
      <p:sp>
        <p:nvSpPr>
          <p:cNvPr name="TextBox 10" id="10"/>
          <p:cNvSpPr txBox="true"/>
          <p:nvPr/>
        </p:nvSpPr>
        <p:spPr>
          <a:xfrm rot="0">
            <a:off x="2156190" y="859458"/>
            <a:ext cx="6278034" cy="1244600"/>
          </a:xfrm>
          <a:prstGeom prst="rect">
            <a:avLst/>
          </a:prstGeom>
        </p:spPr>
        <p:txBody>
          <a:bodyPr anchor="t" rtlCol="false" tIns="0" lIns="0" bIns="0" rIns="0">
            <a:spAutoFit/>
          </a:bodyPr>
          <a:lstStyle/>
          <a:p>
            <a:pPr algn="l" marL="0" indent="0" lvl="0">
              <a:lnSpc>
                <a:spcPts val="9100"/>
              </a:lnSpc>
              <a:spcBef>
                <a:spcPct val="0"/>
              </a:spcBef>
            </a:pPr>
            <a:r>
              <a:rPr lang="en-US" sz="6500">
                <a:solidFill>
                  <a:srgbClr val="8F6234"/>
                </a:solidFill>
                <a:latin typeface="Times New Roman MT"/>
                <a:ea typeface="Times New Roman MT"/>
                <a:cs typeface="Times New Roman MT"/>
                <a:sym typeface="Times New Roman MT"/>
              </a:rPr>
              <a:t>E-R DIAGRAM </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47750"/>
            <a:ext cx="16230600" cy="8210550"/>
            <a:chOff x="0" y="0"/>
            <a:chExt cx="10191464" cy="5155541"/>
          </a:xfrm>
        </p:grpSpPr>
        <p:sp>
          <p:nvSpPr>
            <p:cNvPr name="Freeform 6" id="6"/>
            <p:cNvSpPr/>
            <p:nvPr/>
          </p:nvSpPr>
          <p:spPr>
            <a:xfrm flipH="false" flipV="false" rot="0">
              <a:off x="0" y="0"/>
              <a:ext cx="10191464" cy="5155541"/>
            </a:xfrm>
            <a:custGeom>
              <a:avLst/>
              <a:gdLst/>
              <a:ahLst/>
              <a:cxnLst/>
              <a:rect r="r" b="b" t="t" l="l"/>
              <a:pathLst>
                <a:path h="5155541" w="10191464">
                  <a:moveTo>
                    <a:pt x="0" y="0"/>
                  </a:moveTo>
                  <a:lnTo>
                    <a:pt x="0" y="5155541"/>
                  </a:lnTo>
                  <a:lnTo>
                    <a:pt x="10191464" y="5155541"/>
                  </a:lnTo>
                  <a:lnTo>
                    <a:pt x="10191464" y="0"/>
                  </a:lnTo>
                  <a:lnTo>
                    <a:pt x="0" y="0"/>
                  </a:lnTo>
                  <a:close/>
                  <a:moveTo>
                    <a:pt x="10130504" y="5094581"/>
                  </a:moveTo>
                  <a:lnTo>
                    <a:pt x="59690" y="5094581"/>
                  </a:lnTo>
                  <a:lnTo>
                    <a:pt x="59690" y="59690"/>
                  </a:lnTo>
                  <a:lnTo>
                    <a:pt x="10130504" y="59690"/>
                  </a:lnTo>
                  <a:lnTo>
                    <a:pt x="10130504" y="5094581"/>
                  </a:lnTo>
                  <a:close/>
                </a:path>
              </a:pathLst>
            </a:custGeom>
            <a:solidFill>
              <a:srgbClr val="8DAFA8"/>
            </a:solidFill>
          </p:spPr>
        </p:sp>
      </p:grpSp>
      <p:grpSp>
        <p:nvGrpSpPr>
          <p:cNvPr name="Group 7" id="7"/>
          <p:cNvGrpSpPr/>
          <p:nvPr/>
        </p:nvGrpSpPr>
        <p:grpSpPr>
          <a:xfrm rot="0">
            <a:off x="1851927" y="1641552"/>
            <a:ext cx="10924131" cy="10807472"/>
            <a:chOff x="0" y="0"/>
            <a:chExt cx="14565508" cy="14409962"/>
          </a:xfrm>
        </p:grpSpPr>
        <p:sp>
          <p:nvSpPr>
            <p:cNvPr name="TextBox 8" id="8"/>
            <p:cNvSpPr txBox="true"/>
            <p:nvPr/>
          </p:nvSpPr>
          <p:spPr>
            <a:xfrm rot="0">
              <a:off x="0" y="-9525"/>
              <a:ext cx="14565508" cy="1274987"/>
            </a:xfrm>
            <a:prstGeom prst="rect">
              <a:avLst/>
            </a:prstGeom>
          </p:spPr>
          <p:txBody>
            <a:bodyPr anchor="t" rtlCol="false" tIns="0" lIns="0" bIns="0" rIns="0">
              <a:spAutoFit/>
            </a:bodyPr>
            <a:lstStyle/>
            <a:p>
              <a:pPr algn="l" marL="0" indent="0" lvl="0">
                <a:lnSpc>
                  <a:spcPts val="6241"/>
                </a:lnSpc>
              </a:pPr>
              <a:r>
                <a:rPr lang="en-US" b="true" sz="6241">
                  <a:solidFill>
                    <a:srgbClr val="8F6234"/>
                  </a:solidFill>
                  <a:latin typeface="Times New Roman MT Bold"/>
                  <a:ea typeface="Times New Roman MT Bold"/>
                  <a:cs typeface="Times New Roman MT Bold"/>
                  <a:sym typeface="Times New Roman MT Bold"/>
                </a:rPr>
                <a:t>TESTING</a:t>
              </a:r>
            </a:p>
          </p:txBody>
        </p:sp>
        <p:sp>
          <p:nvSpPr>
            <p:cNvPr name="TextBox 9" id="9"/>
            <p:cNvSpPr txBox="true"/>
            <p:nvPr/>
          </p:nvSpPr>
          <p:spPr>
            <a:xfrm rot="0">
              <a:off x="0" y="1433737"/>
              <a:ext cx="14565508" cy="12976225"/>
            </a:xfrm>
            <a:prstGeom prst="rect">
              <a:avLst/>
            </a:prstGeom>
          </p:spPr>
          <p:txBody>
            <a:bodyPr anchor="t" rtlCol="false" tIns="0" lIns="0" bIns="0" rIns="0">
              <a:spAutoFit/>
            </a:bodyPr>
            <a:lstStyle/>
            <a:p>
              <a:pPr algn="just">
                <a:lnSpc>
                  <a:spcPts val="3749"/>
                </a:lnSpc>
              </a:pPr>
              <a:r>
                <a:rPr lang="en-US" sz="2499">
                  <a:solidFill>
                    <a:srgbClr val="1E302C"/>
                  </a:solidFill>
                  <a:latin typeface="Alice"/>
                  <a:ea typeface="Alice"/>
                  <a:cs typeface="Alice"/>
                  <a:sym typeface="Alice"/>
                </a:rPr>
                <a:t>Testing is the process of checking whether the Job Portal System works correctly and satisfies user requirements. It helps in identifying errors, improving quality, and ensuring smooth system performance.</a:t>
              </a:r>
            </a:p>
            <a:p>
              <a:pPr algn="just">
                <a:lnSpc>
                  <a:spcPts val="4050"/>
                </a:lnSpc>
              </a:pPr>
              <a:r>
                <a:rPr lang="en-US" sz="2700">
                  <a:solidFill>
                    <a:srgbClr val="8F6234"/>
                  </a:solidFill>
                  <a:latin typeface="Alice"/>
                  <a:ea typeface="Alice"/>
                  <a:cs typeface="Alice"/>
                  <a:sym typeface="Alice"/>
                </a:rPr>
                <a:t>Objectives of  Testing :</a:t>
              </a:r>
            </a:p>
            <a:p>
              <a:pPr algn="l" marL="582930" indent="-291465" lvl="1">
                <a:lnSpc>
                  <a:spcPts val="4050"/>
                </a:lnSpc>
                <a:buFont typeface="Arial"/>
                <a:buChar char="•"/>
              </a:pPr>
              <a:r>
                <a:rPr lang="en-US" sz="2700">
                  <a:solidFill>
                    <a:srgbClr val="1E302C"/>
                  </a:solidFill>
                  <a:latin typeface="Alice"/>
                  <a:ea typeface="Alice"/>
                  <a:cs typeface="Alice"/>
                  <a:sym typeface="Alice"/>
                </a:rPr>
                <a:t>To identify and remove errors in the software.</a:t>
              </a:r>
            </a:p>
            <a:p>
              <a:pPr algn="l" marL="582930" indent="-291465" lvl="1">
                <a:lnSpc>
                  <a:spcPts val="4050"/>
                </a:lnSpc>
                <a:buFont typeface="Arial"/>
                <a:buChar char="•"/>
              </a:pPr>
              <a:r>
                <a:rPr lang="en-US" sz="2700">
                  <a:solidFill>
                    <a:srgbClr val="1E302C"/>
                  </a:solidFill>
                  <a:latin typeface="Alice"/>
                  <a:ea typeface="Alice"/>
                  <a:cs typeface="Alice"/>
                  <a:sym typeface="Alice"/>
                </a:rPr>
                <a:t>To verify whether the system meets user requirements.</a:t>
              </a:r>
            </a:p>
            <a:p>
              <a:pPr algn="l" marL="582930" indent="-291465" lvl="1">
                <a:lnSpc>
                  <a:spcPts val="4050"/>
                </a:lnSpc>
                <a:buFont typeface="Arial"/>
                <a:buChar char="•"/>
              </a:pPr>
              <a:r>
                <a:rPr lang="en-US" sz="2700">
                  <a:solidFill>
                    <a:srgbClr val="1E302C"/>
                  </a:solidFill>
                  <a:latin typeface="Alice"/>
                  <a:ea typeface="Alice"/>
                  <a:cs typeface="Alice"/>
                  <a:sym typeface="Alice"/>
                </a:rPr>
                <a:t>To check the accuracy of outputs for given inputs.</a:t>
              </a:r>
            </a:p>
            <a:p>
              <a:pPr algn="l" marL="582930" indent="-291465" lvl="1">
                <a:lnSpc>
                  <a:spcPts val="4050"/>
                </a:lnSpc>
                <a:buFont typeface="Arial"/>
                <a:buChar char="•"/>
              </a:pPr>
              <a:r>
                <a:rPr lang="en-US" sz="2700">
                  <a:solidFill>
                    <a:srgbClr val="1E302C"/>
                  </a:solidFill>
                  <a:latin typeface="Alice"/>
                  <a:ea typeface="Alice"/>
                  <a:cs typeface="Alice"/>
                  <a:sym typeface="Alice"/>
                </a:rPr>
                <a:t>To improve software performance and reliability.</a:t>
              </a:r>
            </a:p>
            <a:p>
              <a:pPr algn="l" marL="582930" indent="-291465" lvl="1">
                <a:lnSpc>
                  <a:spcPts val="4050"/>
                </a:lnSpc>
                <a:buFont typeface="Arial"/>
                <a:buChar char="•"/>
              </a:pPr>
              <a:r>
                <a:rPr lang="en-US" sz="2700">
                  <a:solidFill>
                    <a:srgbClr val="1E302C"/>
                  </a:solidFill>
                  <a:latin typeface="Alice"/>
                  <a:ea typeface="Alice"/>
                  <a:cs typeface="Alice"/>
                  <a:sym typeface="Alice"/>
                </a:rPr>
                <a:t>To ensure data security and privacy.</a:t>
              </a:r>
            </a:p>
            <a:p>
              <a:pPr algn="l" marL="582930" indent="-291465" lvl="1">
                <a:lnSpc>
                  <a:spcPts val="4050"/>
                </a:lnSpc>
                <a:buFont typeface="Arial"/>
                <a:buChar char="•"/>
              </a:pPr>
              <a:r>
                <a:rPr lang="en-US" sz="2700">
                  <a:solidFill>
                    <a:srgbClr val="1E302C"/>
                  </a:solidFill>
                  <a:latin typeface="Alice"/>
                  <a:ea typeface="Alice"/>
                  <a:cs typeface="Alice"/>
                  <a:sym typeface="Alice"/>
                </a:rPr>
                <a:t>To validate smooth integration of modules.</a:t>
              </a:r>
            </a:p>
            <a:p>
              <a:pPr algn="l" marL="582930" indent="-291465" lvl="1">
                <a:lnSpc>
                  <a:spcPts val="4050"/>
                </a:lnSpc>
                <a:buFont typeface="Arial"/>
                <a:buChar char="•"/>
              </a:pPr>
              <a:r>
                <a:rPr lang="en-US" sz="2700">
                  <a:solidFill>
                    <a:srgbClr val="1E302C"/>
                  </a:solidFill>
                  <a:latin typeface="Alice"/>
                  <a:ea typeface="Alice"/>
                  <a:cs typeface="Alice"/>
                  <a:sym typeface="Alice"/>
                </a:rPr>
                <a:t>To make the system user-friendly and efficient.</a:t>
              </a:r>
            </a:p>
            <a:p>
              <a:pPr algn="l" marL="582930" indent="-291465" lvl="1">
                <a:lnSpc>
                  <a:spcPts val="4050"/>
                </a:lnSpc>
                <a:buFont typeface="Arial"/>
                <a:buChar char="•"/>
              </a:pPr>
              <a:r>
                <a:rPr lang="en-US" sz="2700">
                  <a:solidFill>
                    <a:srgbClr val="1E302C"/>
                  </a:solidFill>
                  <a:latin typeface="Alice"/>
                  <a:ea typeface="Alice"/>
                  <a:cs typeface="Alice"/>
                  <a:sym typeface="Alice"/>
                </a:rPr>
                <a:t>To ensure readiness of the software for deployment.</a:t>
              </a:r>
            </a:p>
            <a:p>
              <a:pPr algn="just">
                <a:lnSpc>
                  <a:spcPts val="3749"/>
                </a:lnSpc>
              </a:pPr>
            </a:p>
            <a:p>
              <a:pPr algn="just">
                <a:lnSpc>
                  <a:spcPts val="3749"/>
                </a:lnSpc>
              </a:pPr>
            </a:p>
            <a:p>
              <a:pPr algn="just">
                <a:lnSpc>
                  <a:spcPts val="3749"/>
                </a:lnSpc>
              </a:pPr>
            </a:p>
            <a:p>
              <a:pPr algn="just">
                <a:lnSpc>
                  <a:spcPts val="3749"/>
                </a:lnSpc>
              </a:pPr>
            </a:p>
            <a:p>
              <a:pPr algn="just">
                <a:lnSpc>
                  <a:spcPts val="3749"/>
                </a:lnSpc>
              </a:pPr>
            </a:p>
            <a:p>
              <a:pPr algn="just">
                <a:lnSpc>
                  <a:spcPts val="3749"/>
                </a:lnSpc>
              </a:pPr>
            </a:p>
            <a:p>
              <a:pPr algn="just">
                <a:lnSpc>
                  <a:spcPts val="3749"/>
                </a:lnSpc>
              </a:pPr>
            </a:p>
            <a:p>
              <a:pPr algn="just" marL="0" indent="0" lvl="0">
                <a:lnSpc>
                  <a:spcPts val="3749"/>
                </a:lnSpc>
              </a:pPr>
            </a:p>
          </p:txBody>
        </p:sp>
      </p:grpSp>
    </p:spTree>
  </p:cSld>
  <p:clrMapOvr>
    <a:masterClrMapping/>
  </p:clrMapOvr>
</p:sld>
</file>

<file path=ppt/slides/slide25.xml><?xml version="1.0" encoding="utf-8"?>
<p:sld xmlns:p="http://schemas.openxmlformats.org/presentationml/2006/main" xmlns:a="http://schemas.openxmlformats.org/drawingml/2006/main">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47750"/>
            <a:ext cx="16230600" cy="8210550"/>
            <a:chOff x="0" y="0"/>
            <a:chExt cx="10191464" cy="5155541"/>
          </a:xfrm>
        </p:grpSpPr>
        <p:sp>
          <p:nvSpPr>
            <p:cNvPr name="Freeform 6" id="6"/>
            <p:cNvSpPr/>
            <p:nvPr/>
          </p:nvSpPr>
          <p:spPr>
            <a:xfrm flipH="false" flipV="false" rot="0">
              <a:off x="0" y="0"/>
              <a:ext cx="10191464" cy="5155541"/>
            </a:xfrm>
            <a:custGeom>
              <a:avLst/>
              <a:gdLst/>
              <a:ahLst/>
              <a:cxnLst/>
              <a:rect r="r" b="b" t="t" l="l"/>
              <a:pathLst>
                <a:path h="5155541" w="10191464">
                  <a:moveTo>
                    <a:pt x="0" y="0"/>
                  </a:moveTo>
                  <a:lnTo>
                    <a:pt x="0" y="5155541"/>
                  </a:lnTo>
                  <a:lnTo>
                    <a:pt x="10191464" y="5155541"/>
                  </a:lnTo>
                  <a:lnTo>
                    <a:pt x="10191464" y="0"/>
                  </a:lnTo>
                  <a:lnTo>
                    <a:pt x="0" y="0"/>
                  </a:lnTo>
                  <a:close/>
                  <a:moveTo>
                    <a:pt x="10130504" y="5094581"/>
                  </a:moveTo>
                  <a:lnTo>
                    <a:pt x="59690" y="5094581"/>
                  </a:lnTo>
                  <a:lnTo>
                    <a:pt x="59690" y="59690"/>
                  </a:lnTo>
                  <a:lnTo>
                    <a:pt x="10130504" y="59690"/>
                  </a:lnTo>
                  <a:lnTo>
                    <a:pt x="10130504" y="5094581"/>
                  </a:lnTo>
                  <a:close/>
                </a:path>
              </a:pathLst>
            </a:custGeom>
            <a:solidFill>
              <a:srgbClr val="8DAFA8"/>
            </a:solidFill>
          </p:spPr>
        </p:sp>
      </p:grpSp>
      <p:grpSp>
        <p:nvGrpSpPr>
          <p:cNvPr name="Group 7" id="7"/>
          <p:cNvGrpSpPr/>
          <p:nvPr/>
        </p:nvGrpSpPr>
        <p:grpSpPr>
          <a:xfrm rot="0">
            <a:off x="1962764" y="-411021"/>
            <a:ext cx="13303073" cy="8984334"/>
            <a:chOff x="0" y="0"/>
            <a:chExt cx="17737431" cy="11979112"/>
          </a:xfrm>
        </p:grpSpPr>
        <p:sp>
          <p:nvSpPr>
            <p:cNvPr name="TextBox 8" id="8"/>
            <p:cNvSpPr txBox="true"/>
            <p:nvPr/>
          </p:nvSpPr>
          <p:spPr>
            <a:xfrm rot="0">
              <a:off x="0" y="0"/>
              <a:ext cx="17737431" cy="1412647"/>
            </a:xfrm>
            <a:prstGeom prst="rect">
              <a:avLst/>
            </a:prstGeom>
          </p:spPr>
          <p:txBody>
            <a:bodyPr anchor="t" rtlCol="false" tIns="0" lIns="0" bIns="0" rIns="0">
              <a:spAutoFit/>
            </a:bodyPr>
            <a:lstStyle/>
            <a:p>
              <a:pPr algn="l" marL="0" indent="0" lvl="0">
                <a:lnSpc>
                  <a:spcPts val="6966"/>
                </a:lnSpc>
              </a:pPr>
            </a:p>
          </p:txBody>
        </p:sp>
        <p:sp>
          <p:nvSpPr>
            <p:cNvPr name="TextBox 9" id="9"/>
            <p:cNvSpPr txBox="true"/>
            <p:nvPr/>
          </p:nvSpPr>
          <p:spPr>
            <a:xfrm rot="0">
              <a:off x="0" y="1591415"/>
              <a:ext cx="17737431" cy="10387697"/>
            </a:xfrm>
            <a:prstGeom prst="rect">
              <a:avLst/>
            </a:prstGeom>
          </p:spPr>
          <p:txBody>
            <a:bodyPr anchor="t" rtlCol="false" tIns="0" lIns="0" bIns="0" rIns="0">
              <a:spAutoFit/>
            </a:bodyPr>
            <a:lstStyle/>
            <a:p>
              <a:pPr algn="just">
                <a:lnSpc>
                  <a:spcPts val="5190"/>
                </a:lnSpc>
              </a:pPr>
            </a:p>
            <a:p>
              <a:pPr algn="just">
                <a:lnSpc>
                  <a:spcPts val="5190"/>
                </a:lnSpc>
              </a:pPr>
              <a:r>
                <a:rPr lang="en-US" sz="3460">
                  <a:solidFill>
                    <a:srgbClr val="8F6234"/>
                  </a:solidFill>
                  <a:latin typeface="Alice"/>
                  <a:ea typeface="Alice"/>
                  <a:cs typeface="Alice"/>
                  <a:sym typeface="Alice"/>
                </a:rPr>
                <a:t>UNIT TESTING : </a:t>
              </a:r>
            </a:p>
            <a:p>
              <a:pPr algn="just">
                <a:lnSpc>
                  <a:spcPts val="4186"/>
                </a:lnSpc>
              </a:pPr>
              <a:r>
                <a:rPr lang="en-US" sz="2790">
                  <a:solidFill>
                    <a:srgbClr val="1E302C"/>
                  </a:solidFill>
                  <a:latin typeface="Alice"/>
                  <a:ea typeface="Alice"/>
                  <a:cs typeface="Alice"/>
                  <a:sym typeface="Alice"/>
                </a:rPr>
                <a:t>Unit Testing is performed on individual modules separately. It checks modules such as login, registration, job posting, and job search independently. It helps in early detection of coding errors.</a:t>
              </a:r>
            </a:p>
            <a:p>
              <a:pPr algn="just">
                <a:lnSpc>
                  <a:spcPts val="4186"/>
                </a:lnSpc>
              </a:pPr>
            </a:p>
            <a:p>
              <a:pPr algn="just">
                <a:lnSpc>
                  <a:spcPts val="5190"/>
                </a:lnSpc>
              </a:pPr>
              <a:r>
                <a:rPr lang="en-US" sz="3460">
                  <a:solidFill>
                    <a:srgbClr val="8F6234"/>
                  </a:solidFill>
                  <a:latin typeface="Alice"/>
                  <a:ea typeface="Alice"/>
                  <a:cs typeface="Alice"/>
                  <a:sym typeface="Alice"/>
                </a:rPr>
                <a:t>INTEGRATION TESTING :</a:t>
              </a:r>
            </a:p>
            <a:p>
              <a:pPr algn="just">
                <a:lnSpc>
                  <a:spcPts val="4186"/>
                </a:lnSpc>
              </a:pPr>
              <a:r>
                <a:rPr lang="en-US" sz="2790">
                  <a:solidFill>
                    <a:srgbClr val="000000"/>
                  </a:solidFill>
                  <a:latin typeface="Alice"/>
                  <a:ea typeface="Alice"/>
                  <a:cs typeface="Alice"/>
                  <a:sym typeface="Alice"/>
                </a:rPr>
                <a:t>Integration Testing verifies whether combined modules work correctly together. It checks communication between modules such as login with dashboard, job posting with database, and applications with employer panel.</a:t>
              </a:r>
            </a:p>
            <a:p>
              <a:pPr algn="just">
                <a:lnSpc>
                  <a:spcPts val="4186"/>
                </a:lnSpc>
              </a:pPr>
            </a:p>
            <a:p>
              <a:pPr algn="just">
                <a:lnSpc>
                  <a:spcPts val="5099"/>
                </a:lnSpc>
              </a:pPr>
              <a:r>
                <a:rPr lang="en-US" sz="3399">
                  <a:solidFill>
                    <a:srgbClr val="8F6234"/>
                  </a:solidFill>
                  <a:latin typeface="Alice"/>
                  <a:ea typeface="Alice"/>
                  <a:cs typeface="Alice"/>
                  <a:sym typeface="Alice"/>
                </a:rPr>
                <a:t>SYSTEM TESTING : </a:t>
              </a:r>
            </a:p>
            <a:p>
              <a:pPr algn="just" marL="0" indent="0" lvl="0">
                <a:lnSpc>
                  <a:spcPts val="4050"/>
                </a:lnSpc>
              </a:pPr>
              <a:r>
                <a:rPr lang="en-US" sz="2700">
                  <a:solidFill>
                    <a:srgbClr val="1E302C"/>
                  </a:solidFill>
                  <a:latin typeface="Alice"/>
                  <a:ea typeface="Alice"/>
                  <a:cs typeface="Alice"/>
                  <a:sym typeface="Alice"/>
                </a:rPr>
                <a:t>System Testing is performed on the complete Job Portal System as a whole. It ensures that all modules work together according to requirements.</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47750"/>
            <a:ext cx="16230600" cy="8210550"/>
            <a:chOff x="0" y="0"/>
            <a:chExt cx="10191464" cy="5155541"/>
          </a:xfrm>
        </p:grpSpPr>
        <p:sp>
          <p:nvSpPr>
            <p:cNvPr name="Freeform 6" id="6"/>
            <p:cNvSpPr/>
            <p:nvPr/>
          </p:nvSpPr>
          <p:spPr>
            <a:xfrm flipH="false" flipV="false" rot="0">
              <a:off x="0" y="0"/>
              <a:ext cx="10191464" cy="5155541"/>
            </a:xfrm>
            <a:custGeom>
              <a:avLst/>
              <a:gdLst/>
              <a:ahLst/>
              <a:cxnLst/>
              <a:rect r="r" b="b" t="t" l="l"/>
              <a:pathLst>
                <a:path h="5155541" w="10191464">
                  <a:moveTo>
                    <a:pt x="0" y="0"/>
                  </a:moveTo>
                  <a:lnTo>
                    <a:pt x="0" y="5155541"/>
                  </a:lnTo>
                  <a:lnTo>
                    <a:pt x="10191464" y="5155541"/>
                  </a:lnTo>
                  <a:lnTo>
                    <a:pt x="10191464" y="0"/>
                  </a:lnTo>
                  <a:lnTo>
                    <a:pt x="0" y="0"/>
                  </a:lnTo>
                  <a:close/>
                  <a:moveTo>
                    <a:pt x="10130504" y="5094581"/>
                  </a:moveTo>
                  <a:lnTo>
                    <a:pt x="59690" y="5094581"/>
                  </a:lnTo>
                  <a:lnTo>
                    <a:pt x="59690" y="59690"/>
                  </a:lnTo>
                  <a:lnTo>
                    <a:pt x="10130504" y="59690"/>
                  </a:lnTo>
                  <a:lnTo>
                    <a:pt x="10130504" y="5094581"/>
                  </a:lnTo>
                  <a:close/>
                </a:path>
              </a:pathLst>
            </a:custGeom>
            <a:solidFill>
              <a:srgbClr val="8DAFA8"/>
            </a:solidFill>
          </p:spPr>
        </p:sp>
      </p:grpSp>
      <p:sp>
        <p:nvSpPr>
          <p:cNvPr name="Freeform 7" id="7"/>
          <p:cNvSpPr/>
          <p:nvPr/>
        </p:nvSpPr>
        <p:spPr>
          <a:xfrm flipH="false" flipV="false" rot="0">
            <a:off x="2479142" y="3182642"/>
            <a:ext cx="13329717" cy="4998644"/>
          </a:xfrm>
          <a:custGeom>
            <a:avLst/>
            <a:gdLst/>
            <a:ahLst/>
            <a:cxnLst/>
            <a:rect r="r" b="b" t="t" l="l"/>
            <a:pathLst>
              <a:path h="4998644" w="13329717">
                <a:moveTo>
                  <a:pt x="0" y="0"/>
                </a:moveTo>
                <a:lnTo>
                  <a:pt x="13329716" y="0"/>
                </a:lnTo>
                <a:lnTo>
                  <a:pt x="13329716" y="4998644"/>
                </a:lnTo>
                <a:lnTo>
                  <a:pt x="0" y="4998644"/>
                </a:lnTo>
                <a:lnTo>
                  <a:pt x="0" y="0"/>
                </a:lnTo>
                <a:close/>
              </a:path>
            </a:pathLst>
          </a:custGeom>
          <a:blipFill>
            <a:blip r:embed="rId2"/>
            <a:stretch>
              <a:fillRect l="0" t="0" r="0" b="0"/>
            </a:stretch>
          </a:blipFill>
        </p:spPr>
      </p:sp>
      <p:grpSp>
        <p:nvGrpSpPr>
          <p:cNvPr name="Group 8" id="8"/>
          <p:cNvGrpSpPr/>
          <p:nvPr/>
        </p:nvGrpSpPr>
        <p:grpSpPr>
          <a:xfrm rot="0">
            <a:off x="1890079" y="1671570"/>
            <a:ext cx="14507842" cy="1511072"/>
            <a:chOff x="0" y="0"/>
            <a:chExt cx="19343790" cy="2014762"/>
          </a:xfrm>
        </p:grpSpPr>
        <p:sp>
          <p:nvSpPr>
            <p:cNvPr name="TextBox 9" id="9"/>
            <p:cNvSpPr txBox="true"/>
            <p:nvPr/>
          </p:nvSpPr>
          <p:spPr>
            <a:xfrm rot="0">
              <a:off x="0" y="-9525"/>
              <a:ext cx="19343790" cy="1274987"/>
            </a:xfrm>
            <a:prstGeom prst="rect">
              <a:avLst/>
            </a:prstGeom>
          </p:spPr>
          <p:txBody>
            <a:bodyPr anchor="t" rtlCol="false" tIns="0" lIns="0" bIns="0" rIns="0">
              <a:spAutoFit/>
            </a:bodyPr>
            <a:lstStyle/>
            <a:p>
              <a:pPr algn="l" marL="0" indent="0" lvl="0">
                <a:lnSpc>
                  <a:spcPts val="6241"/>
                </a:lnSpc>
              </a:pPr>
              <a:r>
                <a:rPr lang="en-US" sz="6241">
                  <a:solidFill>
                    <a:srgbClr val="8F6234"/>
                  </a:solidFill>
                  <a:latin typeface="Times New Roman MT"/>
                  <a:ea typeface="Times New Roman MT"/>
                  <a:cs typeface="Times New Roman MT"/>
                  <a:sym typeface="Times New Roman MT"/>
                </a:rPr>
                <a:t>BLACK BOX TESTING </a:t>
              </a:r>
            </a:p>
          </p:txBody>
        </p:sp>
        <p:sp>
          <p:nvSpPr>
            <p:cNvPr name="TextBox 10" id="10"/>
            <p:cNvSpPr txBox="true"/>
            <p:nvPr/>
          </p:nvSpPr>
          <p:spPr>
            <a:xfrm rot="0">
              <a:off x="0" y="1433737"/>
              <a:ext cx="19343790" cy="581025"/>
            </a:xfrm>
            <a:prstGeom prst="rect">
              <a:avLst/>
            </a:prstGeom>
          </p:spPr>
          <p:txBody>
            <a:bodyPr anchor="t" rtlCol="false" tIns="0" lIns="0" bIns="0" rIns="0">
              <a:spAutoFit/>
            </a:bodyPr>
            <a:lstStyle/>
            <a:p>
              <a:pPr algn="just" marL="0" indent="0" lvl="0">
                <a:lnSpc>
                  <a:spcPts val="3749"/>
                </a:lnSpc>
              </a:pP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47750"/>
            <a:ext cx="16230600" cy="8210550"/>
            <a:chOff x="0" y="0"/>
            <a:chExt cx="10191464" cy="5155541"/>
          </a:xfrm>
        </p:grpSpPr>
        <p:sp>
          <p:nvSpPr>
            <p:cNvPr name="Freeform 6" id="6"/>
            <p:cNvSpPr/>
            <p:nvPr/>
          </p:nvSpPr>
          <p:spPr>
            <a:xfrm flipH="false" flipV="false" rot="0">
              <a:off x="0" y="0"/>
              <a:ext cx="10191464" cy="5155541"/>
            </a:xfrm>
            <a:custGeom>
              <a:avLst/>
              <a:gdLst/>
              <a:ahLst/>
              <a:cxnLst/>
              <a:rect r="r" b="b" t="t" l="l"/>
              <a:pathLst>
                <a:path h="5155541" w="10191464">
                  <a:moveTo>
                    <a:pt x="0" y="0"/>
                  </a:moveTo>
                  <a:lnTo>
                    <a:pt x="0" y="5155541"/>
                  </a:lnTo>
                  <a:lnTo>
                    <a:pt x="10191464" y="5155541"/>
                  </a:lnTo>
                  <a:lnTo>
                    <a:pt x="10191464" y="0"/>
                  </a:lnTo>
                  <a:lnTo>
                    <a:pt x="0" y="0"/>
                  </a:lnTo>
                  <a:close/>
                  <a:moveTo>
                    <a:pt x="10130504" y="5094581"/>
                  </a:moveTo>
                  <a:lnTo>
                    <a:pt x="59690" y="5094581"/>
                  </a:lnTo>
                  <a:lnTo>
                    <a:pt x="59690" y="59690"/>
                  </a:lnTo>
                  <a:lnTo>
                    <a:pt x="10130504" y="59690"/>
                  </a:lnTo>
                  <a:lnTo>
                    <a:pt x="10130504" y="5094581"/>
                  </a:lnTo>
                  <a:close/>
                </a:path>
              </a:pathLst>
            </a:custGeom>
            <a:solidFill>
              <a:srgbClr val="8DAFA8"/>
            </a:solidFill>
          </p:spPr>
        </p:sp>
      </p:grpSp>
      <p:sp>
        <p:nvSpPr>
          <p:cNvPr name="Freeform 7" id="7"/>
          <p:cNvSpPr/>
          <p:nvPr/>
        </p:nvSpPr>
        <p:spPr>
          <a:xfrm flipH="false" flipV="false" rot="0">
            <a:off x="5413171" y="1542618"/>
            <a:ext cx="11348776" cy="7277402"/>
          </a:xfrm>
          <a:custGeom>
            <a:avLst/>
            <a:gdLst/>
            <a:ahLst/>
            <a:cxnLst/>
            <a:rect r="r" b="b" t="t" l="l"/>
            <a:pathLst>
              <a:path h="7277402" w="11348776">
                <a:moveTo>
                  <a:pt x="0" y="0"/>
                </a:moveTo>
                <a:lnTo>
                  <a:pt x="11348776" y="0"/>
                </a:lnTo>
                <a:lnTo>
                  <a:pt x="11348776" y="7277402"/>
                </a:lnTo>
                <a:lnTo>
                  <a:pt x="0" y="7277402"/>
                </a:lnTo>
                <a:lnTo>
                  <a:pt x="0" y="0"/>
                </a:lnTo>
                <a:close/>
              </a:path>
            </a:pathLst>
          </a:custGeom>
          <a:blipFill>
            <a:blip r:embed="rId2"/>
            <a:stretch>
              <a:fillRect l="0" t="0" r="0" b="0"/>
            </a:stretch>
          </a:blipFill>
        </p:spPr>
      </p:sp>
      <p:sp>
        <p:nvSpPr>
          <p:cNvPr name="TextBox 8" id="8"/>
          <p:cNvSpPr txBox="true"/>
          <p:nvPr/>
        </p:nvSpPr>
        <p:spPr>
          <a:xfrm rot="0">
            <a:off x="1605343" y="2999016"/>
            <a:ext cx="5031333" cy="2539772"/>
          </a:xfrm>
          <a:prstGeom prst="rect">
            <a:avLst/>
          </a:prstGeom>
        </p:spPr>
        <p:txBody>
          <a:bodyPr anchor="t" rtlCol="false" tIns="0" lIns="0" bIns="0" rIns="0">
            <a:spAutoFit/>
          </a:bodyPr>
          <a:lstStyle/>
          <a:p>
            <a:pPr algn="l">
              <a:lnSpc>
                <a:spcPts val="6241"/>
              </a:lnSpc>
            </a:pPr>
            <a:r>
              <a:rPr lang="en-US" sz="6241">
                <a:solidFill>
                  <a:srgbClr val="8F6234"/>
                </a:solidFill>
                <a:latin typeface="Times New Roman MT"/>
                <a:ea typeface="Times New Roman MT"/>
                <a:cs typeface="Times New Roman MT"/>
                <a:sym typeface="Times New Roman MT"/>
              </a:rPr>
              <a:t>WHITE</a:t>
            </a:r>
          </a:p>
          <a:p>
            <a:pPr algn="l">
              <a:lnSpc>
                <a:spcPts val="6241"/>
              </a:lnSpc>
            </a:pPr>
            <a:r>
              <a:rPr lang="en-US" sz="6241">
                <a:solidFill>
                  <a:srgbClr val="8F6234"/>
                </a:solidFill>
                <a:latin typeface="Times New Roman MT"/>
                <a:ea typeface="Times New Roman MT"/>
                <a:cs typeface="Times New Roman MT"/>
                <a:sym typeface="Times New Roman MT"/>
              </a:rPr>
              <a:t> BOX </a:t>
            </a:r>
          </a:p>
          <a:p>
            <a:pPr algn="l" marL="0" indent="0" lvl="0">
              <a:lnSpc>
                <a:spcPts val="6241"/>
              </a:lnSpc>
            </a:pPr>
            <a:r>
              <a:rPr lang="en-US" sz="6241">
                <a:solidFill>
                  <a:srgbClr val="8F6234"/>
                </a:solidFill>
                <a:latin typeface="Times New Roman MT"/>
                <a:ea typeface="Times New Roman MT"/>
                <a:cs typeface="Times New Roman MT"/>
                <a:sym typeface="Times New Roman MT"/>
              </a:rPr>
              <a:t>TESTING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47750"/>
            <a:ext cx="16230600" cy="8210550"/>
            <a:chOff x="0" y="0"/>
            <a:chExt cx="10191464" cy="5155541"/>
          </a:xfrm>
        </p:grpSpPr>
        <p:sp>
          <p:nvSpPr>
            <p:cNvPr name="Freeform 6" id="6"/>
            <p:cNvSpPr/>
            <p:nvPr/>
          </p:nvSpPr>
          <p:spPr>
            <a:xfrm flipH="false" flipV="false" rot="0">
              <a:off x="0" y="0"/>
              <a:ext cx="10191464" cy="5155541"/>
            </a:xfrm>
            <a:custGeom>
              <a:avLst/>
              <a:gdLst/>
              <a:ahLst/>
              <a:cxnLst/>
              <a:rect r="r" b="b" t="t" l="l"/>
              <a:pathLst>
                <a:path h="5155541" w="10191464">
                  <a:moveTo>
                    <a:pt x="0" y="0"/>
                  </a:moveTo>
                  <a:lnTo>
                    <a:pt x="0" y="5155541"/>
                  </a:lnTo>
                  <a:lnTo>
                    <a:pt x="10191464" y="5155541"/>
                  </a:lnTo>
                  <a:lnTo>
                    <a:pt x="10191464" y="0"/>
                  </a:lnTo>
                  <a:lnTo>
                    <a:pt x="0" y="0"/>
                  </a:lnTo>
                  <a:close/>
                  <a:moveTo>
                    <a:pt x="10130504" y="5094581"/>
                  </a:moveTo>
                  <a:lnTo>
                    <a:pt x="59690" y="5094581"/>
                  </a:lnTo>
                  <a:lnTo>
                    <a:pt x="59690" y="59690"/>
                  </a:lnTo>
                  <a:lnTo>
                    <a:pt x="10130504" y="59690"/>
                  </a:lnTo>
                  <a:lnTo>
                    <a:pt x="10130504" y="5094581"/>
                  </a:lnTo>
                  <a:close/>
                </a:path>
              </a:pathLst>
            </a:custGeom>
            <a:solidFill>
              <a:srgbClr val="8DAFA8"/>
            </a:solidFill>
          </p:spPr>
        </p:sp>
      </p:grpSp>
      <p:sp>
        <p:nvSpPr>
          <p:cNvPr name="Freeform 7" id="7"/>
          <p:cNvSpPr/>
          <p:nvPr/>
        </p:nvSpPr>
        <p:spPr>
          <a:xfrm flipH="false" flipV="false" rot="0">
            <a:off x="4222323" y="3304698"/>
            <a:ext cx="9873092" cy="5294445"/>
          </a:xfrm>
          <a:custGeom>
            <a:avLst/>
            <a:gdLst/>
            <a:ahLst/>
            <a:cxnLst/>
            <a:rect r="r" b="b" t="t" l="l"/>
            <a:pathLst>
              <a:path h="5294445" w="9873092">
                <a:moveTo>
                  <a:pt x="0" y="0"/>
                </a:moveTo>
                <a:lnTo>
                  <a:pt x="9873091" y="0"/>
                </a:lnTo>
                <a:lnTo>
                  <a:pt x="9873091" y="5294446"/>
                </a:lnTo>
                <a:lnTo>
                  <a:pt x="0" y="5294446"/>
                </a:lnTo>
                <a:lnTo>
                  <a:pt x="0" y="0"/>
                </a:lnTo>
                <a:close/>
              </a:path>
            </a:pathLst>
          </a:custGeom>
          <a:blipFill>
            <a:blip r:embed="rId2"/>
            <a:stretch>
              <a:fillRect l="0" t="0" r="0" b="0"/>
            </a:stretch>
          </a:blipFill>
        </p:spPr>
      </p:sp>
      <p:grpSp>
        <p:nvGrpSpPr>
          <p:cNvPr name="Group 8" id="8"/>
          <p:cNvGrpSpPr/>
          <p:nvPr/>
        </p:nvGrpSpPr>
        <p:grpSpPr>
          <a:xfrm rot="0">
            <a:off x="3696803" y="1536769"/>
            <a:ext cx="10924131" cy="1511072"/>
            <a:chOff x="0" y="0"/>
            <a:chExt cx="14565508" cy="2014762"/>
          </a:xfrm>
        </p:grpSpPr>
        <p:sp>
          <p:nvSpPr>
            <p:cNvPr name="TextBox 9" id="9"/>
            <p:cNvSpPr txBox="true"/>
            <p:nvPr/>
          </p:nvSpPr>
          <p:spPr>
            <a:xfrm rot="0">
              <a:off x="0" y="-9525"/>
              <a:ext cx="14565508" cy="1274987"/>
            </a:xfrm>
            <a:prstGeom prst="rect">
              <a:avLst/>
            </a:prstGeom>
          </p:spPr>
          <p:txBody>
            <a:bodyPr anchor="t" rtlCol="false" tIns="0" lIns="0" bIns="0" rIns="0">
              <a:spAutoFit/>
            </a:bodyPr>
            <a:lstStyle/>
            <a:p>
              <a:pPr algn="ctr">
                <a:lnSpc>
                  <a:spcPts val="6241"/>
                </a:lnSpc>
              </a:pPr>
              <a:r>
                <a:rPr lang="en-US" sz="6241">
                  <a:solidFill>
                    <a:srgbClr val="8F6234"/>
                  </a:solidFill>
                  <a:latin typeface="Times New Roman MT"/>
                  <a:ea typeface="Times New Roman MT"/>
                  <a:cs typeface="Times New Roman MT"/>
                  <a:sym typeface="Times New Roman MT"/>
                </a:rPr>
                <a:t>IMPLEMENTATION</a:t>
              </a:r>
            </a:p>
          </p:txBody>
        </p:sp>
        <p:sp>
          <p:nvSpPr>
            <p:cNvPr name="TextBox 10" id="10"/>
            <p:cNvSpPr txBox="true"/>
            <p:nvPr/>
          </p:nvSpPr>
          <p:spPr>
            <a:xfrm rot="0">
              <a:off x="0" y="1433737"/>
              <a:ext cx="14565508" cy="581025"/>
            </a:xfrm>
            <a:prstGeom prst="rect">
              <a:avLst/>
            </a:prstGeom>
          </p:spPr>
          <p:txBody>
            <a:bodyPr anchor="t" rtlCol="false" tIns="0" lIns="0" bIns="0" rIns="0">
              <a:spAutoFit/>
            </a:bodyPr>
            <a:lstStyle/>
            <a:p>
              <a:pPr algn="just" marL="0" indent="0" lvl="0">
                <a:lnSpc>
                  <a:spcPts val="3749"/>
                </a:lnSpc>
              </a:pPr>
            </a:p>
          </p:txBody>
        </p:sp>
      </p:grpSp>
      <p:sp>
        <p:nvSpPr>
          <p:cNvPr name="TextBox 11" id="11"/>
          <p:cNvSpPr txBox="true"/>
          <p:nvPr/>
        </p:nvSpPr>
        <p:spPr>
          <a:xfrm rot="0">
            <a:off x="2273318" y="2571908"/>
            <a:ext cx="3580977" cy="5994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Alice"/>
                <a:ea typeface="Alice"/>
                <a:cs typeface="Alice"/>
                <a:sym typeface="Alice"/>
              </a:rPr>
              <a:t>Input screen :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47750"/>
            <a:ext cx="16230600" cy="8210550"/>
            <a:chOff x="0" y="0"/>
            <a:chExt cx="10191464" cy="5155541"/>
          </a:xfrm>
        </p:grpSpPr>
        <p:sp>
          <p:nvSpPr>
            <p:cNvPr name="Freeform 6" id="6"/>
            <p:cNvSpPr/>
            <p:nvPr/>
          </p:nvSpPr>
          <p:spPr>
            <a:xfrm flipH="false" flipV="false" rot="0">
              <a:off x="0" y="0"/>
              <a:ext cx="10191464" cy="5155541"/>
            </a:xfrm>
            <a:custGeom>
              <a:avLst/>
              <a:gdLst/>
              <a:ahLst/>
              <a:cxnLst/>
              <a:rect r="r" b="b" t="t" l="l"/>
              <a:pathLst>
                <a:path h="5155541" w="10191464">
                  <a:moveTo>
                    <a:pt x="0" y="0"/>
                  </a:moveTo>
                  <a:lnTo>
                    <a:pt x="0" y="5155541"/>
                  </a:lnTo>
                  <a:lnTo>
                    <a:pt x="10191464" y="5155541"/>
                  </a:lnTo>
                  <a:lnTo>
                    <a:pt x="10191464" y="0"/>
                  </a:lnTo>
                  <a:lnTo>
                    <a:pt x="0" y="0"/>
                  </a:lnTo>
                  <a:close/>
                  <a:moveTo>
                    <a:pt x="10130504" y="5094581"/>
                  </a:moveTo>
                  <a:lnTo>
                    <a:pt x="59690" y="5094581"/>
                  </a:lnTo>
                  <a:lnTo>
                    <a:pt x="59690" y="59690"/>
                  </a:lnTo>
                  <a:lnTo>
                    <a:pt x="10130504" y="59690"/>
                  </a:lnTo>
                  <a:lnTo>
                    <a:pt x="10130504" y="5094581"/>
                  </a:lnTo>
                  <a:close/>
                </a:path>
              </a:pathLst>
            </a:custGeom>
            <a:solidFill>
              <a:srgbClr val="8DAFA8"/>
            </a:solidFill>
          </p:spPr>
        </p:sp>
      </p:grpSp>
      <p:sp>
        <p:nvSpPr>
          <p:cNvPr name="Freeform 7" id="7"/>
          <p:cNvSpPr/>
          <p:nvPr/>
        </p:nvSpPr>
        <p:spPr>
          <a:xfrm flipH="false" flipV="false" rot="0">
            <a:off x="3493371" y="2106287"/>
            <a:ext cx="11301259" cy="6074427"/>
          </a:xfrm>
          <a:custGeom>
            <a:avLst/>
            <a:gdLst/>
            <a:ahLst/>
            <a:cxnLst/>
            <a:rect r="r" b="b" t="t" l="l"/>
            <a:pathLst>
              <a:path h="6074427" w="11301259">
                <a:moveTo>
                  <a:pt x="0" y="0"/>
                </a:moveTo>
                <a:lnTo>
                  <a:pt x="11301258" y="0"/>
                </a:lnTo>
                <a:lnTo>
                  <a:pt x="11301258" y="6074426"/>
                </a:lnTo>
                <a:lnTo>
                  <a:pt x="0" y="6074426"/>
                </a:lnTo>
                <a:lnTo>
                  <a:pt x="0" y="0"/>
                </a:lnTo>
                <a:close/>
              </a:path>
            </a:pathLst>
          </a:custGeom>
          <a:blipFill>
            <a:blip r:embed="rId2"/>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47750"/>
            <a:ext cx="16230600" cy="8210550"/>
            <a:chOff x="0" y="0"/>
            <a:chExt cx="10191464" cy="5155541"/>
          </a:xfrm>
        </p:grpSpPr>
        <p:sp>
          <p:nvSpPr>
            <p:cNvPr name="Freeform 6" id="6"/>
            <p:cNvSpPr/>
            <p:nvPr/>
          </p:nvSpPr>
          <p:spPr>
            <a:xfrm flipH="false" flipV="false" rot="0">
              <a:off x="0" y="0"/>
              <a:ext cx="10191464" cy="5155541"/>
            </a:xfrm>
            <a:custGeom>
              <a:avLst/>
              <a:gdLst/>
              <a:ahLst/>
              <a:cxnLst/>
              <a:rect r="r" b="b" t="t" l="l"/>
              <a:pathLst>
                <a:path h="5155541" w="10191464">
                  <a:moveTo>
                    <a:pt x="0" y="0"/>
                  </a:moveTo>
                  <a:lnTo>
                    <a:pt x="0" y="5155541"/>
                  </a:lnTo>
                  <a:lnTo>
                    <a:pt x="10191464" y="5155541"/>
                  </a:lnTo>
                  <a:lnTo>
                    <a:pt x="10191464" y="0"/>
                  </a:lnTo>
                  <a:lnTo>
                    <a:pt x="0" y="0"/>
                  </a:lnTo>
                  <a:close/>
                  <a:moveTo>
                    <a:pt x="10130504" y="5094581"/>
                  </a:moveTo>
                  <a:lnTo>
                    <a:pt x="59690" y="5094581"/>
                  </a:lnTo>
                  <a:lnTo>
                    <a:pt x="59690" y="59690"/>
                  </a:lnTo>
                  <a:lnTo>
                    <a:pt x="10130504" y="59690"/>
                  </a:lnTo>
                  <a:lnTo>
                    <a:pt x="10130504" y="5094581"/>
                  </a:lnTo>
                  <a:close/>
                </a:path>
              </a:pathLst>
            </a:custGeom>
            <a:solidFill>
              <a:srgbClr val="8DAFA8"/>
            </a:solidFill>
          </p:spPr>
        </p:sp>
      </p:grpSp>
      <p:sp>
        <p:nvSpPr>
          <p:cNvPr name="Freeform 7" id="7"/>
          <p:cNvSpPr/>
          <p:nvPr/>
        </p:nvSpPr>
        <p:spPr>
          <a:xfrm flipH="false" flipV="false" rot="0">
            <a:off x="3493371" y="2106287"/>
            <a:ext cx="11301259" cy="6074427"/>
          </a:xfrm>
          <a:custGeom>
            <a:avLst/>
            <a:gdLst/>
            <a:ahLst/>
            <a:cxnLst/>
            <a:rect r="r" b="b" t="t" l="l"/>
            <a:pathLst>
              <a:path h="6074427" w="11301259">
                <a:moveTo>
                  <a:pt x="0" y="0"/>
                </a:moveTo>
                <a:lnTo>
                  <a:pt x="11301258" y="0"/>
                </a:lnTo>
                <a:lnTo>
                  <a:pt x="11301258" y="6074426"/>
                </a:lnTo>
                <a:lnTo>
                  <a:pt x="0" y="6074426"/>
                </a:lnTo>
                <a:lnTo>
                  <a:pt x="0" y="0"/>
                </a:lnTo>
                <a:close/>
              </a:path>
            </a:pathLst>
          </a:custGeom>
          <a:blipFill>
            <a:blip r:embed="rId2"/>
            <a:stretch>
              <a:fillRect l="0" t="0" r="0" b="0"/>
            </a:stretch>
          </a:blipFill>
        </p:spPr>
      </p:sp>
      <p:sp>
        <p:nvSpPr>
          <p:cNvPr name="TextBox 8" id="8"/>
          <p:cNvSpPr txBox="true"/>
          <p:nvPr/>
        </p:nvSpPr>
        <p:spPr>
          <a:xfrm rot="0">
            <a:off x="1978043" y="1411275"/>
            <a:ext cx="3907790" cy="5994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Alice"/>
                <a:ea typeface="Alice"/>
                <a:cs typeface="Alice"/>
                <a:sym typeface="Alice"/>
              </a:rPr>
              <a:t>Output screen :  </a:t>
            </a:r>
          </a:p>
        </p:txBody>
      </p:sp>
    </p:spTree>
  </p:cSld>
  <p:clrMapOvr>
    <a:masterClrMapping/>
  </p:clrMapOvr>
</p:sld>
</file>

<file path=ppt/slides/slide31.xml><?xml version="1.0" encoding="utf-8"?>
<p:sld xmlns:p="http://schemas.openxmlformats.org/presentationml/2006/main" xmlns:a="http://schemas.openxmlformats.org/drawingml/2006/main">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47750"/>
            <a:ext cx="16230600" cy="8210550"/>
            <a:chOff x="0" y="0"/>
            <a:chExt cx="10191464" cy="5155541"/>
          </a:xfrm>
        </p:grpSpPr>
        <p:sp>
          <p:nvSpPr>
            <p:cNvPr name="Freeform 6" id="6"/>
            <p:cNvSpPr/>
            <p:nvPr/>
          </p:nvSpPr>
          <p:spPr>
            <a:xfrm flipH="false" flipV="false" rot="0">
              <a:off x="0" y="0"/>
              <a:ext cx="10191464" cy="5155541"/>
            </a:xfrm>
            <a:custGeom>
              <a:avLst/>
              <a:gdLst/>
              <a:ahLst/>
              <a:cxnLst/>
              <a:rect r="r" b="b" t="t" l="l"/>
              <a:pathLst>
                <a:path h="5155541" w="10191464">
                  <a:moveTo>
                    <a:pt x="0" y="0"/>
                  </a:moveTo>
                  <a:lnTo>
                    <a:pt x="0" y="5155541"/>
                  </a:lnTo>
                  <a:lnTo>
                    <a:pt x="10191464" y="5155541"/>
                  </a:lnTo>
                  <a:lnTo>
                    <a:pt x="10191464" y="0"/>
                  </a:lnTo>
                  <a:lnTo>
                    <a:pt x="0" y="0"/>
                  </a:lnTo>
                  <a:close/>
                  <a:moveTo>
                    <a:pt x="10130504" y="5094581"/>
                  </a:moveTo>
                  <a:lnTo>
                    <a:pt x="59690" y="5094581"/>
                  </a:lnTo>
                  <a:lnTo>
                    <a:pt x="59690" y="59690"/>
                  </a:lnTo>
                  <a:lnTo>
                    <a:pt x="10130504" y="59690"/>
                  </a:lnTo>
                  <a:lnTo>
                    <a:pt x="10130504" y="5094581"/>
                  </a:lnTo>
                  <a:close/>
                </a:path>
              </a:pathLst>
            </a:custGeom>
            <a:solidFill>
              <a:srgbClr val="8DAFA8"/>
            </a:solidFill>
          </p:spPr>
        </p:sp>
      </p:grpSp>
      <p:grpSp>
        <p:nvGrpSpPr>
          <p:cNvPr name="Group 7" id="7"/>
          <p:cNvGrpSpPr/>
          <p:nvPr/>
        </p:nvGrpSpPr>
        <p:grpSpPr>
          <a:xfrm rot="0">
            <a:off x="3696803" y="1651069"/>
            <a:ext cx="10924131" cy="1511072"/>
            <a:chOff x="0" y="0"/>
            <a:chExt cx="14565508" cy="2014762"/>
          </a:xfrm>
        </p:grpSpPr>
        <p:sp>
          <p:nvSpPr>
            <p:cNvPr name="TextBox 8" id="8"/>
            <p:cNvSpPr txBox="true"/>
            <p:nvPr/>
          </p:nvSpPr>
          <p:spPr>
            <a:xfrm rot="0">
              <a:off x="0" y="-9525"/>
              <a:ext cx="14565508" cy="1274987"/>
            </a:xfrm>
            <a:prstGeom prst="rect">
              <a:avLst/>
            </a:prstGeom>
          </p:spPr>
          <p:txBody>
            <a:bodyPr anchor="t" rtlCol="false" tIns="0" lIns="0" bIns="0" rIns="0">
              <a:spAutoFit/>
            </a:bodyPr>
            <a:lstStyle/>
            <a:p>
              <a:pPr algn="ctr">
                <a:lnSpc>
                  <a:spcPts val="6241"/>
                </a:lnSpc>
              </a:pPr>
              <a:r>
                <a:rPr lang="en-US" sz="6241">
                  <a:solidFill>
                    <a:srgbClr val="8F6234"/>
                  </a:solidFill>
                  <a:latin typeface="Times New Roman MT"/>
                  <a:ea typeface="Times New Roman MT"/>
                  <a:cs typeface="Times New Roman MT"/>
                  <a:sym typeface="Times New Roman MT"/>
                </a:rPr>
                <a:t>CONCLUTION</a:t>
              </a:r>
            </a:p>
          </p:txBody>
        </p:sp>
        <p:sp>
          <p:nvSpPr>
            <p:cNvPr name="TextBox 9" id="9"/>
            <p:cNvSpPr txBox="true"/>
            <p:nvPr/>
          </p:nvSpPr>
          <p:spPr>
            <a:xfrm rot="0">
              <a:off x="0" y="1433737"/>
              <a:ext cx="14565508" cy="581025"/>
            </a:xfrm>
            <a:prstGeom prst="rect">
              <a:avLst/>
            </a:prstGeom>
          </p:spPr>
          <p:txBody>
            <a:bodyPr anchor="t" rtlCol="false" tIns="0" lIns="0" bIns="0" rIns="0">
              <a:spAutoFit/>
            </a:bodyPr>
            <a:lstStyle/>
            <a:p>
              <a:pPr algn="just" marL="0" indent="0" lvl="0">
                <a:lnSpc>
                  <a:spcPts val="3749"/>
                </a:lnSpc>
              </a:pPr>
            </a:p>
          </p:txBody>
        </p:sp>
      </p:grpSp>
      <p:sp>
        <p:nvSpPr>
          <p:cNvPr name="TextBox 10" id="10"/>
          <p:cNvSpPr txBox="true"/>
          <p:nvPr/>
        </p:nvSpPr>
        <p:spPr>
          <a:xfrm rot="0">
            <a:off x="2510006" y="3095466"/>
            <a:ext cx="13564425" cy="4300498"/>
          </a:xfrm>
          <a:prstGeom prst="rect">
            <a:avLst/>
          </a:prstGeom>
        </p:spPr>
        <p:txBody>
          <a:bodyPr anchor="t" rtlCol="false" tIns="0" lIns="0" bIns="0" rIns="0">
            <a:spAutoFit/>
          </a:bodyPr>
          <a:lstStyle/>
          <a:p>
            <a:pPr algn="l">
              <a:lnSpc>
                <a:spcPts val="4274"/>
              </a:lnSpc>
            </a:pPr>
            <a:r>
              <a:rPr lang="en-US" sz="3053">
                <a:solidFill>
                  <a:srgbClr val="000000"/>
                </a:solidFill>
                <a:latin typeface="Alice"/>
                <a:ea typeface="Alice"/>
                <a:cs typeface="Alice"/>
                <a:sym typeface="Alice"/>
              </a:rPr>
              <a:t>The Job Portal System is a modern web-based application developed to simplify and improve the recruitment process for both job seekers and employers. </a:t>
            </a:r>
          </a:p>
          <a:p>
            <a:pPr algn="l">
              <a:lnSpc>
                <a:spcPts val="4274"/>
              </a:lnSpc>
            </a:pPr>
            <a:r>
              <a:rPr lang="en-US" sz="3053">
                <a:solidFill>
                  <a:srgbClr val="000000"/>
                </a:solidFill>
                <a:latin typeface="Alice"/>
                <a:ea typeface="Alice"/>
                <a:cs typeface="Alice"/>
                <a:sym typeface="Alice"/>
              </a:rPr>
              <a:t>Overall, the project meets its objectives by providing an efficient online hiring solution. It is reliable, scalable, and easy to use, making it suitable for real-time implementation. The system creates better employment opportunities for candidates and helps organizations find qualified talent quickly and effectively.</a:t>
            </a:r>
          </a:p>
        </p:txBody>
      </p:sp>
    </p:spTree>
  </p:cSld>
  <p:clrMapOvr>
    <a:masterClrMapping/>
  </p:clrMapOvr>
</p:sld>
</file>

<file path=ppt/slides/slide32.xml><?xml version="1.0" encoding="utf-8"?>
<p:sld xmlns:p="http://schemas.openxmlformats.org/presentationml/2006/main" xmlns:a="http://schemas.openxmlformats.org/drawingml/2006/main">
  <p:cSld>
    <p:bg>
      <p:bgPr>
        <a:solidFill>
          <a:srgbClr val="FFF7EF"/>
        </a:solidFill>
      </p:bgPr>
    </p:bg>
    <p:spTree>
      <p:nvGrpSpPr>
        <p:cNvPr id="1" name=""/>
        <p:cNvGrpSpPr/>
        <p:nvPr/>
      </p:nvGrpSpPr>
      <p:grpSpPr>
        <a:xfrm>
          <a:off x="0" y="0"/>
          <a:ext cx="0" cy="0"/>
          <a:chOff x="0" y="0"/>
          <a:chExt cx="0" cy="0"/>
        </a:xfrm>
      </p:grpSpPr>
      <p:grpSp>
        <p:nvGrpSpPr>
          <p:cNvPr name="Group 2" id="2"/>
          <p:cNvGrpSpPr/>
          <p:nvPr/>
        </p:nvGrpSpPr>
        <p:grpSpPr>
          <a:xfrm rot="0">
            <a:off x="-409292" y="9787362"/>
            <a:ext cx="19403020" cy="1866071"/>
            <a:chOff x="0" y="0"/>
            <a:chExt cx="5110260" cy="491475"/>
          </a:xfrm>
        </p:grpSpPr>
        <p:sp>
          <p:nvSpPr>
            <p:cNvPr name="Freeform 3" id="3"/>
            <p:cNvSpPr/>
            <p:nvPr/>
          </p:nvSpPr>
          <p:spPr>
            <a:xfrm flipH="false" flipV="false" rot="0">
              <a:off x="0" y="0"/>
              <a:ext cx="5110261" cy="491475"/>
            </a:xfrm>
            <a:custGeom>
              <a:avLst/>
              <a:gdLst/>
              <a:ahLst/>
              <a:cxnLst/>
              <a:rect r="r" b="b" t="t" l="l"/>
              <a:pathLst>
                <a:path h="491475" w="5110261">
                  <a:moveTo>
                    <a:pt x="0" y="0"/>
                  </a:moveTo>
                  <a:lnTo>
                    <a:pt x="5110261" y="0"/>
                  </a:lnTo>
                  <a:lnTo>
                    <a:pt x="5110261" y="491475"/>
                  </a:lnTo>
                  <a:lnTo>
                    <a:pt x="0" y="491475"/>
                  </a:lnTo>
                  <a:close/>
                </a:path>
              </a:pathLst>
            </a:custGeom>
            <a:solidFill>
              <a:srgbClr val="8DAFA8"/>
            </a:solidFill>
          </p:spPr>
        </p:sp>
        <p:sp>
          <p:nvSpPr>
            <p:cNvPr name="TextBox 4" id="4"/>
            <p:cNvSpPr txBox="true"/>
            <p:nvPr/>
          </p:nvSpPr>
          <p:spPr>
            <a:xfrm>
              <a:off x="0" y="-38100"/>
              <a:ext cx="5110260" cy="5295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1047750"/>
            <a:ext cx="16230600" cy="8210550"/>
            <a:chOff x="0" y="0"/>
            <a:chExt cx="10191464" cy="5155541"/>
          </a:xfrm>
        </p:grpSpPr>
        <p:sp>
          <p:nvSpPr>
            <p:cNvPr name="Freeform 6" id="6"/>
            <p:cNvSpPr/>
            <p:nvPr/>
          </p:nvSpPr>
          <p:spPr>
            <a:xfrm flipH="false" flipV="false" rot="0">
              <a:off x="0" y="0"/>
              <a:ext cx="10191464" cy="5155541"/>
            </a:xfrm>
            <a:custGeom>
              <a:avLst/>
              <a:gdLst/>
              <a:ahLst/>
              <a:cxnLst/>
              <a:rect r="r" b="b" t="t" l="l"/>
              <a:pathLst>
                <a:path h="5155541" w="10191464">
                  <a:moveTo>
                    <a:pt x="0" y="0"/>
                  </a:moveTo>
                  <a:lnTo>
                    <a:pt x="0" y="5155541"/>
                  </a:lnTo>
                  <a:lnTo>
                    <a:pt x="10191464" y="5155541"/>
                  </a:lnTo>
                  <a:lnTo>
                    <a:pt x="10191464" y="0"/>
                  </a:lnTo>
                  <a:lnTo>
                    <a:pt x="0" y="0"/>
                  </a:lnTo>
                  <a:close/>
                  <a:moveTo>
                    <a:pt x="10130504" y="5094581"/>
                  </a:moveTo>
                  <a:lnTo>
                    <a:pt x="59690" y="5094581"/>
                  </a:lnTo>
                  <a:lnTo>
                    <a:pt x="59690" y="59690"/>
                  </a:lnTo>
                  <a:lnTo>
                    <a:pt x="10130504" y="59690"/>
                  </a:lnTo>
                  <a:lnTo>
                    <a:pt x="10130504" y="5094581"/>
                  </a:lnTo>
                  <a:close/>
                </a:path>
              </a:pathLst>
            </a:custGeom>
            <a:solidFill>
              <a:srgbClr val="8DAFA8"/>
            </a:solidFill>
          </p:spPr>
        </p:sp>
      </p:grpSp>
      <p:grpSp>
        <p:nvGrpSpPr>
          <p:cNvPr name="Group 7" id="7"/>
          <p:cNvGrpSpPr/>
          <p:nvPr/>
        </p:nvGrpSpPr>
        <p:grpSpPr>
          <a:xfrm rot="0">
            <a:off x="3696803" y="1536769"/>
            <a:ext cx="10924131" cy="1511072"/>
            <a:chOff x="0" y="0"/>
            <a:chExt cx="14565508" cy="2014762"/>
          </a:xfrm>
        </p:grpSpPr>
        <p:sp>
          <p:nvSpPr>
            <p:cNvPr name="TextBox 8" id="8"/>
            <p:cNvSpPr txBox="true"/>
            <p:nvPr/>
          </p:nvSpPr>
          <p:spPr>
            <a:xfrm rot="0">
              <a:off x="0" y="-9525"/>
              <a:ext cx="14565508" cy="1274987"/>
            </a:xfrm>
            <a:prstGeom prst="rect">
              <a:avLst/>
            </a:prstGeom>
          </p:spPr>
          <p:txBody>
            <a:bodyPr anchor="t" rtlCol="false" tIns="0" lIns="0" bIns="0" rIns="0">
              <a:spAutoFit/>
            </a:bodyPr>
            <a:lstStyle/>
            <a:p>
              <a:pPr algn="ctr">
                <a:lnSpc>
                  <a:spcPts val="6241"/>
                </a:lnSpc>
              </a:pPr>
              <a:r>
                <a:rPr lang="en-US" sz="6241">
                  <a:solidFill>
                    <a:srgbClr val="8F6234"/>
                  </a:solidFill>
                  <a:latin typeface="Times New Roman MT"/>
                  <a:ea typeface="Times New Roman MT"/>
                  <a:cs typeface="Times New Roman MT"/>
                  <a:sym typeface="Times New Roman MT"/>
                </a:rPr>
                <a:t>FUTURE ENHANCEMENT</a:t>
              </a:r>
            </a:p>
          </p:txBody>
        </p:sp>
        <p:sp>
          <p:nvSpPr>
            <p:cNvPr name="TextBox 9" id="9"/>
            <p:cNvSpPr txBox="true"/>
            <p:nvPr/>
          </p:nvSpPr>
          <p:spPr>
            <a:xfrm rot="0">
              <a:off x="0" y="1433737"/>
              <a:ext cx="14565508" cy="581025"/>
            </a:xfrm>
            <a:prstGeom prst="rect">
              <a:avLst/>
            </a:prstGeom>
          </p:spPr>
          <p:txBody>
            <a:bodyPr anchor="t" rtlCol="false" tIns="0" lIns="0" bIns="0" rIns="0">
              <a:spAutoFit/>
            </a:bodyPr>
            <a:lstStyle/>
            <a:p>
              <a:pPr algn="just" marL="0" indent="0" lvl="0">
                <a:lnSpc>
                  <a:spcPts val="3749"/>
                </a:lnSpc>
              </a:pPr>
            </a:p>
          </p:txBody>
        </p:sp>
      </p:grpSp>
      <p:sp>
        <p:nvSpPr>
          <p:cNvPr name="TextBox 10" id="10"/>
          <p:cNvSpPr txBox="true"/>
          <p:nvPr/>
        </p:nvSpPr>
        <p:spPr>
          <a:xfrm rot="0">
            <a:off x="1894628" y="2667635"/>
            <a:ext cx="14943597" cy="6154968"/>
          </a:xfrm>
          <a:prstGeom prst="rect">
            <a:avLst/>
          </a:prstGeom>
        </p:spPr>
        <p:txBody>
          <a:bodyPr anchor="t" rtlCol="false" tIns="0" lIns="0" bIns="0" rIns="0">
            <a:spAutoFit/>
          </a:bodyPr>
          <a:lstStyle/>
          <a:p>
            <a:pPr algn="l">
              <a:lnSpc>
                <a:spcPts val="4441"/>
              </a:lnSpc>
            </a:pPr>
            <a:r>
              <a:rPr lang="en-US" sz="3172">
                <a:solidFill>
                  <a:srgbClr val="000000"/>
                </a:solidFill>
                <a:latin typeface="Alice"/>
                <a:ea typeface="Alice"/>
                <a:cs typeface="Alice"/>
                <a:sym typeface="Alice"/>
              </a:rPr>
              <a:t>The Job Portal System can be further improved by adding advanced features and modern technologies to make it more intelligent, efficient, and user-friendly.</a:t>
            </a:r>
          </a:p>
          <a:p>
            <a:pPr algn="l" marL="684964" indent="-342482" lvl="1">
              <a:lnSpc>
                <a:spcPts val="4441"/>
              </a:lnSpc>
              <a:buFont typeface="Arial"/>
              <a:buChar char="•"/>
            </a:pPr>
            <a:r>
              <a:rPr lang="en-US" sz="3172">
                <a:solidFill>
                  <a:srgbClr val="000000"/>
                </a:solidFill>
                <a:latin typeface="Alice"/>
                <a:ea typeface="Alice"/>
                <a:cs typeface="Alice"/>
                <a:sym typeface="Alice"/>
              </a:rPr>
              <a:t>Develop Android and iOS mobile applications.</a:t>
            </a:r>
          </a:p>
          <a:p>
            <a:pPr algn="l" marL="684964" indent="-342482" lvl="1">
              <a:lnSpc>
                <a:spcPts val="4441"/>
              </a:lnSpc>
              <a:buFont typeface="Arial"/>
              <a:buChar char="•"/>
            </a:pPr>
            <a:r>
              <a:rPr lang="en-US" sz="3172">
                <a:solidFill>
                  <a:srgbClr val="000000"/>
                </a:solidFill>
                <a:latin typeface="Alice"/>
                <a:ea typeface="Alice"/>
                <a:cs typeface="Alice"/>
                <a:sym typeface="Alice"/>
              </a:rPr>
              <a:t>Implement automatic resume screening and candidate matching.</a:t>
            </a:r>
          </a:p>
          <a:p>
            <a:pPr algn="l" marL="684964" indent="-342482" lvl="1">
              <a:lnSpc>
                <a:spcPts val="4441"/>
              </a:lnSpc>
              <a:buFont typeface="Arial"/>
              <a:buChar char="•"/>
            </a:pPr>
            <a:r>
              <a:rPr lang="en-US" sz="3172">
                <a:solidFill>
                  <a:srgbClr val="000000"/>
                </a:solidFill>
                <a:latin typeface="Alice"/>
                <a:ea typeface="Alice"/>
                <a:cs typeface="Alice"/>
                <a:sym typeface="Alice"/>
              </a:rPr>
              <a:t>Introduce online interview scheduling and video interviews.</a:t>
            </a:r>
          </a:p>
          <a:p>
            <a:pPr algn="l" marL="684964" indent="-342482" lvl="1">
              <a:lnSpc>
                <a:spcPts val="4441"/>
              </a:lnSpc>
              <a:buFont typeface="Arial"/>
              <a:buChar char="•"/>
            </a:pPr>
            <a:r>
              <a:rPr lang="en-US" sz="3172">
                <a:solidFill>
                  <a:srgbClr val="000000"/>
                </a:solidFill>
                <a:latin typeface="Alice"/>
                <a:ea typeface="Alice"/>
                <a:cs typeface="Alice"/>
                <a:sym typeface="Alice"/>
              </a:rPr>
              <a:t>Add email, SMS, and push notification systems.</a:t>
            </a:r>
          </a:p>
          <a:p>
            <a:pPr algn="l" marL="684964" indent="-342482" lvl="1">
              <a:lnSpc>
                <a:spcPts val="4441"/>
              </a:lnSpc>
              <a:buFont typeface="Arial"/>
              <a:buChar char="•"/>
            </a:pPr>
            <a:r>
              <a:rPr lang="en-US" sz="3172">
                <a:solidFill>
                  <a:srgbClr val="000000"/>
                </a:solidFill>
                <a:latin typeface="Alice"/>
                <a:ea typeface="Alice"/>
                <a:cs typeface="Alice"/>
                <a:sym typeface="Alice"/>
              </a:rPr>
              <a:t>Provide multi-language support for regional users.</a:t>
            </a:r>
          </a:p>
          <a:p>
            <a:pPr algn="l" marL="684964" indent="-342482" lvl="1">
              <a:lnSpc>
                <a:spcPts val="4441"/>
              </a:lnSpc>
              <a:buFont typeface="Arial"/>
              <a:buChar char="•"/>
            </a:pPr>
            <a:r>
              <a:rPr lang="en-US" sz="3172">
                <a:solidFill>
                  <a:srgbClr val="000000"/>
                </a:solidFill>
                <a:latin typeface="Alice"/>
                <a:ea typeface="Alice"/>
                <a:cs typeface="Alice"/>
                <a:sym typeface="Alice"/>
              </a:rPr>
              <a:t>Add online aptitude, coding, and technical skill tests.</a:t>
            </a:r>
          </a:p>
          <a:p>
            <a:pPr algn="l" marL="684964" indent="-342482" lvl="1">
              <a:lnSpc>
                <a:spcPts val="4441"/>
              </a:lnSpc>
              <a:buFont typeface="Arial"/>
              <a:buChar char="•"/>
            </a:pPr>
            <a:r>
              <a:rPr lang="en-US" sz="3172">
                <a:solidFill>
                  <a:srgbClr val="000000"/>
                </a:solidFill>
                <a:latin typeface="Alice"/>
                <a:ea typeface="Alice"/>
                <a:cs typeface="Alice"/>
                <a:sym typeface="Alice"/>
              </a:rPr>
              <a:t>Introduce AI chatbot for instant user support.</a:t>
            </a:r>
          </a:p>
          <a:p>
            <a:pPr algn="l" marL="684964" indent="-342482" lvl="1">
              <a:lnSpc>
                <a:spcPts val="4441"/>
              </a:lnSpc>
              <a:buFont typeface="Arial"/>
              <a:buChar char="•"/>
            </a:pPr>
            <a:r>
              <a:rPr lang="en-US" sz="3172">
                <a:solidFill>
                  <a:srgbClr val="000000"/>
                </a:solidFill>
                <a:latin typeface="Alice"/>
                <a:ea typeface="Alice"/>
                <a:cs typeface="Alice"/>
                <a:sym typeface="Alice"/>
              </a:rPr>
              <a:t>Enable Google, LinkedIn, and social media login integration.</a:t>
            </a:r>
          </a:p>
          <a:p>
            <a:pPr algn="l" marL="684964" indent="-342482" lvl="1">
              <a:lnSpc>
                <a:spcPts val="4441"/>
              </a:lnSpc>
              <a:buFont typeface="Arial"/>
              <a:buChar char="•"/>
            </a:pPr>
            <a:r>
              <a:rPr lang="en-US" sz="3172">
                <a:solidFill>
                  <a:srgbClr val="000000"/>
                </a:solidFill>
                <a:latin typeface="Alice"/>
                <a:ea typeface="Alice"/>
                <a:cs typeface="Alice"/>
                <a:sym typeface="Alice"/>
              </a:rPr>
              <a:t>Deploy system on cloud platforms for scalability and backup.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DAHICFviFgc</dc:identifier>
  <dcterms:modified xsi:type="dcterms:W3CDTF">2011-08-01T06:04:30Z</dcterms:modified>
  <cp:revision>1</cp:revision>
  <dc:title>Copy of Proposed system- AI-Driven EcoSystem</dc:title>
</cp:coreProperties>
</file>