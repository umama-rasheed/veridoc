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MT" charset="1" panose="020305020704050203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jpe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31.jpe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38.jpe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39.jpe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40.jpeg" Type="http://schemas.openxmlformats.org/officeDocument/2006/relationships/imag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jpeg" Type="http://schemas.openxmlformats.org/officeDocument/2006/relationships/image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jpeg" Type="http://schemas.openxmlformats.org/officeDocument/2006/relationships/image"/><Relationship Id="rId2" Target="../media/image1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media/image1.png" Type="http://schemas.openxmlformats.org/officeDocument/2006/relationships/image"/><Relationship Id="rId20" Target="../media/image23.svg" Type="http://schemas.openxmlformats.org/officeDocument/2006/relationships/image"/><Relationship Id="rId21" Target="../media/image24.png" Type="http://schemas.openxmlformats.org/officeDocument/2006/relationships/image"/><Relationship Id="rId22" Target="../media/image25.svg" Type="http://schemas.openxmlformats.org/officeDocument/2006/relationships/image"/><Relationship Id="rId23" Target="../media/image28.png" Type="http://schemas.openxmlformats.org/officeDocument/2006/relationships/image"/><Relationship Id="rId24" Target="../media/image29.svg" Type="http://schemas.openxmlformats.org/officeDocument/2006/relationships/image"/><Relationship Id="rId25" Target="../media/image3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1.png" Type="http://schemas.openxmlformats.org/officeDocument/2006/relationships/image"/><Relationship Id="rId20" Target="../media/image21.svg" Type="http://schemas.openxmlformats.org/officeDocument/2006/relationships/image"/><Relationship Id="rId21" Target="../media/image22.png" Type="http://schemas.openxmlformats.org/officeDocument/2006/relationships/image"/><Relationship Id="rId22" Target="../media/image23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26.png" Type="http://schemas.openxmlformats.org/officeDocument/2006/relationships/image"/><Relationship Id="rId26" Target="../media/image27.sv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36705" y="6409875"/>
            <a:ext cx="724985" cy="920616"/>
          </a:xfrm>
          <a:custGeom>
            <a:avLst/>
            <a:gdLst/>
            <a:ahLst/>
            <a:cxnLst/>
            <a:rect r="r" b="b" t="t" l="l"/>
            <a:pathLst>
              <a:path h="920616" w="724985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44692" y="-505596"/>
            <a:ext cx="4208751" cy="2635730"/>
          </a:xfrm>
          <a:custGeom>
            <a:avLst/>
            <a:gdLst/>
            <a:ahLst/>
            <a:cxnLst/>
            <a:rect r="r" b="b" t="t" l="l"/>
            <a:pathLst>
              <a:path h="2635730" w="4208751">
                <a:moveTo>
                  <a:pt x="0" y="0"/>
                </a:moveTo>
                <a:lnTo>
                  <a:pt x="4208751" y="0"/>
                </a:lnTo>
                <a:lnTo>
                  <a:pt x="4208751" y="2635730"/>
                </a:lnTo>
                <a:lnTo>
                  <a:pt x="0" y="2635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601535" y="4412301"/>
            <a:ext cx="488930" cy="620863"/>
          </a:xfrm>
          <a:custGeom>
            <a:avLst/>
            <a:gdLst/>
            <a:ahLst/>
            <a:cxnLst/>
            <a:rect r="r" b="b" t="t" l="l"/>
            <a:pathLst>
              <a:path h="620863" w="488930">
                <a:moveTo>
                  <a:pt x="0" y="0"/>
                </a:moveTo>
                <a:lnTo>
                  <a:pt x="488929" y="0"/>
                </a:lnTo>
                <a:lnTo>
                  <a:pt x="488929" y="620863"/>
                </a:lnTo>
                <a:lnTo>
                  <a:pt x="0" y="6208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050" y="1009650"/>
            <a:ext cx="2725424" cy="2298441"/>
          </a:xfrm>
          <a:custGeom>
            <a:avLst/>
            <a:gdLst/>
            <a:ahLst/>
            <a:cxnLst/>
            <a:rect r="r" b="b" t="t" l="l"/>
            <a:pathLst>
              <a:path h="2298441" w="2725424">
                <a:moveTo>
                  <a:pt x="0" y="0"/>
                </a:moveTo>
                <a:lnTo>
                  <a:pt x="2725425" y="0"/>
                </a:lnTo>
                <a:lnTo>
                  <a:pt x="2725425" y="2298441"/>
                </a:lnTo>
                <a:lnTo>
                  <a:pt x="0" y="229844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46000" y="1411847"/>
            <a:ext cx="15253877" cy="17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3"/>
              </a:lnSpc>
            </a:pPr>
            <a:r>
              <a:rPr lang="en-US" sz="6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SHADAN WOMEN'S COLLEGE  OF ENGINEERING  AND TECHNOLOGY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2416" y="6122816"/>
            <a:ext cx="7348802" cy="364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Presented  by: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Amath urvRasheed U.A (24L51A0508)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Subject  : Operating Systems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Class : B.tech 2nd year 2nd semester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Branch : CSE-A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63600" y="4440876"/>
            <a:ext cx="15253877" cy="17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3"/>
              </a:lnSpc>
            </a:pPr>
            <a:r>
              <a:rPr lang="en-US" sz="65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AND DISTRIBUTED OPERATING SYSTEMS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5778" y="2979487"/>
            <a:ext cx="12000148" cy="80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sz="423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[ An Autonomous Institution Affiliated to JNTUH 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6522" y="8880805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282649">
            <a:off x="16004285" y="265374"/>
            <a:ext cx="4017207" cy="1370872"/>
          </a:xfrm>
          <a:custGeom>
            <a:avLst/>
            <a:gdLst/>
            <a:ahLst/>
            <a:cxnLst/>
            <a:rect r="r" b="b" t="t" l="l"/>
            <a:pathLst>
              <a:path h="1370872" w="4017207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059621" y="3973038"/>
            <a:ext cx="6442297" cy="3623792"/>
          </a:xfrm>
          <a:custGeom>
            <a:avLst/>
            <a:gdLst/>
            <a:ahLst/>
            <a:cxnLst/>
            <a:rect r="r" b="b" t="t" l="l"/>
            <a:pathLst>
              <a:path h="3623792" w="6442297">
                <a:moveTo>
                  <a:pt x="0" y="0"/>
                </a:moveTo>
                <a:lnTo>
                  <a:pt x="6442297" y="0"/>
                </a:lnTo>
                <a:lnTo>
                  <a:pt x="6442297" y="3623792"/>
                </a:lnTo>
                <a:lnTo>
                  <a:pt x="0" y="3623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919146"/>
            <a:ext cx="8606639" cy="559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3802" indent="-391901" lvl="1">
              <a:lnSpc>
                <a:spcPts val="4901"/>
              </a:lnSpc>
              <a:buFont typeface="Arial"/>
              <a:buChar char="•"/>
            </a:pPr>
            <a:r>
              <a:rPr lang="en-US" sz="3630" spc="21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Operating System (OS) manages hardware and software resources.</a:t>
            </a:r>
          </a:p>
          <a:p>
            <a:pPr algn="l" marL="783802" indent="-391901" lvl="1">
              <a:lnSpc>
                <a:spcPts val="4901"/>
              </a:lnSpc>
              <a:buFont typeface="Arial"/>
              <a:buChar char="•"/>
            </a:pPr>
            <a:r>
              <a:rPr lang="en-US" sz="3630" spc="21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Advanced systems require high performance and scalability.</a:t>
            </a:r>
          </a:p>
          <a:p>
            <a:pPr algn="l" marL="783802" indent="-391901" lvl="1">
              <a:lnSpc>
                <a:spcPts val="4901"/>
              </a:lnSpc>
              <a:buFont typeface="Arial"/>
              <a:buChar char="•"/>
            </a:pPr>
            <a:r>
              <a:rPr lang="en-US" sz="3630" spc="21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OS and Distributed OS are designed to handle such needs.</a:t>
            </a:r>
          </a:p>
          <a:p>
            <a:pPr algn="l" marL="783802" indent="-391901" lvl="1">
              <a:lnSpc>
                <a:spcPts val="4901"/>
              </a:lnSpc>
              <a:buFont typeface="Arial"/>
              <a:buChar char="•"/>
            </a:pPr>
            <a:r>
              <a:rPr lang="en-US" sz="3630" spc="21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They improve speed, efficiency, and resource utilization.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4329" y="1375753"/>
            <a:ext cx="10619664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5818" y="1351172"/>
            <a:ext cx="16237071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Operating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53489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03948" y="-189060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671261" y="8540136"/>
            <a:ext cx="1108378" cy="1033797"/>
          </a:xfrm>
          <a:custGeom>
            <a:avLst/>
            <a:gdLst/>
            <a:ahLst/>
            <a:cxnLst/>
            <a:rect r="r" b="b" t="t" l="l"/>
            <a:pathLst>
              <a:path h="1033797" w="1108378">
                <a:moveTo>
                  <a:pt x="0" y="0"/>
                </a:moveTo>
                <a:lnTo>
                  <a:pt x="1108378" y="0"/>
                </a:lnTo>
                <a:lnTo>
                  <a:pt x="1108378" y="1033797"/>
                </a:lnTo>
                <a:lnTo>
                  <a:pt x="0" y="10337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34846" y="8540136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3" y="0"/>
                </a:lnTo>
                <a:lnTo>
                  <a:pt x="45627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779639" y="0"/>
            <a:ext cx="2659400" cy="2664244"/>
          </a:xfrm>
          <a:custGeom>
            <a:avLst/>
            <a:gdLst/>
            <a:ahLst/>
            <a:cxnLst/>
            <a:rect r="r" b="b" t="t" l="l"/>
            <a:pathLst>
              <a:path h="2664244" w="2659400">
                <a:moveTo>
                  <a:pt x="0" y="0"/>
                </a:moveTo>
                <a:lnTo>
                  <a:pt x="2659399" y="0"/>
                </a:lnTo>
                <a:lnTo>
                  <a:pt x="2659399" y="2664244"/>
                </a:lnTo>
                <a:lnTo>
                  <a:pt x="0" y="266424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378291" y="2561031"/>
            <a:ext cx="15731048" cy="6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914" indent="-416957" lvl="1">
              <a:lnSpc>
                <a:spcPts val="5214"/>
              </a:lnSpc>
              <a:buFont typeface="Arial"/>
              <a:buChar char="•"/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Operating System (OS) is a system software that manages computer hardware and software.</a:t>
            </a:r>
          </a:p>
          <a:p>
            <a:pPr algn="l" marL="833914" indent="-416957" lvl="1">
              <a:lnSpc>
                <a:spcPts val="5214"/>
              </a:lnSpc>
              <a:buFont typeface="Arial"/>
              <a:buChar char="•"/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acts as an intermediary between the user and the hardware components.</a:t>
            </a:r>
          </a:p>
          <a:p>
            <a:pPr algn="ctr">
              <a:lnSpc>
                <a:spcPts val="5214"/>
              </a:lnSpc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Main functions include:</a:t>
            </a:r>
          </a:p>
          <a:p>
            <a:pPr algn="ctr">
              <a:lnSpc>
                <a:spcPts val="5214"/>
              </a:lnSpc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Process management</a:t>
            </a:r>
          </a:p>
          <a:p>
            <a:pPr algn="ctr">
              <a:lnSpc>
                <a:spcPts val="5214"/>
              </a:lnSpc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Memory management</a:t>
            </a:r>
          </a:p>
          <a:p>
            <a:pPr algn="ctr">
              <a:lnSpc>
                <a:spcPts val="5214"/>
              </a:lnSpc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File system management</a:t>
            </a:r>
          </a:p>
          <a:p>
            <a:pPr algn="ctr">
              <a:lnSpc>
                <a:spcPts val="5214"/>
              </a:lnSpc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Device management</a:t>
            </a:r>
          </a:p>
          <a:p>
            <a:pPr algn="l" marL="833914" indent="-416957" lvl="1">
              <a:lnSpc>
                <a:spcPts val="5214"/>
              </a:lnSpc>
              <a:buFont typeface="Arial"/>
              <a:buChar char="•"/>
            </a:pPr>
            <a:r>
              <a:rPr lang="en-US" sz="3862" spc="23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Examples include Windows, Linux, and macOS.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68981" y="-1094892"/>
            <a:ext cx="4208573" cy="4247184"/>
          </a:xfrm>
          <a:custGeom>
            <a:avLst/>
            <a:gdLst/>
            <a:ahLst/>
            <a:cxnLst/>
            <a:rect r="r" b="b" t="t" l="l"/>
            <a:pathLst>
              <a:path h="4247184" w="4208573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553868" y="-1094892"/>
            <a:ext cx="4844730" cy="2704240"/>
          </a:xfrm>
          <a:custGeom>
            <a:avLst/>
            <a:gdLst/>
            <a:ahLst/>
            <a:cxnLst/>
            <a:rect r="r" b="b" t="t" l="l"/>
            <a:pathLst>
              <a:path h="2704240" w="4844730">
                <a:moveTo>
                  <a:pt x="0" y="0"/>
                </a:moveTo>
                <a:lnTo>
                  <a:pt x="4844729" y="0"/>
                </a:lnTo>
                <a:lnTo>
                  <a:pt x="4844729" y="2704240"/>
                </a:lnTo>
                <a:lnTo>
                  <a:pt x="0" y="270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37574" y="2834263"/>
            <a:ext cx="11142892" cy="59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280" indent="-408140" lvl="1">
              <a:lnSpc>
                <a:spcPts val="5104"/>
              </a:lnSpc>
              <a:buFont typeface="Arial"/>
              <a:buChar char="•"/>
            </a:pPr>
            <a:r>
              <a:rPr lang="en-US" sz="3780" spc="2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Parallel Operating System is designed to manage multiple processors within a single system.</a:t>
            </a:r>
          </a:p>
          <a:p>
            <a:pPr algn="l" marL="816280" indent="-408140" lvl="1">
              <a:lnSpc>
                <a:spcPts val="5104"/>
              </a:lnSpc>
              <a:buFont typeface="Arial"/>
              <a:buChar char="•"/>
            </a:pPr>
            <a:r>
              <a:rPr lang="en-US" sz="3780" spc="2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allows tasks to be divided into smaller parts and executed simultaneously.</a:t>
            </a:r>
          </a:p>
          <a:p>
            <a:pPr algn="l" marL="816280" indent="-408140" lvl="1">
              <a:lnSpc>
                <a:spcPts val="5104"/>
              </a:lnSpc>
              <a:buFont typeface="Arial"/>
              <a:buChar char="•"/>
            </a:pPr>
            <a:r>
              <a:rPr lang="en-US" sz="3780" spc="2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These systems are used in environments where speed and performance are critical.</a:t>
            </a:r>
          </a:p>
          <a:p>
            <a:pPr algn="l" marL="816280" indent="-408140" lvl="1">
              <a:lnSpc>
                <a:spcPts val="5104"/>
              </a:lnSpc>
              <a:buFont typeface="Arial"/>
              <a:buChar char="•"/>
            </a:pPr>
            <a:r>
              <a:rPr lang="en-US" sz="3780" spc="22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processors share memory and communicate at high speed.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29377" y="8288897"/>
            <a:ext cx="2258623" cy="2057400"/>
          </a:xfrm>
          <a:custGeom>
            <a:avLst/>
            <a:gdLst/>
            <a:ahLst/>
            <a:cxnLst/>
            <a:rect r="r" b="b" t="t" l="l"/>
            <a:pathLst>
              <a:path h="2057400" w="2258623">
                <a:moveTo>
                  <a:pt x="0" y="0"/>
                </a:moveTo>
                <a:lnTo>
                  <a:pt x="2258623" y="0"/>
                </a:lnTo>
                <a:lnTo>
                  <a:pt x="225862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1392369" y="8288897"/>
            <a:ext cx="4637225" cy="3473703"/>
          </a:xfrm>
          <a:custGeom>
            <a:avLst/>
            <a:gdLst/>
            <a:ahLst/>
            <a:cxnLst/>
            <a:rect r="r" b="b" t="t" l="l"/>
            <a:pathLst>
              <a:path h="3473703" w="4637225">
                <a:moveTo>
                  <a:pt x="0" y="0"/>
                </a:moveTo>
                <a:lnTo>
                  <a:pt x="4637225" y="0"/>
                </a:lnTo>
                <a:lnTo>
                  <a:pt x="4637225" y="3473703"/>
                </a:lnTo>
                <a:lnTo>
                  <a:pt x="0" y="34737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082275" y="4683059"/>
            <a:ext cx="6177025" cy="3605838"/>
          </a:xfrm>
          <a:custGeom>
            <a:avLst/>
            <a:gdLst/>
            <a:ahLst/>
            <a:cxnLst/>
            <a:rect r="r" b="b" t="t" l="l"/>
            <a:pathLst>
              <a:path h="3605838" w="6177025">
                <a:moveTo>
                  <a:pt x="0" y="0"/>
                </a:moveTo>
                <a:lnTo>
                  <a:pt x="6177025" y="0"/>
                </a:lnTo>
                <a:lnTo>
                  <a:pt x="6177025" y="3605838"/>
                </a:lnTo>
                <a:lnTo>
                  <a:pt x="0" y="36058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7574" y="1628398"/>
            <a:ext cx="16237071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Operating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8571" y="8919661"/>
            <a:ext cx="3870946" cy="950141"/>
          </a:xfrm>
          <a:custGeom>
            <a:avLst/>
            <a:gdLst/>
            <a:ahLst/>
            <a:cxnLst/>
            <a:rect r="r" b="b" t="t" l="l"/>
            <a:pathLst>
              <a:path h="950141" w="3870946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72906" y="-2364815"/>
            <a:ext cx="4980952" cy="3731186"/>
          </a:xfrm>
          <a:custGeom>
            <a:avLst/>
            <a:gdLst/>
            <a:ahLst/>
            <a:cxnLst/>
            <a:rect r="r" b="b" t="t" l="l"/>
            <a:pathLst>
              <a:path h="3731186" w="4980952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848571" y="-744412"/>
            <a:ext cx="2597326" cy="2796583"/>
          </a:xfrm>
          <a:custGeom>
            <a:avLst/>
            <a:gdLst/>
            <a:ahLst/>
            <a:cxnLst/>
            <a:rect r="r" b="b" t="t" l="l"/>
            <a:pathLst>
              <a:path h="2796583" w="2597326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564605" y="-3391477"/>
            <a:ext cx="5870507" cy="5294130"/>
          </a:xfrm>
          <a:custGeom>
            <a:avLst/>
            <a:gdLst/>
            <a:ahLst/>
            <a:cxnLst/>
            <a:rect r="r" b="b" t="t" l="l"/>
            <a:pathLst>
              <a:path h="5294130" w="5870507">
                <a:moveTo>
                  <a:pt x="0" y="0"/>
                </a:moveTo>
                <a:lnTo>
                  <a:pt x="5870507" y="0"/>
                </a:lnTo>
                <a:lnTo>
                  <a:pt x="5870507" y="5294130"/>
                </a:lnTo>
                <a:lnTo>
                  <a:pt x="0" y="5294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968624" y="8469298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49038" y="2772199"/>
            <a:ext cx="12619586" cy="553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667" indent="-387833" lvl="1">
              <a:lnSpc>
                <a:spcPts val="4850"/>
              </a:lnSpc>
              <a:buFont typeface="Arial"/>
              <a:buChar char="•"/>
            </a:pPr>
            <a:r>
              <a:rPr lang="en-US" sz="3592" spc="2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multiple CPUs working together in a coordinated way.</a:t>
            </a:r>
          </a:p>
          <a:p>
            <a:pPr algn="l" marL="775667" indent="-387833" lvl="1">
              <a:lnSpc>
                <a:spcPts val="4850"/>
              </a:lnSpc>
              <a:buFont typeface="Arial"/>
              <a:buChar char="•"/>
            </a:pPr>
            <a:r>
              <a:rPr lang="en-US" sz="3592" spc="2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shared memory architecture, allowing all processors to access the same data.</a:t>
            </a:r>
          </a:p>
          <a:p>
            <a:pPr algn="l" marL="775667" indent="-387833" lvl="1">
              <a:lnSpc>
                <a:spcPts val="4850"/>
              </a:lnSpc>
              <a:buFont typeface="Arial"/>
              <a:buChar char="•"/>
            </a:pPr>
            <a:r>
              <a:rPr lang="en-US" sz="3592" spc="2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fast communication between processors using internal connections.</a:t>
            </a:r>
          </a:p>
          <a:p>
            <a:pPr algn="l" marL="775667" indent="-387833" lvl="1">
              <a:lnSpc>
                <a:spcPts val="4850"/>
              </a:lnSpc>
              <a:buFont typeface="Arial"/>
              <a:buChar char="•"/>
            </a:pPr>
            <a:r>
              <a:rPr lang="en-US" sz="3592" spc="2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Implements efficient scheduling algorithms to distribute tasks.</a:t>
            </a:r>
          </a:p>
          <a:p>
            <a:pPr algn="l" marL="775667" indent="-387833" lvl="1">
              <a:lnSpc>
                <a:spcPts val="4850"/>
              </a:lnSpc>
              <a:buFont typeface="Arial"/>
              <a:buChar char="•"/>
            </a:pPr>
            <a:r>
              <a:rPr lang="en-US" sz="3592" spc="2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load balancing, so no processor remains idle.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111843" y="2736066"/>
            <a:ext cx="5848051" cy="4400659"/>
          </a:xfrm>
          <a:custGeom>
            <a:avLst/>
            <a:gdLst/>
            <a:ahLst/>
            <a:cxnLst/>
            <a:rect r="r" b="b" t="t" l="l"/>
            <a:pathLst>
              <a:path h="4400659" w="5848051">
                <a:moveTo>
                  <a:pt x="0" y="0"/>
                </a:moveTo>
                <a:lnTo>
                  <a:pt x="5848051" y="0"/>
                </a:lnTo>
                <a:lnTo>
                  <a:pt x="5848051" y="4400659"/>
                </a:lnTo>
                <a:lnTo>
                  <a:pt x="0" y="44006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8756" y="1387326"/>
            <a:ext cx="11756583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 of Parallel 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1843" y="3159144"/>
            <a:ext cx="4132127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55832"/>
            <a:ext cx="9776520" cy="696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4994"/>
              </a:lnSpc>
              <a:buFont typeface="Arial"/>
              <a:buChar char="•"/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Symmetric Multiprocessing (SMP):</a:t>
            </a:r>
          </a:p>
          <a:p>
            <a:pPr algn="l">
              <a:lnSpc>
                <a:spcPts val="4994"/>
              </a:lnSpc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processors are equal and perform similar tasks. Any processor can execute any process.</a:t>
            </a:r>
          </a:p>
          <a:p>
            <a:pPr algn="l">
              <a:lnSpc>
                <a:spcPts val="4994"/>
              </a:lnSpc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Example: Modern multi-core systems.</a:t>
            </a:r>
          </a:p>
          <a:p>
            <a:pPr algn="l">
              <a:lnSpc>
                <a:spcPts val="4994"/>
              </a:lnSpc>
            </a:pPr>
          </a:p>
          <a:p>
            <a:pPr algn="l" marL="798829" indent="-399415" lvl="1">
              <a:lnSpc>
                <a:spcPts val="4994"/>
              </a:lnSpc>
              <a:buFont typeface="Arial"/>
              <a:buChar char="•"/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Asymmetric Multiprocessing (AMP):</a:t>
            </a:r>
          </a:p>
          <a:p>
            <a:pPr algn="l" marL="0" indent="0" lvl="0">
              <a:lnSpc>
                <a:spcPts val="4994"/>
              </a:lnSpc>
              <a:spcBef>
                <a:spcPct val="0"/>
              </a:spcBef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 processor acts as the master and controls others.Slave processors execute assigned tasks.Simpler but less flexible than SMP.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46942" y="-1855432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329111" y="9145818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551520" y="8688618"/>
            <a:ext cx="5736480" cy="5173262"/>
          </a:xfrm>
          <a:custGeom>
            <a:avLst/>
            <a:gdLst/>
            <a:ahLst/>
            <a:cxnLst/>
            <a:rect r="r" b="b" t="t" l="l"/>
            <a:pathLst>
              <a:path h="5173262" w="5736480">
                <a:moveTo>
                  <a:pt x="0" y="0"/>
                </a:moveTo>
                <a:lnTo>
                  <a:pt x="5736480" y="0"/>
                </a:lnTo>
                <a:lnTo>
                  <a:pt x="5736480" y="5173261"/>
                </a:lnTo>
                <a:lnTo>
                  <a:pt x="0" y="5173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0" y="-4046"/>
            <a:ext cx="3568326" cy="2231825"/>
          </a:xfrm>
          <a:custGeom>
            <a:avLst/>
            <a:gdLst/>
            <a:ahLst/>
            <a:cxnLst/>
            <a:rect r="r" b="b" t="t" l="l"/>
            <a:pathLst>
              <a:path h="2231825" w="3568326">
                <a:moveTo>
                  <a:pt x="0" y="0"/>
                </a:moveTo>
                <a:lnTo>
                  <a:pt x="3568326" y="0"/>
                </a:lnTo>
                <a:lnTo>
                  <a:pt x="3568326" y="2231826"/>
                </a:lnTo>
                <a:lnTo>
                  <a:pt x="0" y="2231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398820" y="3456222"/>
            <a:ext cx="7482780" cy="4255831"/>
          </a:xfrm>
          <a:custGeom>
            <a:avLst/>
            <a:gdLst/>
            <a:ahLst/>
            <a:cxnLst/>
            <a:rect r="r" b="b" t="t" l="l"/>
            <a:pathLst>
              <a:path h="4255831" w="7482780">
                <a:moveTo>
                  <a:pt x="0" y="0"/>
                </a:moveTo>
                <a:lnTo>
                  <a:pt x="7482779" y="0"/>
                </a:lnTo>
                <a:lnTo>
                  <a:pt x="7482779" y="4255831"/>
                </a:lnTo>
                <a:lnTo>
                  <a:pt x="0" y="42558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22770" y="1130917"/>
            <a:ext cx="13881772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Types of Parallel Systems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2417" y="3025063"/>
            <a:ext cx="8850410" cy="604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194" indent="-381097" lvl="1">
              <a:lnSpc>
                <a:spcPts val="4765"/>
              </a:lnSpc>
              <a:buFont typeface="Arial"/>
              <a:buChar char="•"/>
            </a:pPr>
            <a:r>
              <a:rPr lang="en-US" sz="3530" spc="21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Distributed Operating System manages multiple independent computers connected via a network.</a:t>
            </a:r>
          </a:p>
          <a:p>
            <a:pPr algn="l" marL="762194" indent="-381097" lvl="1">
              <a:lnSpc>
                <a:spcPts val="4765"/>
              </a:lnSpc>
              <a:buFont typeface="Arial"/>
              <a:buChar char="•"/>
            </a:pPr>
            <a:r>
              <a:rPr lang="en-US" sz="3530" spc="21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system has its own memory and processor.</a:t>
            </a:r>
          </a:p>
          <a:p>
            <a:pPr algn="l" marL="762194" indent="-381097" lvl="1">
              <a:lnSpc>
                <a:spcPts val="4765"/>
              </a:lnSpc>
              <a:buFont typeface="Arial"/>
              <a:buChar char="•"/>
            </a:pPr>
            <a:r>
              <a:rPr lang="en-US" sz="3530" spc="21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OS provides a single system image, making all machines appear as one.</a:t>
            </a:r>
          </a:p>
          <a:p>
            <a:pPr algn="l" marL="762194" indent="-381097" lvl="1">
              <a:lnSpc>
                <a:spcPts val="4765"/>
              </a:lnSpc>
              <a:buFont typeface="Arial"/>
              <a:buChar char="•"/>
            </a:pPr>
            <a:r>
              <a:rPr lang="en-US" sz="3530" spc="21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Communication between systems is done using message passing.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62609" y="-2676574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701116" y="8533386"/>
            <a:ext cx="2142382" cy="2782314"/>
          </a:xfrm>
          <a:custGeom>
            <a:avLst/>
            <a:gdLst/>
            <a:ahLst/>
            <a:cxnLst/>
            <a:rect r="r" b="b" t="t" l="l"/>
            <a:pathLst>
              <a:path h="2782314" w="2142382">
                <a:moveTo>
                  <a:pt x="0" y="0"/>
                </a:moveTo>
                <a:lnTo>
                  <a:pt x="2142382" y="0"/>
                </a:lnTo>
                <a:lnTo>
                  <a:pt x="2142382" y="2782314"/>
                </a:lnTo>
                <a:lnTo>
                  <a:pt x="0" y="2782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92085" y="7834327"/>
            <a:ext cx="2190682" cy="2479232"/>
          </a:xfrm>
          <a:custGeom>
            <a:avLst/>
            <a:gdLst/>
            <a:ahLst/>
            <a:cxnLst/>
            <a:rect r="r" b="b" t="t" l="l"/>
            <a:pathLst>
              <a:path h="2479232" w="2190682">
                <a:moveTo>
                  <a:pt x="0" y="0"/>
                </a:moveTo>
                <a:lnTo>
                  <a:pt x="2190683" y="0"/>
                </a:lnTo>
                <a:lnTo>
                  <a:pt x="2190683" y="2479231"/>
                </a:lnTo>
                <a:lnTo>
                  <a:pt x="0" y="247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true" rot="0">
            <a:off x="16238176" y="0"/>
            <a:ext cx="2049824" cy="2476715"/>
          </a:xfrm>
          <a:custGeom>
            <a:avLst/>
            <a:gdLst/>
            <a:ahLst/>
            <a:cxnLst/>
            <a:rect r="r" b="b" t="t" l="l"/>
            <a:pathLst>
              <a:path h="2476715" w="2049824">
                <a:moveTo>
                  <a:pt x="0" y="2476715"/>
                </a:moveTo>
                <a:lnTo>
                  <a:pt x="2049824" y="2476715"/>
                </a:lnTo>
                <a:lnTo>
                  <a:pt x="2049824" y="0"/>
                </a:lnTo>
                <a:lnTo>
                  <a:pt x="0" y="0"/>
                </a:lnTo>
                <a:lnTo>
                  <a:pt x="0" y="247671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642827" y="3741263"/>
            <a:ext cx="6616473" cy="4730778"/>
          </a:xfrm>
          <a:custGeom>
            <a:avLst/>
            <a:gdLst/>
            <a:ahLst/>
            <a:cxnLst/>
            <a:rect r="r" b="b" t="t" l="l"/>
            <a:pathLst>
              <a:path h="4730778" w="6616473">
                <a:moveTo>
                  <a:pt x="0" y="0"/>
                </a:moveTo>
                <a:lnTo>
                  <a:pt x="6616473" y="0"/>
                </a:lnTo>
                <a:lnTo>
                  <a:pt x="6616473" y="4730779"/>
                </a:lnTo>
                <a:lnTo>
                  <a:pt x="0" y="47307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7426" y="1614116"/>
            <a:ext cx="12355614" cy="11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7"/>
              </a:lnSpc>
            </a:pPr>
            <a:r>
              <a:rPr lang="en-US" sz="74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Distributed Operating System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9737" y="2763814"/>
            <a:ext cx="10172987" cy="580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003" indent="-365001" lvl="1">
              <a:lnSpc>
                <a:spcPts val="4564"/>
              </a:lnSpc>
              <a:buFont typeface="Arial"/>
              <a:buChar char="•"/>
            </a:pPr>
            <a:r>
              <a:rPr lang="en-US" sz="3381" spc="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resource sharing such as files, printers, and applications.</a:t>
            </a:r>
          </a:p>
          <a:p>
            <a:pPr algn="l" marL="730003" indent="-365001" lvl="1">
              <a:lnSpc>
                <a:spcPts val="4564"/>
              </a:lnSpc>
              <a:buFont typeface="Arial"/>
              <a:buChar char="•"/>
            </a:pPr>
            <a:r>
              <a:rPr lang="en-US" sz="3381" spc="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transparency, hiding the complexity of multiple systems.</a:t>
            </a:r>
          </a:p>
          <a:p>
            <a:pPr algn="l" marL="730003" indent="-365001" lvl="1">
              <a:lnSpc>
                <a:spcPts val="4564"/>
              </a:lnSpc>
              <a:buFont typeface="Arial"/>
              <a:buChar char="•"/>
            </a:pPr>
            <a:r>
              <a:rPr lang="en-US" sz="3381" spc="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Offers scalability, allowing easy addition of new systems.</a:t>
            </a:r>
          </a:p>
          <a:p>
            <a:pPr algn="l" marL="730003" indent="-365001" lvl="1">
              <a:lnSpc>
                <a:spcPts val="4564"/>
              </a:lnSpc>
              <a:buFont typeface="Arial"/>
              <a:buChar char="•"/>
            </a:pPr>
            <a:r>
              <a:rPr lang="en-US" sz="3381" spc="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fault tolerance, ensuring system reliability.</a:t>
            </a:r>
          </a:p>
          <a:p>
            <a:pPr algn="l" marL="730003" indent="-365001" lvl="1">
              <a:lnSpc>
                <a:spcPts val="4564"/>
              </a:lnSpc>
              <a:buFont typeface="Arial"/>
              <a:buChar char="•"/>
            </a:pPr>
            <a:r>
              <a:rPr lang="en-US" sz="3381" spc="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network communication protocols for coordination.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826946" y="112894"/>
            <a:ext cx="4094744" cy="2966533"/>
          </a:xfrm>
          <a:custGeom>
            <a:avLst/>
            <a:gdLst/>
            <a:ahLst/>
            <a:cxnLst/>
            <a:rect r="r" b="b" t="t" l="l"/>
            <a:pathLst>
              <a:path h="2966533" w="4094744">
                <a:moveTo>
                  <a:pt x="0" y="0"/>
                </a:moveTo>
                <a:lnTo>
                  <a:pt x="4094744" y="0"/>
                </a:lnTo>
                <a:lnTo>
                  <a:pt x="4094744" y="2966533"/>
                </a:lnTo>
                <a:lnTo>
                  <a:pt x="0" y="2966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123" y="7394755"/>
            <a:ext cx="2729228" cy="2892245"/>
          </a:xfrm>
          <a:custGeom>
            <a:avLst/>
            <a:gdLst/>
            <a:ahLst/>
            <a:cxnLst/>
            <a:rect r="r" b="b" t="t" l="l"/>
            <a:pathLst>
              <a:path h="2892245" w="2729228">
                <a:moveTo>
                  <a:pt x="0" y="0"/>
                </a:moveTo>
                <a:lnTo>
                  <a:pt x="2729228" y="0"/>
                </a:lnTo>
                <a:lnTo>
                  <a:pt x="2729228" y="2892245"/>
                </a:lnTo>
                <a:lnTo>
                  <a:pt x="0" y="2892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77808" y="7722755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408599" y="0"/>
            <a:ext cx="3342241" cy="2090420"/>
          </a:xfrm>
          <a:custGeom>
            <a:avLst/>
            <a:gdLst/>
            <a:ahLst/>
            <a:cxnLst/>
            <a:rect r="r" b="b" t="t" l="l"/>
            <a:pathLst>
              <a:path h="2090420" w="3342241">
                <a:moveTo>
                  <a:pt x="0" y="0"/>
                </a:moveTo>
                <a:lnTo>
                  <a:pt x="3342241" y="0"/>
                </a:lnTo>
                <a:lnTo>
                  <a:pt x="3342241" y="2090420"/>
                </a:lnTo>
                <a:lnTo>
                  <a:pt x="0" y="20904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014613" y="8568765"/>
            <a:ext cx="3624666" cy="3268790"/>
          </a:xfrm>
          <a:custGeom>
            <a:avLst/>
            <a:gdLst/>
            <a:ahLst/>
            <a:cxnLst/>
            <a:rect r="r" b="b" t="t" l="l"/>
            <a:pathLst>
              <a:path h="3268790" w="3624666">
                <a:moveTo>
                  <a:pt x="0" y="0"/>
                </a:moveTo>
                <a:lnTo>
                  <a:pt x="3624666" y="0"/>
                </a:lnTo>
                <a:lnTo>
                  <a:pt x="3624666" y="3268790"/>
                </a:lnTo>
                <a:lnTo>
                  <a:pt x="0" y="32687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712724" y="4330434"/>
            <a:ext cx="6112290" cy="3392321"/>
          </a:xfrm>
          <a:custGeom>
            <a:avLst/>
            <a:gdLst/>
            <a:ahLst/>
            <a:cxnLst/>
            <a:rect r="r" b="b" t="t" l="l"/>
            <a:pathLst>
              <a:path h="3392321" w="6112290">
                <a:moveTo>
                  <a:pt x="0" y="0"/>
                </a:moveTo>
                <a:lnTo>
                  <a:pt x="6112289" y="0"/>
                </a:lnTo>
                <a:lnTo>
                  <a:pt x="6112289" y="3392321"/>
                </a:lnTo>
                <a:lnTo>
                  <a:pt x="0" y="33923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28559" y="1550785"/>
            <a:ext cx="14030882" cy="108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4"/>
              </a:lnSpc>
            </a:pPr>
            <a:r>
              <a:rPr lang="en-US" sz="724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 of Distributed 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6942" y="-1855432"/>
            <a:ext cx="7315200" cy="4083212"/>
          </a:xfrm>
          <a:custGeom>
            <a:avLst/>
            <a:gdLst/>
            <a:ahLst/>
            <a:cxnLst/>
            <a:rect r="r" b="b" t="t" l="l"/>
            <a:pathLst>
              <a:path h="4083212" w="7315200">
                <a:moveTo>
                  <a:pt x="0" y="0"/>
                </a:moveTo>
                <a:lnTo>
                  <a:pt x="7315200" y="0"/>
                </a:lnTo>
                <a:lnTo>
                  <a:pt x="7315200" y="4083212"/>
                </a:lnTo>
                <a:lnTo>
                  <a:pt x="0" y="408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29111" y="9145818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551520" y="8688618"/>
            <a:ext cx="5736480" cy="5173262"/>
          </a:xfrm>
          <a:custGeom>
            <a:avLst/>
            <a:gdLst/>
            <a:ahLst/>
            <a:cxnLst/>
            <a:rect r="r" b="b" t="t" l="l"/>
            <a:pathLst>
              <a:path h="5173262" w="5736480">
                <a:moveTo>
                  <a:pt x="0" y="0"/>
                </a:moveTo>
                <a:lnTo>
                  <a:pt x="5736480" y="0"/>
                </a:lnTo>
                <a:lnTo>
                  <a:pt x="5736480" y="5173261"/>
                </a:lnTo>
                <a:lnTo>
                  <a:pt x="0" y="5173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-4046"/>
            <a:ext cx="3568326" cy="2231825"/>
          </a:xfrm>
          <a:custGeom>
            <a:avLst/>
            <a:gdLst/>
            <a:ahLst/>
            <a:cxnLst/>
            <a:rect r="r" b="b" t="t" l="l"/>
            <a:pathLst>
              <a:path h="2231825" w="3568326">
                <a:moveTo>
                  <a:pt x="0" y="0"/>
                </a:moveTo>
                <a:lnTo>
                  <a:pt x="3568326" y="0"/>
                </a:lnTo>
                <a:lnTo>
                  <a:pt x="3568326" y="2231826"/>
                </a:lnTo>
                <a:lnTo>
                  <a:pt x="0" y="2231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454005" y="3670935"/>
            <a:ext cx="9384128" cy="4105556"/>
          </a:xfrm>
          <a:custGeom>
            <a:avLst/>
            <a:gdLst/>
            <a:ahLst/>
            <a:cxnLst/>
            <a:rect r="r" b="b" t="t" l="l"/>
            <a:pathLst>
              <a:path h="4105556" w="9384128">
                <a:moveTo>
                  <a:pt x="0" y="0"/>
                </a:moveTo>
                <a:lnTo>
                  <a:pt x="9384128" y="0"/>
                </a:lnTo>
                <a:lnTo>
                  <a:pt x="9384128" y="4105556"/>
                </a:lnTo>
                <a:lnTo>
                  <a:pt x="0" y="4105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3766" y="3547110"/>
            <a:ext cx="8665032" cy="571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4994"/>
              </a:lnSpc>
              <a:buFont typeface="Arial"/>
              <a:buChar char="•"/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Client-Server Systems:</a:t>
            </a:r>
          </a:p>
          <a:p>
            <a:pPr algn="ctr">
              <a:lnSpc>
                <a:spcPts val="4994"/>
              </a:lnSpc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Clients request services, and servers provide them.</a:t>
            </a:r>
          </a:p>
          <a:p>
            <a:pPr algn="l" marL="798829" indent="-399415" lvl="1">
              <a:lnSpc>
                <a:spcPts val="4994"/>
              </a:lnSpc>
              <a:buFont typeface="Arial"/>
              <a:buChar char="•"/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Peer-to-Peer Systems:</a:t>
            </a:r>
          </a:p>
          <a:p>
            <a:pPr algn="ctr">
              <a:lnSpc>
                <a:spcPts val="4994"/>
              </a:lnSpc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nodes are equal and share resources directly.</a:t>
            </a:r>
          </a:p>
          <a:p>
            <a:pPr algn="l" marL="798829" indent="-399415" lvl="1">
              <a:lnSpc>
                <a:spcPts val="4994"/>
              </a:lnSpc>
              <a:buFont typeface="Arial"/>
              <a:buChar char="•"/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Clustered Systems:</a:t>
            </a:r>
          </a:p>
          <a:p>
            <a:pPr algn="ctr" marL="0" indent="0" lvl="0">
              <a:lnSpc>
                <a:spcPts val="4994"/>
              </a:lnSpc>
              <a:spcBef>
                <a:spcPct val="0"/>
              </a:spcBef>
            </a:pPr>
            <a:r>
              <a:rPr lang="en-US" sz="3699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Multiple systems work together as a single unit for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0104" y="1010485"/>
            <a:ext cx="14157386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Types of Distributed Systems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8872" y="3536446"/>
            <a:ext cx="9017257" cy="572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Weather prediction systems</a:t>
            </a:r>
          </a:p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Scientific simulations</a:t>
            </a:r>
          </a:p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Artificial Intelligence and Machine Learning</a:t>
            </a:r>
          </a:p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Graphics rendering and gaming</a:t>
            </a:r>
          </a:p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High-performance computing systems</a:t>
            </a:r>
          </a:p>
          <a:p>
            <a:pPr algn="l" marL="797141" indent="-398571" lvl="1">
              <a:lnSpc>
                <a:spcPts val="4984"/>
              </a:lnSpc>
              <a:buFont typeface="Arial"/>
              <a:buChar char="•"/>
            </a:pPr>
            <a:r>
              <a:rPr lang="en-US" sz="3692" spc="22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Cloud computing platforms</a:t>
            </a:r>
          </a:p>
          <a:p>
            <a:pPr algn="l">
              <a:lnSpc>
                <a:spcPts val="498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62609" y="-2676574"/>
            <a:ext cx="4562782" cy="4114800"/>
          </a:xfrm>
          <a:custGeom>
            <a:avLst/>
            <a:gdLst/>
            <a:ahLst/>
            <a:cxnLst/>
            <a:rect r="r" b="b" t="t" l="l"/>
            <a:pathLst>
              <a:path h="4114800" w="4562782">
                <a:moveTo>
                  <a:pt x="0" y="0"/>
                </a:moveTo>
                <a:lnTo>
                  <a:pt x="4562782" y="0"/>
                </a:lnTo>
                <a:lnTo>
                  <a:pt x="4562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675102" y="7200900"/>
            <a:ext cx="3168396" cy="4114800"/>
          </a:xfrm>
          <a:custGeom>
            <a:avLst/>
            <a:gdLst/>
            <a:ahLst/>
            <a:cxnLst/>
            <a:rect r="r" b="b" t="t" l="l"/>
            <a:pathLst>
              <a:path h="4114800" w="3168396">
                <a:moveTo>
                  <a:pt x="0" y="0"/>
                </a:moveTo>
                <a:lnTo>
                  <a:pt x="3168396" y="0"/>
                </a:lnTo>
                <a:lnTo>
                  <a:pt x="31683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92085" y="7834327"/>
            <a:ext cx="2190682" cy="2479232"/>
          </a:xfrm>
          <a:custGeom>
            <a:avLst/>
            <a:gdLst/>
            <a:ahLst/>
            <a:cxnLst/>
            <a:rect r="r" b="b" t="t" l="l"/>
            <a:pathLst>
              <a:path h="2479232" w="2190682">
                <a:moveTo>
                  <a:pt x="0" y="0"/>
                </a:moveTo>
                <a:lnTo>
                  <a:pt x="2190683" y="0"/>
                </a:lnTo>
                <a:lnTo>
                  <a:pt x="2190683" y="2479231"/>
                </a:lnTo>
                <a:lnTo>
                  <a:pt x="0" y="247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true" rot="0">
            <a:off x="14882434" y="0"/>
            <a:ext cx="3405566" cy="4114800"/>
          </a:xfrm>
          <a:custGeom>
            <a:avLst/>
            <a:gdLst/>
            <a:ahLst/>
            <a:cxnLst/>
            <a:rect r="r" b="b" t="t" l="l"/>
            <a:pathLst>
              <a:path h="4114800" w="3405566">
                <a:moveTo>
                  <a:pt x="0" y="4114800"/>
                </a:moveTo>
                <a:lnTo>
                  <a:pt x="3405566" y="4114800"/>
                </a:lnTo>
                <a:lnTo>
                  <a:pt x="340556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010388" y="1457276"/>
            <a:ext cx="11934226" cy="196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0"/>
              </a:lnSpc>
            </a:pPr>
            <a:r>
              <a:rPr lang="en-US" sz="720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Applications of parallel and distributed operating systems :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03273"/>
            <a:ext cx="10145423" cy="567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397" indent="-396198" lvl="1">
              <a:lnSpc>
                <a:spcPts val="4954"/>
              </a:lnSpc>
              <a:buFont typeface="Arial"/>
              <a:buChar char="•"/>
            </a:pPr>
            <a:r>
              <a:rPr lang="en-US" sz="3670" spc="22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and Distributed Operating Systems are essential for modern computing.</a:t>
            </a:r>
          </a:p>
          <a:p>
            <a:pPr algn="l" marL="792397" indent="-396198" lvl="1">
              <a:lnSpc>
                <a:spcPts val="4954"/>
              </a:lnSpc>
              <a:buFont typeface="Arial"/>
              <a:buChar char="•"/>
            </a:pPr>
            <a:r>
              <a:rPr lang="en-US" sz="3670" spc="22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They provide improved performance, scalability, and reliability.</a:t>
            </a:r>
          </a:p>
          <a:p>
            <a:pPr algn="l" marL="792397" indent="-396198" lvl="1">
              <a:lnSpc>
                <a:spcPts val="4954"/>
              </a:lnSpc>
              <a:buFont typeface="Arial"/>
              <a:buChar char="•"/>
            </a:pPr>
            <a:r>
              <a:rPr lang="en-US" sz="3670" spc="22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These systems are widely used in industries and research.</a:t>
            </a:r>
          </a:p>
          <a:p>
            <a:pPr algn="l" marL="792397" indent="-396198" lvl="1">
              <a:lnSpc>
                <a:spcPts val="4954"/>
              </a:lnSpc>
              <a:buFont typeface="Arial"/>
              <a:buChar char="•"/>
            </a:pPr>
            <a:r>
              <a:rPr lang="en-US" sz="3670" spc="22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Understanding these concepts is important for future technologies.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329398" y="901798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47044" y="9882374"/>
            <a:ext cx="3296956" cy="809253"/>
          </a:xfrm>
          <a:custGeom>
            <a:avLst/>
            <a:gdLst/>
            <a:ahLst/>
            <a:cxnLst/>
            <a:rect r="r" b="b" t="t" l="l"/>
            <a:pathLst>
              <a:path h="809253" w="3296956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63398" y="-1534296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01533" y="-3053980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95522" y="-3297794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61154" y="-2102294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494810" y="2371030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49682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7259300" y="-971659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242051" y="3972103"/>
            <a:ext cx="6508672" cy="3661128"/>
          </a:xfrm>
          <a:custGeom>
            <a:avLst/>
            <a:gdLst/>
            <a:ahLst/>
            <a:cxnLst/>
            <a:rect r="r" b="b" t="t" l="l"/>
            <a:pathLst>
              <a:path h="3661128" w="6508672">
                <a:moveTo>
                  <a:pt x="0" y="0"/>
                </a:moveTo>
                <a:lnTo>
                  <a:pt x="6508672" y="0"/>
                </a:lnTo>
                <a:lnTo>
                  <a:pt x="6508672" y="3661128"/>
                </a:lnTo>
                <a:lnTo>
                  <a:pt x="0" y="366112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13680" y="1437427"/>
            <a:ext cx="11607491" cy="130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9"/>
              </a:lnSpc>
            </a:pPr>
            <a:r>
              <a:rPr lang="en-US" sz="8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29398" y="8614893"/>
            <a:ext cx="4899948" cy="3344214"/>
          </a:xfrm>
          <a:custGeom>
            <a:avLst/>
            <a:gdLst/>
            <a:ahLst/>
            <a:cxnLst/>
            <a:rect r="r" b="b" t="t" l="l"/>
            <a:pathLst>
              <a:path h="3344214" w="4899948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30709" y="9258300"/>
            <a:ext cx="3059829" cy="751049"/>
          </a:xfrm>
          <a:custGeom>
            <a:avLst/>
            <a:gdLst/>
            <a:ahLst/>
            <a:cxnLst/>
            <a:rect r="r" b="b" t="t" l="l"/>
            <a:pathLst>
              <a:path h="751049" w="305982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5205" y="854013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74156" y="-1072630"/>
            <a:ext cx="4899948" cy="3068592"/>
          </a:xfrm>
          <a:custGeom>
            <a:avLst/>
            <a:gdLst/>
            <a:ahLst/>
            <a:cxnLst/>
            <a:rect r="r" b="b" t="t" l="l"/>
            <a:pathLst>
              <a:path h="3068592" w="4899948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86214" y="-2578193"/>
            <a:ext cx="4292424" cy="3870986"/>
          </a:xfrm>
          <a:custGeom>
            <a:avLst/>
            <a:gdLst/>
            <a:ahLst/>
            <a:cxnLst/>
            <a:rect r="r" b="b" t="t" l="l"/>
            <a:pathLst>
              <a:path h="3870986" w="4292424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38935" y="9258300"/>
            <a:ext cx="4076270" cy="2863579"/>
          </a:xfrm>
          <a:custGeom>
            <a:avLst/>
            <a:gdLst/>
            <a:ahLst/>
            <a:cxnLst/>
            <a:rect r="r" b="b" t="t" l="l"/>
            <a:pathLst>
              <a:path h="2863579" w="407627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409323" y="-2700100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4747568">
            <a:off x="-2972342" y="3665317"/>
            <a:ext cx="4896097" cy="2735694"/>
          </a:xfrm>
          <a:custGeom>
            <a:avLst/>
            <a:gdLst/>
            <a:ahLst/>
            <a:cxnLst/>
            <a:rect r="r" b="b" t="t" l="l"/>
            <a:pathLst>
              <a:path h="2735694" w="4896097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831481" y="-1626507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2262342"/>
            <a:ext cx="3575541" cy="3575541"/>
          </a:xfrm>
          <a:custGeom>
            <a:avLst/>
            <a:gdLst/>
            <a:ahLst/>
            <a:cxnLst/>
            <a:rect r="r" b="b" t="t" l="l"/>
            <a:pathLst>
              <a:path h="3575541" w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570549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282649">
            <a:off x="16440369" y="6970869"/>
            <a:ext cx="3382987" cy="1154444"/>
          </a:xfrm>
          <a:custGeom>
            <a:avLst/>
            <a:gdLst/>
            <a:ahLst/>
            <a:cxnLst/>
            <a:rect r="r" b="b" t="t" l="l"/>
            <a:pathLst>
              <a:path h="1154444" w="3382987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978638" y="-642644"/>
            <a:ext cx="3104522" cy="3342688"/>
          </a:xfrm>
          <a:custGeom>
            <a:avLst/>
            <a:gdLst/>
            <a:ahLst/>
            <a:cxnLst/>
            <a:rect r="r" b="b" t="t" l="l"/>
            <a:pathLst>
              <a:path h="3342688" w="3104522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864059" y="4338269"/>
            <a:ext cx="10910396" cy="204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DAHGaudeEBQ</dc:identifier>
  <dcterms:modified xsi:type="dcterms:W3CDTF">2011-08-01T06:04:30Z</dcterms:modified>
  <cp:revision>1</cp:revision>
  <dc:title>Parallel and distributed os sytems</dc:title>
</cp:coreProperties>
</file>