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MT" charset="1" panose="02030502070405020303"/>
      <p:regular r:id="rId14"/>
    </p:embeddedFont>
    <p:embeddedFont>
      <p:font typeface="Times New Roman MT Medium" charset="1" panose="02030502070405020303"/>
      <p:regular r:id="rId15"/>
    </p:embeddedFont>
    <p:embeddedFont>
      <p:font typeface="Times New Roman" charset="1" panose="02020603050405020304"/>
      <p:regular r:id="rId16"/>
    </p:embeddedFont>
    <p:embeddedFont>
      <p:font typeface="Times New Roman MT Bold" charset="1" panose="0203080207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9393" y="6208598"/>
            <a:ext cx="10211556" cy="3693253"/>
            <a:chOff x="0" y="0"/>
            <a:chExt cx="2534698" cy="916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4698" cy="916734"/>
            </a:xfrm>
            <a:custGeom>
              <a:avLst/>
              <a:gdLst/>
              <a:ahLst/>
              <a:cxnLst/>
              <a:rect r="r" b="b" t="t" l="l"/>
              <a:pathLst>
                <a:path h="916734" w="2534698">
                  <a:moveTo>
                    <a:pt x="26535" y="0"/>
                  </a:moveTo>
                  <a:lnTo>
                    <a:pt x="2508163" y="0"/>
                  </a:lnTo>
                  <a:cubicBezTo>
                    <a:pt x="2515201" y="0"/>
                    <a:pt x="2521950" y="2796"/>
                    <a:pt x="2526926" y="7772"/>
                  </a:cubicBezTo>
                  <a:cubicBezTo>
                    <a:pt x="2531903" y="12748"/>
                    <a:pt x="2534698" y="19498"/>
                    <a:pt x="2534698" y="26535"/>
                  </a:cubicBezTo>
                  <a:lnTo>
                    <a:pt x="2534698" y="890199"/>
                  </a:lnTo>
                  <a:cubicBezTo>
                    <a:pt x="2534698" y="904854"/>
                    <a:pt x="2522818" y="916734"/>
                    <a:pt x="2508163" y="916734"/>
                  </a:cubicBezTo>
                  <a:lnTo>
                    <a:pt x="26535" y="916734"/>
                  </a:lnTo>
                  <a:cubicBezTo>
                    <a:pt x="19498" y="916734"/>
                    <a:pt x="12748" y="913939"/>
                    <a:pt x="7772" y="908962"/>
                  </a:cubicBezTo>
                  <a:cubicBezTo>
                    <a:pt x="2796" y="903986"/>
                    <a:pt x="0" y="897237"/>
                    <a:pt x="0" y="890199"/>
                  </a:cubicBezTo>
                  <a:lnTo>
                    <a:pt x="0" y="26535"/>
                  </a:lnTo>
                  <a:cubicBezTo>
                    <a:pt x="0" y="11880"/>
                    <a:pt x="11880" y="0"/>
                    <a:pt x="26535" y="0"/>
                  </a:cubicBezTo>
                  <a:close/>
                </a:path>
              </a:pathLst>
            </a:custGeom>
            <a:solidFill>
              <a:srgbClr val="4C6EA0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34698" cy="964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220" y="7931399"/>
            <a:ext cx="3777735" cy="2653801"/>
            <a:chOff x="0" y="0"/>
            <a:chExt cx="890131" cy="6253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0131" cy="625303"/>
            </a:xfrm>
            <a:custGeom>
              <a:avLst/>
              <a:gdLst/>
              <a:ahLst/>
              <a:cxnLst/>
              <a:rect r="r" b="b" t="t" l="l"/>
              <a:pathLst>
                <a:path h="625303" w="890131">
                  <a:moveTo>
                    <a:pt x="71727" y="0"/>
                  </a:moveTo>
                  <a:lnTo>
                    <a:pt x="818403" y="0"/>
                  </a:lnTo>
                  <a:cubicBezTo>
                    <a:pt x="858017" y="0"/>
                    <a:pt x="890131" y="32113"/>
                    <a:pt x="890131" y="71727"/>
                  </a:cubicBezTo>
                  <a:lnTo>
                    <a:pt x="890131" y="553576"/>
                  </a:lnTo>
                  <a:cubicBezTo>
                    <a:pt x="890131" y="572599"/>
                    <a:pt x="882574" y="590843"/>
                    <a:pt x="869122" y="604295"/>
                  </a:cubicBezTo>
                  <a:cubicBezTo>
                    <a:pt x="855671" y="617746"/>
                    <a:pt x="837427" y="625303"/>
                    <a:pt x="818403" y="625303"/>
                  </a:cubicBezTo>
                  <a:lnTo>
                    <a:pt x="71727" y="625303"/>
                  </a:lnTo>
                  <a:cubicBezTo>
                    <a:pt x="52704" y="625303"/>
                    <a:pt x="34460" y="617746"/>
                    <a:pt x="21008" y="604295"/>
                  </a:cubicBezTo>
                  <a:cubicBezTo>
                    <a:pt x="7557" y="590843"/>
                    <a:pt x="0" y="572599"/>
                    <a:pt x="0" y="553576"/>
                  </a:cubicBezTo>
                  <a:lnTo>
                    <a:pt x="0" y="71727"/>
                  </a:lnTo>
                  <a:cubicBezTo>
                    <a:pt x="0" y="52704"/>
                    <a:pt x="7557" y="34460"/>
                    <a:pt x="21008" y="21008"/>
                  </a:cubicBezTo>
                  <a:cubicBezTo>
                    <a:pt x="34460" y="7557"/>
                    <a:pt x="52704" y="0"/>
                    <a:pt x="7172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199" r="0" b="-71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65649" y="6480245"/>
            <a:ext cx="2489777" cy="3294684"/>
            <a:chOff x="0" y="0"/>
            <a:chExt cx="655744" cy="867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5744" cy="867736"/>
            </a:xfrm>
            <a:custGeom>
              <a:avLst/>
              <a:gdLst/>
              <a:ahLst/>
              <a:cxnLst/>
              <a:rect r="r" b="b" t="t" l="l"/>
              <a:pathLst>
                <a:path h="867736" w="655744">
                  <a:moveTo>
                    <a:pt x="93285" y="0"/>
                  </a:moveTo>
                  <a:lnTo>
                    <a:pt x="562459" y="0"/>
                  </a:lnTo>
                  <a:cubicBezTo>
                    <a:pt x="613979" y="0"/>
                    <a:pt x="655744" y="41765"/>
                    <a:pt x="655744" y="93285"/>
                  </a:cubicBezTo>
                  <a:lnTo>
                    <a:pt x="655744" y="774451"/>
                  </a:lnTo>
                  <a:cubicBezTo>
                    <a:pt x="655744" y="825971"/>
                    <a:pt x="613979" y="867736"/>
                    <a:pt x="562459" y="867736"/>
                  </a:cubicBezTo>
                  <a:lnTo>
                    <a:pt x="93285" y="867736"/>
                  </a:lnTo>
                  <a:cubicBezTo>
                    <a:pt x="41765" y="867736"/>
                    <a:pt x="0" y="825971"/>
                    <a:pt x="0" y="774451"/>
                  </a:cubicBezTo>
                  <a:lnTo>
                    <a:pt x="0" y="93285"/>
                  </a:lnTo>
                  <a:cubicBezTo>
                    <a:pt x="0" y="41765"/>
                    <a:pt x="41765" y="0"/>
                    <a:pt x="93285" y="0"/>
                  </a:cubicBezTo>
                  <a:close/>
                </a:path>
              </a:pathLst>
            </a:custGeom>
            <a:solidFill>
              <a:srgbClr val="23385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55744" cy="924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30838">
            <a:off x="15671322" y="7397725"/>
            <a:ext cx="1954067" cy="2192020"/>
            <a:chOff x="0" y="0"/>
            <a:chExt cx="1079883" cy="12113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83" cy="1211384"/>
            </a:xfrm>
            <a:custGeom>
              <a:avLst/>
              <a:gdLst/>
              <a:ahLst/>
              <a:cxnLst/>
              <a:rect r="r" b="b" t="t" l="l"/>
              <a:pathLst>
                <a:path h="1211384" w="1079883">
                  <a:moveTo>
                    <a:pt x="138668" y="0"/>
                  </a:moveTo>
                  <a:lnTo>
                    <a:pt x="941215" y="0"/>
                  </a:lnTo>
                  <a:cubicBezTo>
                    <a:pt x="1017799" y="0"/>
                    <a:pt x="1079883" y="62084"/>
                    <a:pt x="1079883" y="138668"/>
                  </a:cubicBezTo>
                  <a:lnTo>
                    <a:pt x="1079883" y="1072716"/>
                  </a:lnTo>
                  <a:cubicBezTo>
                    <a:pt x="1079883" y="1149300"/>
                    <a:pt x="1017799" y="1211384"/>
                    <a:pt x="941215" y="1211384"/>
                  </a:cubicBezTo>
                  <a:lnTo>
                    <a:pt x="138668" y="1211384"/>
                  </a:lnTo>
                  <a:cubicBezTo>
                    <a:pt x="62084" y="1211384"/>
                    <a:pt x="0" y="1149300"/>
                    <a:pt x="0" y="1072716"/>
                  </a:cubicBezTo>
                  <a:lnTo>
                    <a:pt x="0" y="138668"/>
                  </a:lnTo>
                  <a:cubicBezTo>
                    <a:pt x="0" y="62084"/>
                    <a:pt x="62084" y="0"/>
                    <a:pt x="138668" y="0"/>
                  </a:cubicBezTo>
                  <a:close/>
                </a:path>
              </a:pathLst>
            </a:custGeom>
            <a:blipFill>
              <a:blip r:embed="rId3"/>
              <a:stretch>
                <a:fillRect l="-275" t="0" r="-275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282864" y="3926389"/>
            <a:ext cx="1927770" cy="2011904"/>
          </a:xfrm>
          <a:custGeom>
            <a:avLst/>
            <a:gdLst/>
            <a:ahLst/>
            <a:cxnLst/>
            <a:rect r="r" b="b" t="t" l="l"/>
            <a:pathLst>
              <a:path h="2011904" w="1927770">
                <a:moveTo>
                  <a:pt x="0" y="0"/>
                </a:moveTo>
                <a:lnTo>
                  <a:pt x="1927769" y="0"/>
                </a:lnTo>
                <a:lnTo>
                  <a:pt x="1927769" y="2011904"/>
                </a:lnTo>
                <a:lnTo>
                  <a:pt x="0" y="201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2720" y="878593"/>
            <a:ext cx="2571206" cy="2168384"/>
          </a:xfrm>
          <a:custGeom>
            <a:avLst/>
            <a:gdLst/>
            <a:ahLst/>
            <a:cxnLst/>
            <a:rect r="r" b="b" t="t" l="l"/>
            <a:pathLst>
              <a:path h="2168384" w="2571206">
                <a:moveTo>
                  <a:pt x="0" y="0"/>
                </a:moveTo>
                <a:lnTo>
                  <a:pt x="2571206" y="0"/>
                </a:lnTo>
                <a:lnTo>
                  <a:pt x="2571206" y="2168384"/>
                </a:lnTo>
                <a:lnTo>
                  <a:pt x="0" y="2168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52132" y="4173773"/>
            <a:ext cx="1638838" cy="1939453"/>
          </a:xfrm>
          <a:custGeom>
            <a:avLst/>
            <a:gdLst/>
            <a:ahLst/>
            <a:cxnLst/>
            <a:rect r="r" b="b" t="t" l="l"/>
            <a:pathLst>
              <a:path h="1939453" w="1638838">
                <a:moveTo>
                  <a:pt x="0" y="0"/>
                </a:moveTo>
                <a:lnTo>
                  <a:pt x="1638838" y="0"/>
                </a:lnTo>
                <a:lnTo>
                  <a:pt x="1638838" y="1939454"/>
                </a:lnTo>
                <a:lnTo>
                  <a:pt x="0" y="1939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41807" y="1019175"/>
            <a:ext cx="14735073" cy="18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SHADAN WOMEN'S COLLEGE OF ENGINEERING AND TECHNOLOGY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7736" y="6346895"/>
            <a:ext cx="10244998" cy="364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8"/>
              </a:lnSpc>
            </a:pPr>
            <a:r>
              <a:rPr lang="en-US" sz="3405" b="true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Name : Amath ur Rasheed Umama Azmath </a:t>
            </a:r>
          </a:p>
          <a:p>
            <a:pPr algn="l">
              <a:lnSpc>
                <a:spcPts val="4768"/>
              </a:lnSpc>
            </a:pPr>
            <a:r>
              <a:rPr lang="en-US" sz="3405" b="true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Ht no. : 24L51A0508 </a:t>
            </a:r>
          </a:p>
          <a:p>
            <a:pPr algn="l">
              <a:lnSpc>
                <a:spcPts val="4768"/>
              </a:lnSpc>
            </a:pPr>
            <a:r>
              <a:rPr lang="en-US" sz="3405" b="true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Class : B.tech 3rd Year 1st semester </a:t>
            </a:r>
          </a:p>
          <a:p>
            <a:pPr algn="l">
              <a:lnSpc>
                <a:spcPts val="4768"/>
              </a:lnSpc>
            </a:pPr>
            <a:r>
              <a:rPr lang="en-US" sz="3405" b="true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Section : CSE - A</a:t>
            </a:r>
          </a:p>
          <a:p>
            <a:pPr algn="l">
              <a:lnSpc>
                <a:spcPts val="4768"/>
              </a:lnSpc>
            </a:pPr>
            <a:r>
              <a:rPr lang="en-US" sz="3405" b="true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Subject : Computer Networks</a:t>
            </a:r>
          </a:p>
          <a:p>
            <a:pPr algn="l">
              <a:lnSpc>
                <a:spcPts val="476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990970" y="2938575"/>
            <a:ext cx="12887035" cy="66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859" spc="-77">
                <a:solidFill>
                  <a:srgbClr val="2338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An Autonomous Institution Affiliated to JNTUH 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23926" y="4085298"/>
            <a:ext cx="12174966" cy="189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3"/>
              </a:lnSpc>
            </a:pPr>
            <a:r>
              <a:rPr lang="en-US" sz="6803" spc="-13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OPTICAL FIBRE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6937" y="0"/>
            <a:ext cx="6156291" cy="10287000"/>
            <a:chOff x="0" y="0"/>
            <a:chExt cx="547226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7226" cy="914400"/>
            </a:xfrm>
            <a:custGeom>
              <a:avLst/>
              <a:gdLst/>
              <a:ahLst/>
              <a:cxnLst/>
              <a:rect r="r" b="b" t="t" l="l"/>
              <a:pathLst>
                <a:path h="914400" w="547226">
                  <a:moveTo>
                    <a:pt x="0" y="0"/>
                  </a:moveTo>
                  <a:lnTo>
                    <a:pt x="547226" y="0"/>
                  </a:lnTo>
                  <a:lnTo>
                    <a:pt x="54722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/>
              <a:stretch>
                <a:fillRect l="-33040" t="0" r="-545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12118" y="2907642"/>
            <a:ext cx="10131384" cy="5340322"/>
            <a:chOff x="0" y="0"/>
            <a:chExt cx="2668348" cy="14065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8348" cy="1406505"/>
            </a:xfrm>
            <a:custGeom>
              <a:avLst/>
              <a:gdLst/>
              <a:ahLst/>
              <a:cxnLst/>
              <a:rect r="r" b="b" t="t" l="l"/>
              <a:pathLst>
                <a:path h="1406505" w="2668348">
                  <a:moveTo>
                    <a:pt x="22925" y="0"/>
                  </a:moveTo>
                  <a:lnTo>
                    <a:pt x="2645424" y="0"/>
                  </a:lnTo>
                  <a:cubicBezTo>
                    <a:pt x="2651504" y="0"/>
                    <a:pt x="2657335" y="2415"/>
                    <a:pt x="2661634" y="6714"/>
                  </a:cubicBezTo>
                  <a:cubicBezTo>
                    <a:pt x="2665933" y="11014"/>
                    <a:pt x="2668348" y="16845"/>
                    <a:pt x="2668348" y="22925"/>
                  </a:cubicBezTo>
                  <a:lnTo>
                    <a:pt x="2668348" y="1383580"/>
                  </a:lnTo>
                  <a:cubicBezTo>
                    <a:pt x="2668348" y="1389660"/>
                    <a:pt x="2665933" y="1395491"/>
                    <a:pt x="2661634" y="1399790"/>
                  </a:cubicBezTo>
                  <a:cubicBezTo>
                    <a:pt x="2657335" y="1404089"/>
                    <a:pt x="2651504" y="1406505"/>
                    <a:pt x="2645424" y="1406505"/>
                  </a:cubicBezTo>
                  <a:lnTo>
                    <a:pt x="22925" y="1406505"/>
                  </a:lnTo>
                  <a:cubicBezTo>
                    <a:pt x="16845" y="1406505"/>
                    <a:pt x="11014" y="1404089"/>
                    <a:pt x="6714" y="1399790"/>
                  </a:cubicBezTo>
                  <a:cubicBezTo>
                    <a:pt x="2415" y="1395491"/>
                    <a:pt x="0" y="1389660"/>
                    <a:pt x="0" y="1383580"/>
                  </a:cubicBezTo>
                  <a:lnTo>
                    <a:pt x="0" y="22925"/>
                  </a:lnTo>
                  <a:cubicBezTo>
                    <a:pt x="0" y="16845"/>
                    <a:pt x="2415" y="11014"/>
                    <a:pt x="6714" y="6714"/>
                  </a:cubicBezTo>
                  <a:cubicBezTo>
                    <a:pt x="11014" y="2415"/>
                    <a:pt x="16845" y="0"/>
                    <a:pt x="22925" y="0"/>
                  </a:cubicBezTo>
                  <a:close/>
                </a:path>
              </a:pathLst>
            </a:custGeom>
            <a:solidFill>
              <a:srgbClr val="4C6EA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668348" cy="1463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220467" y="562751"/>
            <a:ext cx="1972024" cy="1602717"/>
          </a:xfrm>
          <a:custGeom>
            <a:avLst/>
            <a:gdLst/>
            <a:ahLst/>
            <a:cxnLst/>
            <a:rect r="r" b="b" t="t" l="l"/>
            <a:pathLst>
              <a:path h="1602717" w="1972024">
                <a:moveTo>
                  <a:pt x="0" y="0"/>
                </a:moveTo>
                <a:lnTo>
                  <a:pt x="1972024" y="0"/>
                </a:lnTo>
                <a:lnTo>
                  <a:pt x="1972024" y="1602717"/>
                </a:lnTo>
                <a:lnTo>
                  <a:pt x="0" y="1602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78742" y="3882559"/>
            <a:ext cx="8294863" cy="378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22"/>
              </a:lnSpc>
              <a:spcBef>
                <a:spcPct val="0"/>
              </a:spcBef>
            </a:pPr>
            <a:r>
              <a:rPr lang="en-US" sz="3016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Fiber optic technology operates on the principle of total internal reflection to transmit data signals at nearly the speed of light.</a:t>
            </a:r>
          </a:p>
          <a:p>
            <a:pPr algn="l" marL="0" indent="0" lvl="1">
              <a:lnSpc>
                <a:spcPts val="4222"/>
              </a:lnSpc>
              <a:spcBef>
                <a:spcPct val="0"/>
              </a:spcBef>
            </a:pPr>
            <a:r>
              <a:rPr lang="en-US" sz="3016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​It serves as the primary backbone for modern telecommunications, offering significantly higher bandwidth and lower sig</a:t>
            </a:r>
            <a:r>
              <a:rPr lang="en-US" sz="3016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nal loss over long distances compared to traditional copper wiring.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272655" y="1522188"/>
            <a:ext cx="5541818" cy="2770909"/>
          </a:xfrm>
          <a:custGeom>
            <a:avLst/>
            <a:gdLst/>
            <a:ahLst/>
            <a:cxnLst/>
            <a:rect r="r" b="b" t="t" l="l"/>
            <a:pathLst>
              <a:path h="2770909" w="5541818">
                <a:moveTo>
                  <a:pt x="0" y="0"/>
                </a:moveTo>
                <a:lnTo>
                  <a:pt x="5541818" y="0"/>
                </a:lnTo>
                <a:lnTo>
                  <a:pt x="5541818" y="2770909"/>
                </a:lnTo>
                <a:lnTo>
                  <a:pt x="0" y="27709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16839" y="1354585"/>
            <a:ext cx="8660917" cy="111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8"/>
              </a:lnSpc>
            </a:pPr>
            <a:r>
              <a:rPr lang="en-US" sz="7288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6383" y="3240139"/>
            <a:ext cx="9533485" cy="4908143"/>
            <a:chOff x="0" y="0"/>
            <a:chExt cx="2290099" cy="1179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0099" cy="1179016"/>
            </a:xfrm>
            <a:custGeom>
              <a:avLst/>
              <a:gdLst/>
              <a:ahLst/>
              <a:cxnLst/>
              <a:rect r="r" b="b" t="t" l="l"/>
              <a:pathLst>
                <a:path h="1179016" w="2290099">
                  <a:moveTo>
                    <a:pt x="42228" y="0"/>
                  </a:moveTo>
                  <a:lnTo>
                    <a:pt x="2247871" y="0"/>
                  </a:lnTo>
                  <a:cubicBezTo>
                    <a:pt x="2271193" y="0"/>
                    <a:pt x="2290099" y="18906"/>
                    <a:pt x="2290099" y="42228"/>
                  </a:cubicBezTo>
                  <a:lnTo>
                    <a:pt x="2290099" y="1136788"/>
                  </a:lnTo>
                  <a:cubicBezTo>
                    <a:pt x="2290099" y="1160110"/>
                    <a:pt x="2271193" y="1179016"/>
                    <a:pt x="2247871" y="1179016"/>
                  </a:cubicBezTo>
                  <a:lnTo>
                    <a:pt x="42228" y="1179016"/>
                  </a:lnTo>
                  <a:cubicBezTo>
                    <a:pt x="18906" y="1179016"/>
                    <a:pt x="0" y="1160110"/>
                    <a:pt x="0" y="1136788"/>
                  </a:cubicBezTo>
                  <a:lnTo>
                    <a:pt x="0" y="42228"/>
                  </a:lnTo>
                  <a:cubicBezTo>
                    <a:pt x="0" y="18906"/>
                    <a:pt x="18906" y="0"/>
                    <a:pt x="4222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629" r="0" b="-46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96319" y="904875"/>
            <a:ext cx="6699413" cy="751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▪︎Core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The innermost thin glass or plastic cylinder where light pulses travel.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</a:t>
            </a: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Cladding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The outer optical material surrounding the core that has a lower refractive index, reflecting light back into the core.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▪︎</a:t>
            </a: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​Buffer Coating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A protective layer of plastic surrounding the cladding to shield the glass from moisture and physical damage.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Outer Jacket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The tough exterior sheath that houses one or multiple fibers to protect against environmental hazards during installation.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5476" y="8151867"/>
            <a:ext cx="4361213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</a:t>
            </a:r>
            <a:r>
              <a:rPr lang="en-US" sz="24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reate a Home Office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0917" y="489448"/>
            <a:ext cx="6580374" cy="18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MAIN COMPONENTS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654474"/>
            <a:chOff x="0" y="0"/>
            <a:chExt cx="2466033" cy="13149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033" cy="1314937"/>
            </a:xfrm>
            <a:custGeom>
              <a:avLst/>
              <a:gdLst/>
              <a:ahLst/>
              <a:cxnLst/>
              <a:rect r="r" b="b" t="t" l="l"/>
              <a:pathLst>
                <a:path h="1314937" w="2466033">
                  <a:moveTo>
                    <a:pt x="24804" y="0"/>
                  </a:moveTo>
                  <a:lnTo>
                    <a:pt x="2441229" y="0"/>
                  </a:lnTo>
                  <a:cubicBezTo>
                    <a:pt x="2447808" y="0"/>
                    <a:pt x="2454117" y="2613"/>
                    <a:pt x="2458768" y="7265"/>
                  </a:cubicBezTo>
                  <a:cubicBezTo>
                    <a:pt x="2463420" y="11916"/>
                    <a:pt x="2466033" y="18225"/>
                    <a:pt x="2466033" y="24804"/>
                  </a:cubicBezTo>
                  <a:lnTo>
                    <a:pt x="2466033" y="1290133"/>
                  </a:lnTo>
                  <a:cubicBezTo>
                    <a:pt x="2466033" y="1296712"/>
                    <a:pt x="2463420" y="1303021"/>
                    <a:pt x="2458768" y="1307672"/>
                  </a:cubicBezTo>
                  <a:cubicBezTo>
                    <a:pt x="2454117" y="1312324"/>
                    <a:pt x="2447808" y="1314937"/>
                    <a:pt x="2441229" y="1314937"/>
                  </a:cubicBezTo>
                  <a:lnTo>
                    <a:pt x="24804" y="1314937"/>
                  </a:lnTo>
                  <a:cubicBezTo>
                    <a:pt x="18225" y="1314937"/>
                    <a:pt x="11916" y="1312324"/>
                    <a:pt x="7265" y="1307672"/>
                  </a:cubicBezTo>
                  <a:cubicBezTo>
                    <a:pt x="2613" y="1303021"/>
                    <a:pt x="0" y="1296712"/>
                    <a:pt x="0" y="1290133"/>
                  </a:cubicBezTo>
                  <a:lnTo>
                    <a:pt x="0" y="24804"/>
                  </a:lnTo>
                  <a:cubicBezTo>
                    <a:pt x="0" y="18225"/>
                    <a:pt x="2613" y="11916"/>
                    <a:pt x="7265" y="7265"/>
                  </a:cubicBezTo>
                  <a:cubicBezTo>
                    <a:pt x="11916" y="2613"/>
                    <a:pt x="18225" y="0"/>
                    <a:pt x="248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912363" y="2652363"/>
            <a:ext cx="4601074" cy="2548287"/>
          </a:xfrm>
          <a:custGeom>
            <a:avLst/>
            <a:gdLst/>
            <a:ahLst/>
            <a:cxnLst/>
            <a:rect r="r" b="b" t="t" l="l"/>
            <a:pathLst>
              <a:path h="2548287" w="4601074">
                <a:moveTo>
                  <a:pt x="0" y="0"/>
                </a:moveTo>
                <a:lnTo>
                  <a:pt x="4601075" y="0"/>
                </a:lnTo>
                <a:lnTo>
                  <a:pt x="4601075" y="2548287"/>
                </a:lnTo>
                <a:lnTo>
                  <a:pt x="0" y="254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70231" y="5508337"/>
            <a:ext cx="3456740" cy="3456740"/>
          </a:xfrm>
          <a:custGeom>
            <a:avLst/>
            <a:gdLst/>
            <a:ahLst/>
            <a:cxnLst/>
            <a:rect r="r" b="b" t="t" l="l"/>
            <a:pathLst>
              <a:path h="3456740" w="3456740">
                <a:moveTo>
                  <a:pt x="0" y="0"/>
                </a:moveTo>
                <a:lnTo>
                  <a:pt x="3456740" y="0"/>
                </a:lnTo>
                <a:lnTo>
                  <a:pt x="3456740" y="3456740"/>
                </a:lnTo>
                <a:lnTo>
                  <a:pt x="0" y="3456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64971" y="1532255"/>
            <a:ext cx="9761643" cy="18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OPTIC FIBRE CABLE TECHNOLOGY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4971" y="3637387"/>
            <a:ext cx="9713966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▪︎Light Sources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Light-Emitting Diodes (LEDs) or Laser Diodes generate the light pulses passed through the fiber.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​Optical Detectors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Photodiodes and Avalanche Photodiodes (APDs) detect incoming light signals at the receiving end and convert them back into electrical data.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​▪︎Fiber Connectors</a:t>
            </a:r>
            <a:r>
              <a:rPr lang="en-US" sz="3000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Connectors such as LC, SC, ST, and FC secure physical connections between optical cables and networking hardware.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9360" y="1028700"/>
            <a:ext cx="10942204" cy="8229600"/>
            <a:chOff x="0" y="0"/>
            <a:chExt cx="2716059" cy="204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16059" cy="2042740"/>
            </a:xfrm>
            <a:custGeom>
              <a:avLst/>
              <a:gdLst/>
              <a:ahLst/>
              <a:cxnLst/>
              <a:rect r="r" b="b" t="t" l="l"/>
              <a:pathLst>
                <a:path h="2042740" w="2716059">
                  <a:moveTo>
                    <a:pt x="36791" y="0"/>
                  </a:moveTo>
                  <a:lnTo>
                    <a:pt x="2679267" y="0"/>
                  </a:lnTo>
                  <a:cubicBezTo>
                    <a:pt x="2689025" y="0"/>
                    <a:pt x="2698383" y="3876"/>
                    <a:pt x="2705283" y="10776"/>
                  </a:cubicBezTo>
                  <a:cubicBezTo>
                    <a:pt x="2712183" y="17676"/>
                    <a:pt x="2716059" y="27034"/>
                    <a:pt x="2716059" y="36791"/>
                  </a:cubicBezTo>
                  <a:lnTo>
                    <a:pt x="2716059" y="2005948"/>
                  </a:lnTo>
                  <a:cubicBezTo>
                    <a:pt x="2716059" y="2015706"/>
                    <a:pt x="2712183" y="2025064"/>
                    <a:pt x="2705283" y="2031964"/>
                  </a:cubicBezTo>
                  <a:cubicBezTo>
                    <a:pt x="2698383" y="2038864"/>
                    <a:pt x="2689025" y="2042740"/>
                    <a:pt x="2679267" y="2042740"/>
                  </a:cubicBezTo>
                  <a:lnTo>
                    <a:pt x="36791" y="2042740"/>
                  </a:lnTo>
                  <a:cubicBezTo>
                    <a:pt x="16472" y="2042740"/>
                    <a:pt x="0" y="2026268"/>
                    <a:pt x="0" y="2005948"/>
                  </a:cubicBezTo>
                  <a:lnTo>
                    <a:pt x="0" y="36791"/>
                  </a:lnTo>
                  <a:cubicBezTo>
                    <a:pt x="0" y="27034"/>
                    <a:pt x="3876" y="17676"/>
                    <a:pt x="10776" y="10776"/>
                  </a:cubicBezTo>
                  <a:cubicBezTo>
                    <a:pt x="17676" y="3876"/>
                    <a:pt x="27034" y="0"/>
                    <a:pt x="3679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16059" cy="2090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96559" y="5836244"/>
            <a:ext cx="4562741" cy="3422056"/>
          </a:xfrm>
          <a:custGeom>
            <a:avLst/>
            <a:gdLst/>
            <a:ahLst/>
            <a:cxnLst/>
            <a:rect r="r" b="b" t="t" l="l"/>
            <a:pathLst>
              <a:path h="3422056" w="4562741">
                <a:moveTo>
                  <a:pt x="0" y="0"/>
                </a:moveTo>
                <a:lnTo>
                  <a:pt x="4562741" y="0"/>
                </a:lnTo>
                <a:lnTo>
                  <a:pt x="4562741" y="3422056"/>
                </a:lnTo>
                <a:lnTo>
                  <a:pt x="0" y="3422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20852" y="1857375"/>
            <a:ext cx="9159220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Signal Repeaters and Amplifiers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Devices like Erbium-Doped Fiber Amplifiers (EDFA) boost optical signals across long transmission spans without converting them to electrical form.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Multiplexing Systems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Wavelength Division Multiplexing (WDM) combines multiple light signals of varying wavelengths onto a single optical fiber strand to maximize data capacity.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Link Protocols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High-speed network standards, such as SONET/SDH, FDDI, and Fiber Channel, govern framed data transfer over optical networks.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696559" y="1094299"/>
            <a:ext cx="4562741" cy="4049201"/>
          </a:xfrm>
          <a:custGeom>
            <a:avLst/>
            <a:gdLst/>
            <a:ahLst/>
            <a:cxnLst/>
            <a:rect r="r" b="b" t="t" l="l"/>
            <a:pathLst>
              <a:path h="4049201" w="4562741">
                <a:moveTo>
                  <a:pt x="0" y="0"/>
                </a:moveTo>
                <a:lnTo>
                  <a:pt x="4562741" y="0"/>
                </a:lnTo>
                <a:lnTo>
                  <a:pt x="4562741" y="4049201"/>
                </a:lnTo>
                <a:lnTo>
                  <a:pt x="0" y="4049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682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1963" y="225396"/>
            <a:ext cx="9157040" cy="10061604"/>
            <a:chOff x="0" y="0"/>
            <a:chExt cx="1695464" cy="1862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5464" cy="1862948"/>
            </a:xfrm>
            <a:custGeom>
              <a:avLst/>
              <a:gdLst/>
              <a:ahLst/>
              <a:cxnLst/>
              <a:rect r="r" b="b" t="t" l="l"/>
              <a:pathLst>
                <a:path h="1862948" w="1695464">
                  <a:moveTo>
                    <a:pt x="84546" y="0"/>
                  </a:moveTo>
                  <a:lnTo>
                    <a:pt x="1610918" y="0"/>
                  </a:lnTo>
                  <a:cubicBezTo>
                    <a:pt x="1657611" y="0"/>
                    <a:pt x="1695464" y="37853"/>
                    <a:pt x="1695464" y="84546"/>
                  </a:cubicBezTo>
                  <a:lnTo>
                    <a:pt x="1695464" y="1778402"/>
                  </a:lnTo>
                  <a:cubicBezTo>
                    <a:pt x="1695464" y="1800824"/>
                    <a:pt x="1686556" y="1822329"/>
                    <a:pt x="1670701" y="1838185"/>
                  </a:cubicBezTo>
                  <a:cubicBezTo>
                    <a:pt x="1654845" y="1854040"/>
                    <a:pt x="1633341" y="1862948"/>
                    <a:pt x="1610918" y="1862948"/>
                  </a:cubicBezTo>
                  <a:lnTo>
                    <a:pt x="84546" y="1862948"/>
                  </a:lnTo>
                  <a:cubicBezTo>
                    <a:pt x="37853" y="1862948"/>
                    <a:pt x="0" y="1825095"/>
                    <a:pt x="0" y="1778402"/>
                  </a:cubicBezTo>
                  <a:lnTo>
                    <a:pt x="0" y="84546"/>
                  </a:lnTo>
                  <a:cubicBezTo>
                    <a:pt x="0" y="62123"/>
                    <a:pt x="8908" y="40618"/>
                    <a:pt x="24763" y="24763"/>
                  </a:cubicBezTo>
                  <a:cubicBezTo>
                    <a:pt x="40618" y="8908"/>
                    <a:pt x="62123" y="0"/>
                    <a:pt x="84546" y="0"/>
                  </a:cubicBezTo>
                  <a:close/>
                </a:path>
              </a:pathLst>
            </a:custGeom>
            <a:blipFill>
              <a:blip r:embed="rId2"/>
              <a:stretch>
                <a:fillRect l="-23341" t="0" r="-2334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27706" y="1019175"/>
            <a:ext cx="6550405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APPLICATIONS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60205" y="2305240"/>
            <a:ext cx="7799095" cy="644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Transatlantic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undersea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telecommunication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cables connecting continents and global data networks.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Fiber-to-the-Home (FTTH)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broadband installations supplying high-speed gigabit internet to residences.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Enterprise Data Centers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high-speed server interconnects and Storage Area Networks (SANs).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​▪︎</a:t>
            </a:r>
            <a:r>
              <a:rPr lang="en-US" b="true" sz="3000" strike="noStrike" u="none">
                <a:solidFill>
                  <a:srgbClr val="2338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Medical equipment</a:t>
            </a:r>
            <a:r>
              <a:rPr lang="en-US" sz="3000" strike="noStrike" u="none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such as endoscopes for precise internal imaging during non-invasive surgeries.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2349" y="1028700"/>
            <a:ext cx="6851886" cy="4966183"/>
            <a:chOff x="0" y="0"/>
            <a:chExt cx="1206911" cy="874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911" cy="874758"/>
            </a:xfrm>
            <a:custGeom>
              <a:avLst/>
              <a:gdLst/>
              <a:ahLst/>
              <a:cxnLst/>
              <a:rect r="r" b="b" t="t" l="l"/>
              <a:pathLst>
                <a:path h="874758" w="1206911">
                  <a:moveTo>
                    <a:pt x="39546" y="0"/>
                  </a:moveTo>
                  <a:lnTo>
                    <a:pt x="1167365" y="0"/>
                  </a:lnTo>
                  <a:cubicBezTo>
                    <a:pt x="1189206" y="0"/>
                    <a:pt x="1206911" y="17706"/>
                    <a:pt x="1206911" y="39546"/>
                  </a:cubicBezTo>
                  <a:lnTo>
                    <a:pt x="1206911" y="835212"/>
                  </a:lnTo>
                  <a:cubicBezTo>
                    <a:pt x="1206911" y="845700"/>
                    <a:pt x="1202745" y="855759"/>
                    <a:pt x="1195328" y="863175"/>
                  </a:cubicBezTo>
                  <a:cubicBezTo>
                    <a:pt x="1187912" y="870592"/>
                    <a:pt x="1177853" y="874758"/>
                    <a:pt x="1167365" y="874758"/>
                  </a:cubicBezTo>
                  <a:lnTo>
                    <a:pt x="39546" y="874758"/>
                  </a:lnTo>
                  <a:cubicBezTo>
                    <a:pt x="17706" y="874758"/>
                    <a:pt x="0" y="857053"/>
                    <a:pt x="0" y="835212"/>
                  </a:cubicBezTo>
                  <a:lnTo>
                    <a:pt x="0" y="39546"/>
                  </a:lnTo>
                  <a:cubicBezTo>
                    <a:pt x="0" y="17706"/>
                    <a:pt x="17706" y="0"/>
                    <a:pt x="39546" y="0"/>
                  </a:cubicBezTo>
                  <a:close/>
                </a:path>
              </a:pathLst>
            </a:custGeom>
            <a:blipFill>
              <a:blip r:embed="rId2"/>
              <a:stretch>
                <a:fillRect l="-14425" t="0" r="-144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3300" y="3112322"/>
            <a:ext cx="8127350" cy="4868957"/>
            <a:chOff x="0" y="0"/>
            <a:chExt cx="2140537" cy="12823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0537" cy="1282359"/>
            </a:xfrm>
            <a:custGeom>
              <a:avLst/>
              <a:gdLst/>
              <a:ahLst/>
              <a:cxnLst/>
              <a:rect r="r" b="b" t="t" l="l"/>
              <a:pathLst>
                <a:path h="1282359" w="2140537">
                  <a:moveTo>
                    <a:pt x="33340" y="0"/>
                  </a:moveTo>
                  <a:lnTo>
                    <a:pt x="2107196" y="0"/>
                  </a:lnTo>
                  <a:cubicBezTo>
                    <a:pt x="2125610" y="0"/>
                    <a:pt x="2140537" y="14927"/>
                    <a:pt x="2140537" y="33340"/>
                  </a:cubicBezTo>
                  <a:lnTo>
                    <a:pt x="2140537" y="1249019"/>
                  </a:lnTo>
                  <a:cubicBezTo>
                    <a:pt x="2140537" y="1267432"/>
                    <a:pt x="2125610" y="1282359"/>
                    <a:pt x="2107196" y="1282359"/>
                  </a:cubicBezTo>
                  <a:lnTo>
                    <a:pt x="33340" y="1282359"/>
                  </a:lnTo>
                  <a:cubicBezTo>
                    <a:pt x="14927" y="1282359"/>
                    <a:pt x="0" y="1267432"/>
                    <a:pt x="0" y="1249019"/>
                  </a:cubicBezTo>
                  <a:lnTo>
                    <a:pt x="0" y="33340"/>
                  </a:lnTo>
                  <a:cubicBezTo>
                    <a:pt x="0" y="14927"/>
                    <a:pt x="14927" y="0"/>
                    <a:pt x="33340" y="0"/>
                  </a:cubicBezTo>
                  <a:close/>
                </a:path>
              </a:pathLst>
            </a:custGeom>
            <a:solidFill>
              <a:srgbClr val="2338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40537" cy="1329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369153" y="6368829"/>
            <a:ext cx="3674760" cy="4323247"/>
          </a:xfrm>
          <a:custGeom>
            <a:avLst/>
            <a:gdLst/>
            <a:ahLst/>
            <a:cxnLst/>
            <a:rect r="r" b="b" t="t" l="l"/>
            <a:pathLst>
              <a:path h="4323247" w="3674760">
                <a:moveTo>
                  <a:pt x="0" y="0"/>
                </a:moveTo>
                <a:lnTo>
                  <a:pt x="3674761" y="0"/>
                </a:lnTo>
                <a:lnTo>
                  <a:pt x="3674761" y="4323247"/>
                </a:lnTo>
                <a:lnTo>
                  <a:pt x="0" y="4323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0122" y="957590"/>
            <a:ext cx="8345467" cy="142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6"/>
              </a:lnSpc>
            </a:pPr>
            <a:r>
              <a:rPr lang="en-US" sz="9436" spc="-519">
                <a:solidFill>
                  <a:srgbClr val="23385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080" y="3331397"/>
            <a:ext cx="7532591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​Fiber optics form the critical infrastructure underpinning modern internet backbones and high-speed data delivery.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​Future network expansions will continue relying on optical fibers to handle growing demands for 5G, cloud computing, and real-time data streaming.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926" y="5401615"/>
            <a:ext cx="17962755" cy="3466546"/>
            <a:chOff x="0" y="0"/>
            <a:chExt cx="4458690" cy="860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8690" cy="860461"/>
            </a:xfrm>
            <a:custGeom>
              <a:avLst/>
              <a:gdLst/>
              <a:ahLst/>
              <a:cxnLst/>
              <a:rect r="r" b="b" t="t" l="l"/>
              <a:pathLst>
                <a:path h="860461" w="4458690">
                  <a:moveTo>
                    <a:pt x="15085" y="0"/>
                  </a:moveTo>
                  <a:lnTo>
                    <a:pt x="4443605" y="0"/>
                  </a:lnTo>
                  <a:cubicBezTo>
                    <a:pt x="4451936" y="0"/>
                    <a:pt x="4458690" y="6754"/>
                    <a:pt x="4458690" y="15085"/>
                  </a:cubicBezTo>
                  <a:lnTo>
                    <a:pt x="4458690" y="845376"/>
                  </a:lnTo>
                  <a:cubicBezTo>
                    <a:pt x="4458690" y="853707"/>
                    <a:pt x="4451936" y="860461"/>
                    <a:pt x="4443605" y="860461"/>
                  </a:cubicBezTo>
                  <a:lnTo>
                    <a:pt x="15085" y="860461"/>
                  </a:lnTo>
                  <a:cubicBezTo>
                    <a:pt x="11084" y="860461"/>
                    <a:pt x="7247" y="858872"/>
                    <a:pt x="4418" y="856043"/>
                  </a:cubicBezTo>
                  <a:cubicBezTo>
                    <a:pt x="1589" y="853214"/>
                    <a:pt x="0" y="849377"/>
                    <a:pt x="0" y="845376"/>
                  </a:cubicBezTo>
                  <a:lnTo>
                    <a:pt x="0" y="15085"/>
                  </a:lnTo>
                  <a:cubicBezTo>
                    <a:pt x="0" y="11084"/>
                    <a:pt x="1589" y="7247"/>
                    <a:pt x="4418" y="4418"/>
                  </a:cubicBezTo>
                  <a:cubicBezTo>
                    <a:pt x="7247" y="1589"/>
                    <a:pt x="11084" y="0"/>
                    <a:pt x="15085" y="0"/>
                  </a:cubicBezTo>
                  <a:close/>
                </a:path>
              </a:pathLst>
            </a:custGeom>
            <a:solidFill>
              <a:srgbClr val="DC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58690" cy="90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76193" y="2470996"/>
            <a:ext cx="10535614" cy="5345008"/>
            <a:chOff x="0" y="0"/>
            <a:chExt cx="2615136" cy="1326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5136" cy="1326731"/>
            </a:xfrm>
            <a:custGeom>
              <a:avLst/>
              <a:gdLst/>
              <a:ahLst/>
              <a:cxnLst/>
              <a:rect r="r" b="b" t="t" l="l"/>
              <a:pathLst>
                <a:path h="1326731" w="2615136">
                  <a:moveTo>
                    <a:pt x="25719" y="0"/>
                  </a:moveTo>
                  <a:lnTo>
                    <a:pt x="2589416" y="0"/>
                  </a:lnTo>
                  <a:cubicBezTo>
                    <a:pt x="2596237" y="0"/>
                    <a:pt x="2602779" y="2710"/>
                    <a:pt x="2607603" y="7533"/>
                  </a:cubicBezTo>
                  <a:cubicBezTo>
                    <a:pt x="2612426" y="12356"/>
                    <a:pt x="2615136" y="18898"/>
                    <a:pt x="2615136" y="25719"/>
                  </a:cubicBezTo>
                  <a:lnTo>
                    <a:pt x="2615136" y="1301011"/>
                  </a:lnTo>
                  <a:cubicBezTo>
                    <a:pt x="2615136" y="1307833"/>
                    <a:pt x="2612426" y="1314374"/>
                    <a:pt x="2607603" y="1319198"/>
                  </a:cubicBezTo>
                  <a:cubicBezTo>
                    <a:pt x="2602779" y="1324021"/>
                    <a:pt x="2596237" y="1326731"/>
                    <a:pt x="2589416" y="1326731"/>
                  </a:cubicBezTo>
                  <a:lnTo>
                    <a:pt x="25719" y="1326731"/>
                  </a:lnTo>
                  <a:cubicBezTo>
                    <a:pt x="18898" y="1326731"/>
                    <a:pt x="12356" y="1324021"/>
                    <a:pt x="7533" y="1319198"/>
                  </a:cubicBezTo>
                  <a:cubicBezTo>
                    <a:pt x="2710" y="1314374"/>
                    <a:pt x="0" y="1307833"/>
                    <a:pt x="0" y="1301011"/>
                  </a:cubicBezTo>
                  <a:lnTo>
                    <a:pt x="0" y="25719"/>
                  </a:lnTo>
                  <a:cubicBezTo>
                    <a:pt x="0" y="18898"/>
                    <a:pt x="2710" y="12356"/>
                    <a:pt x="7533" y="7533"/>
                  </a:cubicBezTo>
                  <a:cubicBezTo>
                    <a:pt x="12356" y="2710"/>
                    <a:pt x="18898" y="0"/>
                    <a:pt x="25719" y="0"/>
                  </a:cubicBezTo>
                  <a:close/>
                </a:path>
              </a:pathLst>
            </a:custGeom>
            <a:solidFill>
              <a:srgbClr val="4C6EA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615136" cy="1374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97067" y="4192383"/>
            <a:ext cx="9093866" cy="167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7"/>
              </a:lnSpc>
              <a:spcBef>
                <a:spcPct val="0"/>
              </a:spcBef>
            </a:pPr>
            <a:r>
              <a:rPr lang="en-US" sz="9483" strike="noStrike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015432" y="1707576"/>
            <a:ext cx="4300451" cy="2150225"/>
          </a:xfrm>
          <a:custGeom>
            <a:avLst/>
            <a:gdLst/>
            <a:ahLst/>
            <a:cxnLst/>
            <a:rect r="r" b="b" t="t" l="l"/>
            <a:pathLst>
              <a:path h="2150225" w="4300451">
                <a:moveTo>
                  <a:pt x="0" y="0"/>
                </a:moveTo>
                <a:lnTo>
                  <a:pt x="4300450" y="0"/>
                </a:lnTo>
                <a:lnTo>
                  <a:pt x="4300450" y="2150225"/>
                </a:lnTo>
                <a:lnTo>
                  <a:pt x="0" y="2150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65743" y="6453773"/>
            <a:ext cx="3868313" cy="2804527"/>
          </a:xfrm>
          <a:custGeom>
            <a:avLst/>
            <a:gdLst/>
            <a:ahLst/>
            <a:cxnLst/>
            <a:rect r="r" b="b" t="t" l="l"/>
            <a:pathLst>
              <a:path h="2804527" w="3868313">
                <a:moveTo>
                  <a:pt x="0" y="0"/>
                </a:moveTo>
                <a:lnTo>
                  <a:pt x="3868312" y="0"/>
                </a:lnTo>
                <a:lnTo>
                  <a:pt x="3868312" y="2804527"/>
                </a:lnTo>
                <a:lnTo>
                  <a:pt x="0" y="280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DAHSI5jwsBY</dc:identifier>
  <dcterms:modified xsi:type="dcterms:W3CDTF">2011-08-01T06:04:30Z</dcterms:modified>
  <cp:revision>1</cp:revision>
  <dc:title>Optical fibre communication</dc:title>
</cp:coreProperties>
</file>