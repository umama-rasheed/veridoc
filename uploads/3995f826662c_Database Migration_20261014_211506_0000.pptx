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charset="1" panose="02020603050405020304"/>
      <p:regular r:id="rId16"/>
    </p:embeddedFont>
    <p:embeddedFont>
      <p:font typeface="Arimo" charset="1" panose="020B0604020202020204"/>
      <p:regular r:id="rId17"/>
    </p:embeddedFont>
    <p:embeddedFont>
      <p:font typeface="Times New Roman Bold" charset="1" panose="020208030705050203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png" Type="http://schemas.openxmlformats.org/officeDocument/2006/relationships/image"/><Relationship Id="rId12" Target="../media/image42.png" Type="http://schemas.openxmlformats.org/officeDocument/2006/relationships/image"/><Relationship Id="rId13" Target="../media/image43.png" Type="http://schemas.openxmlformats.org/officeDocument/2006/relationships/image"/><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77850" y="6638925"/>
            <a:ext cx="657225" cy="647700"/>
          </a:xfrm>
          <a:custGeom>
            <a:avLst/>
            <a:gdLst/>
            <a:ahLst/>
            <a:cxnLst/>
            <a:rect r="r" b="b" t="t" l="l"/>
            <a:pathLst>
              <a:path h="647700" w="657225">
                <a:moveTo>
                  <a:pt x="0" y="0"/>
                </a:moveTo>
                <a:lnTo>
                  <a:pt x="657225" y="0"/>
                </a:lnTo>
                <a:lnTo>
                  <a:pt x="657225" y="647700"/>
                </a:lnTo>
                <a:lnTo>
                  <a:pt x="0" y="647700"/>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13277850" y="7067550"/>
            <a:ext cx="657225" cy="647700"/>
          </a:xfrm>
          <a:custGeom>
            <a:avLst/>
            <a:gdLst/>
            <a:ahLst/>
            <a:cxnLst/>
            <a:rect r="r" b="b" t="t" l="l"/>
            <a:pathLst>
              <a:path h="647700" w="657225">
                <a:moveTo>
                  <a:pt x="0" y="0"/>
                </a:moveTo>
                <a:lnTo>
                  <a:pt x="657225" y="0"/>
                </a:lnTo>
                <a:lnTo>
                  <a:pt x="657225" y="647700"/>
                </a:lnTo>
                <a:lnTo>
                  <a:pt x="0" y="647700"/>
                </a:lnTo>
                <a:lnTo>
                  <a:pt x="0" y="0"/>
                </a:lnTo>
                <a:close/>
              </a:path>
            </a:pathLst>
          </a:custGeom>
          <a:blipFill>
            <a:blip r:embed="rId3">
              <a:alphaModFix amt="27000"/>
            </a:blip>
            <a:stretch>
              <a:fillRect l="0" t="0" r="0" b="0"/>
            </a:stretch>
          </a:blipFill>
        </p:spPr>
      </p:sp>
      <p:sp>
        <p:nvSpPr>
          <p:cNvPr name="Freeform 4" id="4"/>
          <p:cNvSpPr/>
          <p:nvPr/>
        </p:nvSpPr>
        <p:spPr>
          <a:xfrm flipH="false" flipV="false" rot="0">
            <a:off x="13277850" y="7715250"/>
            <a:ext cx="657225" cy="647700"/>
          </a:xfrm>
          <a:custGeom>
            <a:avLst/>
            <a:gdLst/>
            <a:ahLst/>
            <a:cxnLst/>
            <a:rect r="r" b="b" t="t" l="l"/>
            <a:pathLst>
              <a:path h="647700" w="657225">
                <a:moveTo>
                  <a:pt x="0" y="0"/>
                </a:moveTo>
                <a:lnTo>
                  <a:pt x="657225" y="0"/>
                </a:lnTo>
                <a:lnTo>
                  <a:pt x="657225" y="647700"/>
                </a:lnTo>
                <a:lnTo>
                  <a:pt x="0" y="647700"/>
                </a:lnTo>
                <a:lnTo>
                  <a:pt x="0" y="0"/>
                </a:lnTo>
                <a:close/>
              </a:path>
            </a:pathLst>
          </a:custGeom>
          <a:blipFill>
            <a:blip r:embed="rId4">
              <a:alphaModFix amt="28000"/>
            </a:blip>
            <a:stretch>
              <a:fillRect l="0" t="0" r="0" b="0"/>
            </a:stretch>
          </a:blipFill>
        </p:spPr>
      </p:sp>
      <p:sp>
        <p:nvSpPr>
          <p:cNvPr name="Freeform 5" id="5"/>
          <p:cNvSpPr/>
          <p:nvPr/>
        </p:nvSpPr>
        <p:spPr>
          <a:xfrm flipH="false" flipV="false" rot="0">
            <a:off x="457777" y="1164437"/>
            <a:ext cx="2165286" cy="1826058"/>
          </a:xfrm>
          <a:custGeom>
            <a:avLst/>
            <a:gdLst/>
            <a:ahLst/>
            <a:cxnLst/>
            <a:rect r="r" b="b" t="t" l="l"/>
            <a:pathLst>
              <a:path h="1826058" w="2165286">
                <a:moveTo>
                  <a:pt x="0" y="0"/>
                </a:moveTo>
                <a:lnTo>
                  <a:pt x="2165286" y="0"/>
                </a:lnTo>
                <a:lnTo>
                  <a:pt x="2165286" y="1826058"/>
                </a:lnTo>
                <a:lnTo>
                  <a:pt x="0" y="1826058"/>
                </a:lnTo>
                <a:lnTo>
                  <a:pt x="0" y="0"/>
                </a:lnTo>
                <a:close/>
              </a:path>
            </a:pathLst>
          </a:custGeom>
          <a:blipFill>
            <a:blip r:embed="rId5"/>
            <a:stretch>
              <a:fillRect l="0" t="0" r="0" b="0"/>
            </a:stretch>
          </a:blipFill>
        </p:spPr>
      </p:sp>
      <p:sp>
        <p:nvSpPr>
          <p:cNvPr name="TextBox 6" id="6"/>
          <p:cNvSpPr txBox="true"/>
          <p:nvPr/>
        </p:nvSpPr>
        <p:spPr>
          <a:xfrm rot="0">
            <a:off x="2756413" y="1085850"/>
            <a:ext cx="14664812" cy="1904645"/>
          </a:xfrm>
          <a:prstGeom prst="rect">
            <a:avLst/>
          </a:prstGeom>
        </p:spPr>
        <p:txBody>
          <a:bodyPr anchor="t" rtlCol="false" tIns="0" lIns="0" bIns="0" rIns="0">
            <a:spAutoFit/>
          </a:bodyPr>
          <a:lstStyle/>
          <a:p>
            <a:pPr algn="l">
              <a:lnSpc>
                <a:spcPts val="7114"/>
              </a:lnSpc>
            </a:pPr>
            <a:r>
              <a:rPr lang="en-US" sz="7489" spc="-299">
                <a:solidFill>
                  <a:srgbClr val="000411"/>
                </a:solidFill>
                <a:latin typeface="Times New Roman"/>
                <a:ea typeface="Times New Roman"/>
                <a:cs typeface="Times New Roman"/>
                <a:sym typeface="Times New Roman"/>
              </a:rPr>
              <a:t>SHADAN WOMEN'S COLLEGE OF ENGINEERING AND TECHNOLOGY </a:t>
            </a:r>
          </a:p>
        </p:txBody>
      </p:sp>
      <p:sp>
        <p:nvSpPr>
          <p:cNvPr name="TextBox 7" id="7"/>
          <p:cNvSpPr txBox="true"/>
          <p:nvPr/>
        </p:nvSpPr>
        <p:spPr>
          <a:xfrm rot="0">
            <a:off x="1028700" y="5800725"/>
            <a:ext cx="10006224" cy="2886075"/>
          </a:xfrm>
          <a:prstGeom prst="rect">
            <a:avLst/>
          </a:prstGeom>
        </p:spPr>
        <p:txBody>
          <a:bodyPr anchor="t" rtlCol="false" tIns="0" lIns="0" bIns="0" rIns="0">
            <a:spAutoFit/>
          </a:bodyPr>
          <a:lstStyle/>
          <a:p>
            <a:pPr algn="l">
              <a:lnSpc>
                <a:spcPts val="4548"/>
              </a:lnSpc>
            </a:pPr>
            <a:r>
              <a:rPr lang="en-US" sz="3790">
                <a:solidFill>
                  <a:srgbClr val="000411"/>
                </a:solidFill>
                <a:latin typeface="Times New Roman"/>
                <a:ea typeface="Times New Roman"/>
                <a:cs typeface="Times New Roman"/>
                <a:sym typeface="Times New Roman"/>
              </a:rPr>
              <a:t>Presented by : Amath ur Rasheed U.A </a:t>
            </a:r>
          </a:p>
          <a:p>
            <a:pPr algn="l">
              <a:lnSpc>
                <a:spcPts val="4548"/>
              </a:lnSpc>
            </a:pPr>
            <a:r>
              <a:rPr lang="en-US" sz="3790">
                <a:solidFill>
                  <a:srgbClr val="000411"/>
                </a:solidFill>
                <a:latin typeface="Times New Roman"/>
                <a:ea typeface="Times New Roman"/>
                <a:cs typeface="Times New Roman"/>
                <a:sym typeface="Times New Roman"/>
              </a:rPr>
              <a:t>Ht. No. :24L51A0508</a:t>
            </a:r>
          </a:p>
          <a:p>
            <a:pPr algn="l">
              <a:lnSpc>
                <a:spcPts val="4548"/>
              </a:lnSpc>
            </a:pPr>
            <a:r>
              <a:rPr lang="en-US" sz="3790">
                <a:solidFill>
                  <a:srgbClr val="000411"/>
                </a:solidFill>
                <a:latin typeface="Times New Roman"/>
                <a:ea typeface="Times New Roman"/>
                <a:cs typeface="Times New Roman"/>
                <a:sym typeface="Times New Roman"/>
              </a:rPr>
              <a:t>Class : B.tech 3rd Year 1st Semester </a:t>
            </a:r>
          </a:p>
          <a:p>
            <a:pPr algn="l">
              <a:lnSpc>
                <a:spcPts val="4548"/>
              </a:lnSpc>
            </a:pPr>
            <a:r>
              <a:rPr lang="en-US" sz="3790">
                <a:solidFill>
                  <a:srgbClr val="000411"/>
                </a:solidFill>
                <a:latin typeface="Times New Roman"/>
                <a:ea typeface="Times New Roman"/>
                <a:cs typeface="Times New Roman"/>
                <a:sym typeface="Times New Roman"/>
              </a:rPr>
              <a:t>Section : CSE - A</a:t>
            </a:r>
          </a:p>
          <a:p>
            <a:pPr algn="l">
              <a:lnSpc>
                <a:spcPts val="4548"/>
              </a:lnSpc>
            </a:pPr>
            <a:r>
              <a:rPr lang="en-US" sz="3790">
                <a:solidFill>
                  <a:srgbClr val="000411"/>
                </a:solidFill>
                <a:latin typeface="Times New Roman"/>
                <a:ea typeface="Times New Roman"/>
                <a:cs typeface="Times New Roman"/>
                <a:sym typeface="Times New Roman"/>
              </a:rPr>
              <a:t>Subject : DevOps </a:t>
            </a:r>
          </a:p>
        </p:txBody>
      </p:sp>
      <p:sp>
        <p:nvSpPr>
          <p:cNvPr name="TextBox 8" id="8"/>
          <p:cNvSpPr txBox="true"/>
          <p:nvPr/>
        </p:nvSpPr>
        <p:spPr>
          <a:xfrm rot="0">
            <a:off x="2395326" y="4454427"/>
            <a:ext cx="13935498" cy="898623"/>
          </a:xfrm>
          <a:prstGeom prst="rect">
            <a:avLst/>
          </a:prstGeom>
        </p:spPr>
        <p:txBody>
          <a:bodyPr anchor="t" rtlCol="false" tIns="0" lIns="0" bIns="0" rIns="0">
            <a:spAutoFit/>
          </a:bodyPr>
          <a:lstStyle/>
          <a:p>
            <a:pPr algn="l">
              <a:lnSpc>
                <a:spcPts val="6470"/>
              </a:lnSpc>
            </a:pPr>
            <a:r>
              <a:rPr lang="en-US" sz="6811" spc="-272">
                <a:solidFill>
                  <a:srgbClr val="000411"/>
                </a:solidFill>
                <a:latin typeface="Arimo"/>
                <a:ea typeface="Arimo"/>
                <a:cs typeface="Arimo"/>
                <a:sym typeface="Arimo"/>
              </a:rPr>
              <a:t>HANDLING DATABASE MIGRATION </a:t>
            </a:r>
          </a:p>
        </p:txBody>
      </p:sp>
      <p:sp>
        <p:nvSpPr>
          <p:cNvPr name="TextBox 9" id="9"/>
          <p:cNvSpPr txBox="true"/>
          <p:nvPr/>
        </p:nvSpPr>
        <p:spPr>
          <a:xfrm rot="0">
            <a:off x="3928851" y="3050791"/>
            <a:ext cx="10006224" cy="600075"/>
          </a:xfrm>
          <a:prstGeom prst="rect">
            <a:avLst/>
          </a:prstGeom>
        </p:spPr>
        <p:txBody>
          <a:bodyPr anchor="t" rtlCol="false" tIns="0" lIns="0" bIns="0" rIns="0">
            <a:spAutoFit/>
          </a:bodyPr>
          <a:lstStyle/>
          <a:p>
            <a:pPr algn="l">
              <a:lnSpc>
                <a:spcPts val="4548"/>
              </a:lnSpc>
            </a:pPr>
            <a:r>
              <a:rPr lang="en-US" sz="3790">
                <a:solidFill>
                  <a:srgbClr val="000411"/>
                </a:solidFill>
                <a:latin typeface="Times New Roman"/>
                <a:ea typeface="Times New Roman"/>
                <a:cs typeface="Times New Roman"/>
                <a:sym typeface="Times New Roman"/>
              </a:rPr>
              <a:t>[ An Autonomous Institution Affiliated to JNTUH ]</a:t>
            </a:r>
          </a:p>
        </p:txBody>
      </p:sp>
      <p:sp>
        <p:nvSpPr>
          <p:cNvPr name="Freeform 10" id="10"/>
          <p:cNvSpPr/>
          <p:nvPr/>
        </p:nvSpPr>
        <p:spPr>
          <a:xfrm flipH="false" flipV="false" rot="0">
            <a:off x="8931963" y="6019800"/>
            <a:ext cx="8159621" cy="3487017"/>
          </a:xfrm>
          <a:custGeom>
            <a:avLst/>
            <a:gdLst/>
            <a:ahLst/>
            <a:cxnLst/>
            <a:rect r="r" b="b" t="t" l="l"/>
            <a:pathLst>
              <a:path h="3487017" w="8159621">
                <a:moveTo>
                  <a:pt x="0" y="0"/>
                </a:moveTo>
                <a:lnTo>
                  <a:pt x="8159620" y="0"/>
                </a:lnTo>
                <a:lnTo>
                  <a:pt x="8159620" y="3487017"/>
                </a:lnTo>
                <a:lnTo>
                  <a:pt x="0" y="3487017"/>
                </a:lnTo>
                <a:lnTo>
                  <a:pt x="0" y="0"/>
                </a:lnTo>
                <a:close/>
              </a:path>
            </a:pathLst>
          </a:custGeom>
          <a:blipFill>
            <a:blip r:embed="rId6">
              <a:alphaModFix amt="69000"/>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6D6E8"/>
        </a:solidFill>
      </p:bgPr>
    </p:bg>
    <p:spTree>
      <p:nvGrpSpPr>
        <p:cNvPr id="1" name=""/>
        <p:cNvGrpSpPr/>
        <p:nvPr/>
      </p:nvGrpSpPr>
      <p:grpSpPr>
        <a:xfrm>
          <a:off x="0" y="0"/>
          <a:ext cx="0" cy="0"/>
          <a:chOff x="0" y="0"/>
          <a:chExt cx="0" cy="0"/>
        </a:xfrm>
      </p:grpSpPr>
      <p:sp>
        <p:nvSpPr>
          <p:cNvPr name="Freeform 2" id="2"/>
          <p:cNvSpPr/>
          <p:nvPr/>
        </p:nvSpPr>
        <p:spPr>
          <a:xfrm flipH="false" flipV="false" rot="0">
            <a:off x="12541377" y="0"/>
            <a:ext cx="5746623" cy="10430845"/>
          </a:xfrm>
          <a:custGeom>
            <a:avLst/>
            <a:gdLst/>
            <a:ahLst/>
            <a:cxnLst/>
            <a:rect r="r" b="b" t="t" l="l"/>
            <a:pathLst>
              <a:path h="10430845" w="5746623">
                <a:moveTo>
                  <a:pt x="0" y="0"/>
                </a:moveTo>
                <a:lnTo>
                  <a:pt x="5746623" y="0"/>
                </a:lnTo>
                <a:lnTo>
                  <a:pt x="5746623" y="10430845"/>
                </a:lnTo>
                <a:lnTo>
                  <a:pt x="0" y="10430845"/>
                </a:lnTo>
                <a:lnTo>
                  <a:pt x="0" y="0"/>
                </a:lnTo>
                <a:close/>
              </a:path>
            </a:pathLst>
          </a:custGeom>
          <a:blipFill>
            <a:blip r:embed="rId2"/>
            <a:stretch>
              <a:fillRect l="0" t="0" r="0" b="0"/>
            </a:stretch>
          </a:blipFill>
        </p:spPr>
      </p:sp>
      <p:sp>
        <p:nvSpPr>
          <p:cNvPr name="TextBox 3" id="3"/>
          <p:cNvSpPr txBox="true"/>
          <p:nvPr/>
        </p:nvSpPr>
        <p:spPr>
          <a:xfrm rot="0">
            <a:off x="694944" y="559118"/>
            <a:ext cx="11722608" cy="1200150"/>
          </a:xfrm>
          <a:prstGeom prst="rect">
            <a:avLst/>
          </a:prstGeom>
        </p:spPr>
        <p:txBody>
          <a:bodyPr anchor="t" rtlCol="false" tIns="0" lIns="0" bIns="0" rIns="0">
            <a:spAutoFit/>
          </a:bodyPr>
          <a:lstStyle/>
          <a:p>
            <a:pPr algn="l">
              <a:lnSpc>
                <a:spcPts val="9142"/>
              </a:lnSpc>
            </a:pPr>
            <a:r>
              <a:rPr lang="en-US" sz="7618" spc="-228">
                <a:solidFill>
                  <a:srgbClr val="000411"/>
                </a:solidFill>
                <a:latin typeface="Times New Roman"/>
                <a:ea typeface="Times New Roman"/>
                <a:cs typeface="Times New Roman"/>
                <a:sym typeface="Times New Roman"/>
              </a:rPr>
              <a:t>DATABASE MIGRATION</a:t>
            </a:r>
          </a:p>
        </p:txBody>
      </p:sp>
      <p:sp>
        <p:nvSpPr>
          <p:cNvPr name="TextBox 4" id="4"/>
          <p:cNvSpPr txBox="true"/>
          <p:nvPr/>
        </p:nvSpPr>
        <p:spPr>
          <a:xfrm rot="0">
            <a:off x="694944" y="1984679"/>
            <a:ext cx="8595360" cy="1383692"/>
          </a:xfrm>
          <a:prstGeom prst="rect">
            <a:avLst/>
          </a:prstGeom>
        </p:spPr>
        <p:txBody>
          <a:bodyPr anchor="t" rtlCol="false" tIns="0" lIns="0" bIns="0" rIns="0">
            <a:spAutoFit/>
          </a:bodyPr>
          <a:lstStyle/>
          <a:p>
            <a:pPr algn="l">
              <a:lnSpc>
                <a:spcPts val="3637"/>
              </a:lnSpc>
            </a:pPr>
            <a:r>
              <a:rPr lang="en-US" sz="2797">
                <a:solidFill>
                  <a:srgbClr val="000411"/>
                </a:solidFill>
                <a:latin typeface="Times New Roman"/>
                <a:ea typeface="Times New Roman"/>
                <a:cs typeface="Times New Roman"/>
                <a:sym typeface="Times New Roman"/>
              </a:rPr>
              <a:t>The process of moving data between databases while changing storage, schema, or even the database engine along the way.</a:t>
            </a:r>
          </a:p>
        </p:txBody>
      </p:sp>
      <p:sp>
        <p:nvSpPr>
          <p:cNvPr name="TextBox 5" id="5"/>
          <p:cNvSpPr txBox="true"/>
          <p:nvPr/>
        </p:nvSpPr>
        <p:spPr>
          <a:xfrm rot="0">
            <a:off x="694944" y="3999753"/>
            <a:ext cx="6526606" cy="460218"/>
          </a:xfrm>
          <a:prstGeom prst="rect">
            <a:avLst/>
          </a:prstGeom>
        </p:spPr>
        <p:txBody>
          <a:bodyPr anchor="t" rtlCol="false" tIns="0" lIns="0" bIns="0" rIns="0">
            <a:spAutoFit/>
          </a:bodyPr>
          <a:lstStyle/>
          <a:p>
            <a:pPr algn="l">
              <a:lnSpc>
                <a:spcPts val="3591"/>
              </a:lnSpc>
            </a:pPr>
            <a:r>
              <a:rPr lang="en-US" b="true" sz="2762" u="sng">
                <a:solidFill>
                  <a:srgbClr val="FF621D"/>
                </a:solidFill>
                <a:latin typeface="Times New Roman Bold"/>
                <a:ea typeface="Times New Roman Bold"/>
                <a:cs typeface="Times New Roman Bold"/>
                <a:sym typeface="Times New Roman Bold"/>
              </a:rPr>
              <a:t>WHY ORGANIZATIONS MIGRATE</a:t>
            </a:r>
          </a:p>
        </p:txBody>
      </p:sp>
      <p:sp>
        <p:nvSpPr>
          <p:cNvPr name="TextBox 6" id="6"/>
          <p:cNvSpPr txBox="true"/>
          <p:nvPr/>
        </p:nvSpPr>
        <p:spPr>
          <a:xfrm rot="0">
            <a:off x="786384" y="4735449"/>
            <a:ext cx="4023360" cy="838200"/>
          </a:xfrm>
          <a:prstGeom prst="rect">
            <a:avLst/>
          </a:prstGeom>
        </p:spPr>
        <p:txBody>
          <a:bodyPr anchor="t" rtlCol="false" tIns="0" lIns="0" bIns="0" rIns="0">
            <a:spAutoFit/>
          </a:bodyPr>
          <a:lstStyle/>
          <a:p>
            <a:pPr algn="l">
              <a:lnSpc>
                <a:spcPts val="3272"/>
              </a:lnSpc>
            </a:pPr>
            <a:r>
              <a:rPr lang="en-US" sz="2726">
                <a:solidFill>
                  <a:srgbClr val="000411"/>
                </a:solidFill>
                <a:latin typeface="Times New Roman"/>
                <a:ea typeface="Times New Roman"/>
                <a:cs typeface="Times New Roman"/>
                <a:sym typeface="Times New Roman"/>
              </a:rPr>
              <a:t>Cloud modernization</a:t>
            </a:r>
          </a:p>
          <a:p>
            <a:pPr algn="l">
              <a:lnSpc>
                <a:spcPts val="3272"/>
              </a:lnSpc>
            </a:pPr>
            <a:r>
              <a:rPr lang="en-US" sz="2726">
                <a:solidFill>
                  <a:srgbClr val="000411"/>
                </a:solidFill>
                <a:latin typeface="Times New Roman"/>
                <a:ea typeface="Times New Roman"/>
                <a:cs typeface="Times New Roman"/>
                <a:sym typeface="Times New Roman"/>
              </a:rPr>
              <a:t>and infrastructure scaling</a:t>
            </a:r>
          </a:p>
        </p:txBody>
      </p:sp>
      <p:sp>
        <p:nvSpPr>
          <p:cNvPr name="TextBox 7" id="7"/>
          <p:cNvSpPr txBox="true"/>
          <p:nvPr/>
        </p:nvSpPr>
        <p:spPr>
          <a:xfrm rot="0">
            <a:off x="6510528" y="4725924"/>
            <a:ext cx="2322576" cy="847725"/>
          </a:xfrm>
          <a:prstGeom prst="rect">
            <a:avLst/>
          </a:prstGeom>
        </p:spPr>
        <p:txBody>
          <a:bodyPr anchor="t" rtlCol="false" tIns="0" lIns="0" bIns="0" rIns="0">
            <a:spAutoFit/>
          </a:bodyPr>
          <a:lstStyle/>
          <a:p>
            <a:pPr algn="l">
              <a:lnSpc>
                <a:spcPts val="3229"/>
              </a:lnSpc>
            </a:pPr>
            <a:r>
              <a:rPr lang="en-US" sz="2691" b="true">
                <a:solidFill>
                  <a:srgbClr val="000411"/>
                </a:solidFill>
                <a:latin typeface="Times New Roman Bold"/>
                <a:ea typeface="Times New Roman Bold"/>
                <a:cs typeface="Times New Roman Bold"/>
                <a:sym typeface="Times New Roman Bold"/>
              </a:rPr>
              <a:t>Legacy system</a:t>
            </a:r>
          </a:p>
          <a:p>
            <a:pPr algn="l">
              <a:lnSpc>
                <a:spcPts val="3229"/>
              </a:lnSpc>
            </a:pPr>
            <a:r>
              <a:rPr lang="en-US" sz="2691" b="true">
                <a:solidFill>
                  <a:srgbClr val="000411"/>
                </a:solidFill>
                <a:latin typeface="Times New Roman Bold"/>
                <a:ea typeface="Times New Roman Bold"/>
                <a:cs typeface="Times New Roman Bold"/>
                <a:sym typeface="Times New Roman Bold"/>
              </a:rPr>
              <a:t>deprecation</a:t>
            </a:r>
          </a:p>
        </p:txBody>
      </p:sp>
      <p:sp>
        <p:nvSpPr>
          <p:cNvPr name="Freeform 8" id="8"/>
          <p:cNvSpPr/>
          <p:nvPr/>
        </p:nvSpPr>
        <p:spPr>
          <a:xfrm flipH="false" flipV="false" rot="0">
            <a:off x="647700" y="5781675"/>
            <a:ext cx="10458450" cy="219075"/>
          </a:xfrm>
          <a:custGeom>
            <a:avLst/>
            <a:gdLst/>
            <a:ahLst/>
            <a:cxnLst/>
            <a:rect r="r" b="b" t="t" l="l"/>
            <a:pathLst>
              <a:path h="219075" w="10458450">
                <a:moveTo>
                  <a:pt x="0" y="0"/>
                </a:moveTo>
                <a:lnTo>
                  <a:pt x="10458450" y="0"/>
                </a:lnTo>
                <a:lnTo>
                  <a:pt x="10458450" y="219075"/>
                </a:lnTo>
                <a:lnTo>
                  <a:pt x="0" y="219075"/>
                </a:lnTo>
                <a:lnTo>
                  <a:pt x="0" y="0"/>
                </a:lnTo>
                <a:close/>
              </a:path>
            </a:pathLst>
          </a:custGeom>
          <a:blipFill>
            <a:blip r:embed="rId3"/>
            <a:stretch>
              <a:fillRect l="0" t="0" r="0" b="0"/>
            </a:stretch>
          </a:blipFill>
        </p:spPr>
      </p:sp>
      <p:sp>
        <p:nvSpPr>
          <p:cNvPr name="Freeform 9" id="9"/>
          <p:cNvSpPr/>
          <p:nvPr/>
        </p:nvSpPr>
        <p:spPr>
          <a:xfrm flipH="false" flipV="false" rot="0">
            <a:off x="5657850" y="4714875"/>
            <a:ext cx="438150" cy="2362200"/>
          </a:xfrm>
          <a:custGeom>
            <a:avLst/>
            <a:gdLst/>
            <a:ahLst/>
            <a:cxnLst/>
            <a:rect r="r" b="b" t="t" l="l"/>
            <a:pathLst>
              <a:path h="2362200" w="438150">
                <a:moveTo>
                  <a:pt x="0" y="0"/>
                </a:moveTo>
                <a:lnTo>
                  <a:pt x="438150" y="0"/>
                </a:lnTo>
                <a:lnTo>
                  <a:pt x="438150" y="2362200"/>
                </a:lnTo>
                <a:lnTo>
                  <a:pt x="0" y="2362200"/>
                </a:lnTo>
                <a:lnTo>
                  <a:pt x="0" y="0"/>
                </a:lnTo>
                <a:close/>
              </a:path>
            </a:pathLst>
          </a:custGeom>
          <a:blipFill>
            <a:blip r:embed="rId4"/>
            <a:stretch>
              <a:fillRect l="0" t="0" r="0" b="0"/>
            </a:stretch>
          </a:blipFill>
        </p:spPr>
      </p:sp>
      <p:sp>
        <p:nvSpPr>
          <p:cNvPr name="TextBox 10" id="10"/>
          <p:cNvSpPr txBox="true"/>
          <p:nvPr/>
        </p:nvSpPr>
        <p:spPr>
          <a:xfrm rot="0">
            <a:off x="786384" y="6084570"/>
            <a:ext cx="3438144" cy="866775"/>
          </a:xfrm>
          <a:prstGeom prst="rect">
            <a:avLst/>
          </a:prstGeom>
        </p:spPr>
        <p:txBody>
          <a:bodyPr anchor="t" rtlCol="false" tIns="0" lIns="0" bIns="0" rIns="0">
            <a:spAutoFit/>
          </a:bodyPr>
          <a:lstStyle/>
          <a:p>
            <a:pPr algn="l">
              <a:lnSpc>
                <a:spcPts val="3314"/>
              </a:lnSpc>
            </a:pPr>
            <a:r>
              <a:rPr lang="en-US" sz="2762" b="true">
                <a:solidFill>
                  <a:srgbClr val="000411"/>
                </a:solidFill>
                <a:latin typeface="Times New Roman Bold"/>
                <a:ea typeface="Times New Roman Bold"/>
                <a:cs typeface="Times New Roman Bold"/>
                <a:sym typeface="Times New Roman Bold"/>
              </a:rPr>
              <a:t>Cost optimization</a:t>
            </a:r>
          </a:p>
          <a:p>
            <a:pPr algn="l">
              <a:lnSpc>
                <a:spcPts val="3314"/>
              </a:lnSpc>
            </a:pPr>
            <a:r>
              <a:rPr lang="en-US" sz="2762" b="true">
                <a:solidFill>
                  <a:srgbClr val="000411"/>
                </a:solidFill>
                <a:latin typeface="Times New Roman Bold"/>
                <a:ea typeface="Times New Roman Bold"/>
                <a:cs typeface="Times New Roman Bold"/>
                <a:sym typeface="Times New Roman Bold"/>
              </a:rPr>
              <a:t>and license efficiency</a:t>
            </a:r>
          </a:p>
        </p:txBody>
      </p:sp>
      <p:sp>
        <p:nvSpPr>
          <p:cNvPr name="TextBox 11" id="11"/>
          <p:cNvSpPr txBox="true"/>
          <p:nvPr/>
        </p:nvSpPr>
        <p:spPr>
          <a:xfrm rot="0">
            <a:off x="6510528" y="6113145"/>
            <a:ext cx="4315968" cy="819150"/>
          </a:xfrm>
          <a:prstGeom prst="rect">
            <a:avLst/>
          </a:prstGeom>
        </p:spPr>
        <p:txBody>
          <a:bodyPr anchor="t" rtlCol="false" tIns="0" lIns="0" bIns="0" rIns="0">
            <a:spAutoFit/>
          </a:bodyPr>
          <a:lstStyle/>
          <a:p>
            <a:pPr algn="l">
              <a:lnSpc>
                <a:spcPts val="3187"/>
              </a:lnSpc>
            </a:pPr>
            <a:r>
              <a:rPr lang="en-US" sz="2656" b="true">
                <a:solidFill>
                  <a:srgbClr val="000411"/>
                </a:solidFill>
                <a:latin typeface="Times New Roman Bold"/>
                <a:ea typeface="Times New Roman Bold"/>
                <a:cs typeface="Times New Roman Bold"/>
                <a:sym typeface="Times New Roman Bold"/>
              </a:rPr>
              <a:t>Performance enhancements</a:t>
            </a:r>
          </a:p>
          <a:p>
            <a:pPr algn="l">
              <a:lnSpc>
                <a:spcPts val="3187"/>
              </a:lnSpc>
            </a:pPr>
            <a:r>
              <a:rPr lang="en-US" sz="2656" b="true">
                <a:solidFill>
                  <a:srgbClr val="000411"/>
                </a:solidFill>
                <a:latin typeface="Times New Roman Bold"/>
                <a:ea typeface="Times New Roman Bold"/>
                <a:cs typeface="Times New Roman Bold"/>
                <a:sym typeface="Times New Roman Bold"/>
              </a:rPr>
              <a:t>and latency reduction</a:t>
            </a:r>
          </a:p>
        </p:txBody>
      </p:sp>
      <p:sp>
        <p:nvSpPr>
          <p:cNvPr name="TextBox 12" id="12"/>
          <p:cNvSpPr txBox="true"/>
          <p:nvPr/>
        </p:nvSpPr>
        <p:spPr>
          <a:xfrm rot="0">
            <a:off x="694944" y="7451648"/>
            <a:ext cx="6805040" cy="469292"/>
          </a:xfrm>
          <a:prstGeom prst="rect">
            <a:avLst/>
          </a:prstGeom>
        </p:spPr>
        <p:txBody>
          <a:bodyPr anchor="t" rtlCol="false" tIns="0" lIns="0" bIns="0" rIns="0">
            <a:spAutoFit/>
          </a:bodyPr>
          <a:lstStyle/>
          <a:p>
            <a:pPr algn="l">
              <a:lnSpc>
                <a:spcPts val="3637"/>
              </a:lnSpc>
            </a:pPr>
            <a:r>
              <a:rPr lang="en-US" b="true" sz="2797">
                <a:solidFill>
                  <a:srgbClr val="FF621D"/>
                </a:solidFill>
                <a:latin typeface="Times New Roman Bold"/>
                <a:ea typeface="Times New Roman Bold"/>
                <a:cs typeface="Times New Roman Bold"/>
                <a:sym typeface="Times New Roman Bold"/>
              </a:rPr>
              <a:t>CORE MIGRATION CAPABILITIES</a:t>
            </a:r>
          </a:p>
        </p:txBody>
      </p:sp>
      <p:sp>
        <p:nvSpPr>
          <p:cNvPr name="TextBox 13" id="13"/>
          <p:cNvSpPr txBox="true"/>
          <p:nvPr/>
        </p:nvSpPr>
        <p:spPr>
          <a:xfrm rot="0">
            <a:off x="694944" y="8121396"/>
            <a:ext cx="1792224" cy="866775"/>
          </a:xfrm>
          <a:prstGeom prst="rect">
            <a:avLst/>
          </a:prstGeom>
        </p:spPr>
        <p:txBody>
          <a:bodyPr anchor="t" rtlCol="false" tIns="0" lIns="0" bIns="0" rIns="0">
            <a:spAutoFit/>
          </a:bodyPr>
          <a:lstStyle/>
          <a:p>
            <a:pPr algn="l">
              <a:lnSpc>
                <a:spcPts val="3314"/>
              </a:lnSpc>
            </a:pPr>
            <a:r>
              <a:rPr lang="en-US" sz="2762" b="true">
                <a:solidFill>
                  <a:srgbClr val="000411"/>
                </a:solidFill>
                <a:latin typeface="Times New Roman Bold"/>
                <a:ea typeface="Times New Roman Bold"/>
                <a:cs typeface="Times New Roman Bold"/>
                <a:sym typeface="Times New Roman Bold"/>
              </a:rPr>
              <a:t>Schema</a:t>
            </a:r>
          </a:p>
          <a:p>
            <a:pPr algn="l">
              <a:lnSpc>
                <a:spcPts val="3314"/>
              </a:lnSpc>
            </a:pPr>
            <a:r>
              <a:rPr lang="en-US" sz="2762" b="true">
                <a:solidFill>
                  <a:srgbClr val="000411"/>
                </a:solidFill>
                <a:latin typeface="Times New Roman Bold"/>
                <a:ea typeface="Times New Roman Bold"/>
                <a:cs typeface="Times New Roman Bold"/>
                <a:sym typeface="Times New Roman Bold"/>
              </a:rPr>
              <a:t>Conversion</a:t>
            </a:r>
          </a:p>
        </p:txBody>
      </p:sp>
      <p:sp>
        <p:nvSpPr>
          <p:cNvPr name="Freeform 14" id="14"/>
          <p:cNvSpPr/>
          <p:nvPr/>
        </p:nvSpPr>
        <p:spPr>
          <a:xfrm flipH="false" flipV="false" rot="0">
            <a:off x="2609850" y="8353425"/>
            <a:ext cx="876300" cy="647700"/>
          </a:xfrm>
          <a:custGeom>
            <a:avLst/>
            <a:gdLst/>
            <a:ahLst/>
            <a:cxnLst/>
            <a:rect r="r" b="b" t="t" l="l"/>
            <a:pathLst>
              <a:path h="647700" w="876300">
                <a:moveTo>
                  <a:pt x="0" y="0"/>
                </a:moveTo>
                <a:lnTo>
                  <a:pt x="876300" y="0"/>
                </a:lnTo>
                <a:lnTo>
                  <a:pt x="876300" y="647700"/>
                </a:lnTo>
                <a:lnTo>
                  <a:pt x="0" y="647700"/>
                </a:lnTo>
                <a:lnTo>
                  <a:pt x="0" y="0"/>
                </a:lnTo>
                <a:close/>
              </a:path>
            </a:pathLst>
          </a:custGeom>
          <a:blipFill>
            <a:blip r:embed="rId5"/>
            <a:stretch>
              <a:fillRect l="0" t="0" r="0" b="0"/>
            </a:stretch>
          </a:blipFill>
        </p:spPr>
      </p:sp>
      <p:sp>
        <p:nvSpPr>
          <p:cNvPr name="TextBox 15" id="15"/>
          <p:cNvSpPr txBox="true"/>
          <p:nvPr/>
        </p:nvSpPr>
        <p:spPr>
          <a:xfrm rot="0">
            <a:off x="3694176" y="8114363"/>
            <a:ext cx="2779776" cy="1355568"/>
          </a:xfrm>
          <a:prstGeom prst="rect">
            <a:avLst/>
          </a:prstGeom>
        </p:spPr>
        <p:txBody>
          <a:bodyPr anchor="t" rtlCol="false" tIns="0" lIns="0" bIns="0" rIns="0">
            <a:spAutoFit/>
          </a:bodyPr>
          <a:lstStyle/>
          <a:p>
            <a:pPr algn="l">
              <a:lnSpc>
                <a:spcPts val="3591"/>
              </a:lnSpc>
            </a:pPr>
            <a:r>
              <a:rPr lang="en-US" sz="2762" b="true">
                <a:solidFill>
                  <a:srgbClr val="000411"/>
                </a:solidFill>
                <a:latin typeface="Times New Roman Bold"/>
                <a:ea typeface="Times New Roman Bold"/>
                <a:cs typeface="Times New Roman Bold"/>
                <a:sym typeface="Times New Roman Bold"/>
              </a:rPr>
              <a:t>Data Extraction</a:t>
            </a:r>
          </a:p>
          <a:p>
            <a:pPr algn="l">
              <a:lnSpc>
                <a:spcPts val="3591"/>
              </a:lnSpc>
            </a:pPr>
            <a:r>
              <a:rPr lang="en-US" sz="2762" b="true">
                <a:solidFill>
                  <a:srgbClr val="000411"/>
                </a:solidFill>
                <a:latin typeface="Times New Roman Bold"/>
                <a:ea typeface="Times New Roman Bold"/>
                <a:cs typeface="Times New Roman Bold"/>
                <a:sym typeface="Times New Roman Bold"/>
              </a:rPr>
              <a:t>&amp; Transformation</a:t>
            </a:r>
          </a:p>
          <a:p>
            <a:pPr algn="l">
              <a:lnSpc>
                <a:spcPts val="3591"/>
              </a:lnSpc>
            </a:pPr>
            <a:r>
              <a:rPr lang="en-US" sz="2762" b="true">
                <a:solidFill>
                  <a:srgbClr val="000411"/>
                </a:solidFill>
                <a:latin typeface="Times New Roman Bold"/>
                <a:ea typeface="Times New Roman Bold"/>
                <a:cs typeface="Times New Roman Bold"/>
                <a:sym typeface="Times New Roman Bold"/>
              </a:rPr>
              <a:t>(ETL)</a:t>
            </a:r>
          </a:p>
        </p:txBody>
      </p:sp>
      <p:sp>
        <p:nvSpPr>
          <p:cNvPr name="Freeform 16" id="16"/>
          <p:cNvSpPr/>
          <p:nvPr/>
        </p:nvSpPr>
        <p:spPr>
          <a:xfrm flipH="false" flipV="false" rot="0">
            <a:off x="6524625" y="8353425"/>
            <a:ext cx="885825" cy="647700"/>
          </a:xfrm>
          <a:custGeom>
            <a:avLst/>
            <a:gdLst/>
            <a:ahLst/>
            <a:cxnLst/>
            <a:rect r="r" b="b" t="t" l="l"/>
            <a:pathLst>
              <a:path h="647700" w="885825">
                <a:moveTo>
                  <a:pt x="0" y="0"/>
                </a:moveTo>
                <a:lnTo>
                  <a:pt x="885825" y="0"/>
                </a:lnTo>
                <a:lnTo>
                  <a:pt x="885825" y="647700"/>
                </a:lnTo>
                <a:lnTo>
                  <a:pt x="0" y="647700"/>
                </a:lnTo>
                <a:lnTo>
                  <a:pt x="0" y="0"/>
                </a:lnTo>
                <a:close/>
              </a:path>
            </a:pathLst>
          </a:custGeom>
          <a:blipFill>
            <a:blip r:embed="rId6"/>
            <a:stretch>
              <a:fillRect l="0" t="0" r="0" b="0"/>
            </a:stretch>
          </a:blipFill>
        </p:spPr>
      </p:sp>
      <p:sp>
        <p:nvSpPr>
          <p:cNvPr name="TextBox 17" id="17"/>
          <p:cNvSpPr txBox="true"/>
          <p:nvPr/>
        </p:nvSpPr>
        <p:spPr>
          <a:xfrm rot="0">
            <a:off x="7717536" y="8100300"/>
            <a:ext cx="2103120" cy="1383692"/>
          </a:xfrm>
          <a:prstGeom prst="rect">
            <a:avLst/>
          </a:prstGeom>
        </p:spPr>
        <p:txBody>
          <a:bodyPr anchor="t" rtlCol="false" tIns="0" lIns="0" bIns="0" rIns="0">
            <a:spAutoFit/>
          </a:bodyPr>
          <a:lstStyle/>
          <a:p>
            <a:pPr algn="l">
              <a:lnSpc>
                <a:spcPts val="3637"/>
              </a:lnSpc>
            </a:pPr>
            <a:r>
              <a:rPr lang="en-US" sz="2797" b="true">
                <a:solidFill>
                  <a:srgbClr val="000411"/>
                </a:solidFill>
                <a:latin typeface="Times New Roman Bold"/>
                <a:ea typeface="Times New Roman Bold"/>
                <a:cs typeface="Times New Roman Bold"/>
                <a:sym typeface="Times New Roman Bold"/>
              </a:rPr>
              <a:t>Change Data Capture</a:t>
            </a:r>
          </a:p>
          <a:p>
            <a:pPr algn="l">
              <a:lnSpc>
                <a:spcPts val="3637"/>
              </a:lnSpc>
            </a:pPr>
            <a:r>
              <a:rPr lang="en-US" sz="2797" b="true">
                <a:solidFill>
                  <a:srgbClr val="000411"/>
                </a:solidFill>
                <a:latin typeface="Times New Roman Bold"/>
                <a:ea typeface="Times New Roman Bold"/>
                <a:cs typeface="Times New Roman Bold"/>
                <a:sym typeface="Times New Roman Bold"/>
              </a:rPr>
              <a:t>(CDC)</a:t>
            </a:r>
          </a:p>
        </p:txBody>
      </p:sp>
      <p:sp>
        <p:nvSpPr>
          <p:cNvPr name="Freeform 18" id="18"/>
          <p:cNvSpPr/>
          <p:nvPr/>
        </p:nvSpPr>
        <p:spPr>
          <a:xfrm flipH="false" flipV="false" rot="0">
            <a:off x="10010775" y="8353425"/>
            <a:ext cx="876300" cy="647700"/>
          </a:xfrm>
          <a:custGeom>
            <a:avLst/>
            <a:gdLst/>
            <a:ahLst/>
            <a:cxnLst/>
            <a:rect r="r" b="b" t="t" l="l"/>
            <a:pathLst>
              <a:path h="647700" w="876300">
                <a:moveTo>
                  <a:pt x="0" y="0"/>
                </a:moveTo>
                <a:lnTo>
                  <a:pt x="876300" y="0"/>
                </a:lnTo>
                <a:lnTo>
                  <a:pt x="876300" y="647700"/>
                </a:lnTo>
                <a:lnTo>
                  <a:pt x="0" y="647700"/>
                </a:lnTo>
                <a:lnTo>
                  <a:pt x="0" y="0"/>
                </a:lnTo>
                <a:close/>
              </a:path>
            </a:pathLst>
          </a:custGeom>
          <a:blipFill>
            <a:blip r:embed="rId7"/>
            <a:stretch>
              <a:fillRect l="0" t="0" r="0" b="0"/>
            </a:stretch>
          </a:blipFill>
        </p:spPr>
      </p:sp>
      <p:sp>
        <p:nvSpPr>
          <p:cNvPr name="TextBox 19" id="19"/>
          <p:cNvSpPr txBox="true"/>
          <p:nvPr/>
        </p:nvSpPr>
        <p:spPr>
          <a:xfrm rot="0">
            <a:off x="11064240" y="8130921"/>
            <a:ext cx="1938528" cy="1276350"/>
          </a:xfrm>
          <a:prstGeom prst="rect">
            <a:avLst/>
          </a:prstGeom>
        </p:spPr>
        <p:txBody>
          <a:bodyPr anchor="t" rtlCol="false" tIns="0" lIns="0" bIns="0" rIns="0">
            <a:spAutoFit/>
          </a:bodyPr>
          <a:lstStyle/>
          <a:p>
            <a:pPr algn="l">
              <a:lnSpc>
                <a:spcPts val="3357"/>
              </a:lnSpc>
            </a:pPr>
            <a:r>
              <a:rPr lang="en-US" sz="2797" b="true">
                <a:solidFill>
                  <a:srgbClr val="000411"/>
                </a:solidFill>
                <a:latin typeface="Times New Roman Bold"/>
                <a:ea typeface="Times New Roman Bold"/>
                <a:cs typeface="Times New Roman Bold"/>
                <a:sym typeface="Times New Roman Bold"/>
              </a:rPr>
              <a:t>Validation &amp; Verification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714109" y="4354830"/>
            <a:ext cx="10029825" cy="4286250"/>
          </a:xfrm>
          <a:custGeom>
            <a:avLst/>
            <a:gdLst/>
            <a:ahLst/>
            <a:cxnLst/>
            <a:rect r="r" b="b" t="t" l="l"/>
            <a:pathLst>
              <a:path h="4286250" w="10029825">
                <a:moveTo>
                  <a:pt x="0" y="0"/>
                </a:moveTo>
                <a:lnTo>
                  <a:pt x="10029825" y="0"/>
                </a:lnTo>
                <a:lnTo>
                  <a:pt x="10029825" y="4286250"/>
                </a:lnTo>
                <a:lnTo>
                  <a:pt x="0" y="4286250"/>
                </a:lnTo>
                <a:lnTo>
                  <a:pt x="0" y="0"/>
                </a:lnTo>
                <a:close/>
              </a:path>
            </a:pathLst>
          </a:custGeom>
          <a:blipFill>
            <a:blip r:embed="rId2">
              <a:alphaModFix amt="79000"/>
            </a:blip>
            <a:stretch>
              <a:fillRect l="0" t="0" r="0" b="0"/>
            </a:stretch>
          </a:blipFill>
        </p:spPr>
      </p:sp>
      <p:sp>
        <p:nvSpPr>
          <p:cNvPr name="TextBox 3" id="3"/>
          <p:cNvSpPr txBox="true"/>
          <p:nvPr/>
        </p:nvSpPr>
        <p:spPr>
          <a:xfrm rot="0">
            <a:off x="714109" y="895628"/>
            <a:ext cx="14189734" cy="1368274"/>
          </a:xfrm>
          <a:prstGeom prst="rect">
            <a:avLst/>
          </a:prstGeom>
        </p:spPr>
        <p:txBody>
          <a:bodyPr anchor="t" rtlCol="false" tIns="0" lIns="0" bIns="0" rIns="0">
            <a:spAutoFit/>
          </a:bodyPr>
          <a:lstStyle/>
          <a:p>
            <a:pPr algn="l">
              <a:lnSpc>
                <a:spcPts val="9994"/>
              </a:lnSpc>
            </a:pPr>
            <a:r>
              <a:rPr lang="en-US" sz="9994" spc="-399">
                <a:solidFill>
                  <a:srgbClr val="000411"/>
                </a:solidFill>
                <a:latin typeface="Times New Roman"/>
                <a:ea typeface="Times New Roman"/>
                <a:cs typeface="Times New Roman"/>
                <a:sym typeface="Times New Roman"/>
              </a:rPr>
              <a:t>CORE FUNCTIONALITIES</a:t>
            </a:r>
          </a:p>
        </p:txBody>
      </p:sp>
      <p:sp>
        <p:nvSpPr>
          <p:cNvPr name="TextBox 4" id="4"/>
          <p:cNvSpPr txBox="true"/>
          <p:nvPr/>
        </p:nvSpPr>
        <p:spPr>
          <a:xfrm rot="0">
            <a:off x="1028700" y="2588336"/>
            <a:ext cx="7114032" cy="1065632"/>
          </a:xfrm>
          <a:prstGeom prst="rect">
            <a:avLst/>
          </a:prstGeom>
        </p:spPr>
        <p:txBody>
          <a:bodyPr anchor="t" rtlCol="false" tIns="0" lIns="0" bIns="0" rIns="0">
            <a:spAutoFit/>
          </a:bodyPr>
          <a:lstStyle/>
          <a:p>
            <a:pPr algn="l">
              <a:lnSpc>
                <a:spcPts val="4264"/>
              </a:lnSpc>
            </a:pPr>
            <a:r>
              <a:rPr lang="en-US" sz="3045" spc="-60">
                <a:solidFill>
                  <a:srgbClr val="000411"/>
                </a:solidFill>
                <a:latin typeface="Times New Roman"/>
                <a:ea typeface="Times New Roman"/>
                <a:cs typeface="Times New Roman"/>
                <a:sym typeface="Times New Roman"/>
              </a:rPr>
              <a:t>How migration platforms move, transform, synchronize, and validate data.</a:t>
            </a:r>
          </a:p>
        </p:txBody>
      </p:sp>
      <p:sp>
        <p:nvSpPr>
          <p:cNvPr name="TextBox 5" id="5"/>
          <p:cNvSpPr txBox="true"/>
          <p:nvPr/>
        </p:nvSpPr>
        <p:spPr>
          <a:xfrm rot="0">
            <a:off x="11338560" y="2778252"/>
            <a:ext cx="4602850" cy="381000"/>
          </a:xfrm>
          <a:prstGeom prst="rect">
            <a:avLst/>
          </a:prstGeom>
        </p:spPr>
        <p:txBody>
          <a:bodyPr anchor="t" rtlCol="false" tIns="0" lIns="0" bIns="0" rIns="0">
            <a:spAutoFit/>
          </a:bodyPr>
          <a:lstStyle/>
          <a:p>
            <a:pPr algn="l">
              <a:lnSpc>
                <a:spcPts val="2974"/>
              </a:lnSpc>
            </a:pPr>
            <a:r>
              <a:rPr lang="en-US" b="true" sz="2478">
                <a:solidFill>
                  <a:srgbClr val="FF621D"/>
                </a:solidFill>
                <a:latin typeface="Times New Roman Bold"/>
                <a:ea typeface="Times New Roman Bold"/>
                <a:cs typeface="Times New Roman Bold"/>
                <a:sym typeface="Times New Roman Bold"/>
              </a:rPr>
              <a:t>SCHEMA CONVERSION</a:t>
            </a:r>
          </a:p>
        </p:txBody>
      </p:sp>
      <p:sp>
        <p:nvSpPr>
          <p:cNvPr name="TextBox 6" id="6"/>
          <p:cNvSpPr txBox="true"/>
          <p:nvPr/>
        </p:nvSpPr>
        <p:spPr>
          <a:xfrm rot="0">
            <a:off x="11338560" y="3206877"/>
            <a:ext cx="4864608" cy="762000"/>
          </a:xfrm>
          <a:prstGeom prst="rect">
            <a:avLst/>
          </a:prstGeom>
        </p:spPr>
        <p:txBody>
          <a:bodyPr anchor="t" rtlCol="false" tIns="0" lIns="0" bIns="0" rIns="0">
            <a:spAutoFit/>
          </a:bodyPr>
          <a:lstStyle/>
          <a:p>
            <a:pPr algn="l">
              <a:lnSpc>
                <a:spcPts val="2932"/>
              </a:lnSpc>
            </a:pPr>
            <a:r>
              <a:rPr lang="en-US" sz="2443" spc="-48">
                <a:solidFill>
                  <a:srgbClr val="000411"/>
                </a:solidFill>
                <a:latin typeface="Times New Roman"/>
                <a:ea typeface="Times New Roman"/>
                <a:cs typeface="Times New Roman"/>
                <a:sym typeface="Times New Roman"/>
              </a:rPr>
              <a:t>Translates structures and definitions to the target database dialect</a:t>
            </a:r>
          </a:p>
        </p:txBody>
      </p:sp>
      <p:sp>
        <p:nvSpPr>
          <p:cNvPr name="TextBox 7" id="7"/>
          <p:cNvSpPr txBox="true"/>
          <p:nvPr/>
        </p:nvSpPr>
        <p:spPr>
          <a:xfrm rot="0">
            <a:off x="11338560" y="4404170"/>
            <a:ext cx="6949440" cy="400050"/>
          </a:xfrm>
          <a:prstGeom prst="rect">
            <a:avLst/>
          </a:prstGeom>
        </p:spPr>
        <p:txBody>
          <a:bodyPr anchor="t" rtlCol="false" tIns="0" lIns="0" bIns="0" rIns="0">
            <a:spAutoFit/>
          </a:bodyPr>
          <a:lstStyle/>
          <a:p>
            <a:pPr algn="l">
              <a:lnSpc>
                <a:spcPts val="3017"/>
              </a:lnSpc>
            </a:pPr>
            <a:r>
              <a:rPr lang="en-US" sz="2514" b="true">
                <a:solidFill>
                  <a:srgbClr val="FF621D"/>
                </a:solidFill>
                <a:latin typeface="Times New Roman Bold"/>
                <a:ea typeface="Times New Roman Bold"/>
                <a:cs typeface="Times New Roman Bold"/>
                <a:sym typeface="Times New Roman Bold"/>
              </a:rPr>
              <a:t>DATA EXTRACTION &amp; TRANSFORMATION</a:t>
            </a:r>
          </a:p>
        </p:txBody>
      </p:sp>
      <p:sp>
        <p:nvSpPr>
          <p:cNvPr name="TextBox 8" id="8"/>
          <p:cNvSpPr txBox="true"/>
          <p:nvPr/>
        </p:nvSpPr>
        <p:spPr>
          <a:xfrm rot="0">
            <a:off x="11338560" y="4885944"/>
            <a:ext cx="4791456" cy="752475"/>
          </a:xfrm>
          <a:prstGeom prst="rect">
            <a:avLst/>
          </a:prstGeom>
        </p:spPr>
        <p:txBody>
          <a:bodyPr anchor="t" rtlCol="false" tIns="0" lIns="0" bIns="0" rIns="0">
            <a:spAutoFit/>
          </a:bodyPr>
          <a:lstStyle/>
          <a:p>
            <a:pPr algn="l">
              <a:lnSpc>
                <a:spcPts val="2974"/>
              </a:lnSpc>
            </a:pPr>
            <a:r>
              <a:rPr lang="en-US" sz="2478" spc="-49">
                <a:solidFill>
                  <a:srgbClr val="000411"/>
                </a:solidFill>
                <a:latin typeface="Times New Roman"/>
                <a:ea typeface="Times New Roman"/>
                <a:cs typeface="Times New Roman"/>
                <a:sym typeface="Times New Roman"/>
              </a:rPr>
              <a:t>Extracts, cleanses, and restructures data for accurate loading</a:t>
            </a:r>
          </a:p>
        </p:txBody>
      </p:sp>
      <p:sp>
        <p:nvSpPr>
          <p:cNvPr name="TextBox 9" id="9"/>
          <p:cNvSpPr txBox="true"/>
          <p:nvPr/>
        </p:nvSpPr>
        <p:spPr>
          <a:xfrm rot="0">
            <a:off x="11338560" y="6156960"/>
            <a:ext cx="4877169" cy="381000"/>
          </a:xfrm>
          <a:prstGeom prst="rect">
            <a:avLst/>
          </a:prstGeom>
        </p:spPr>
        <p:txBody>
          <a:bodyPr anchor="t" rtlCol="false" tIns="0" lIns="0" bIns="0" rIns="0">
            <a:spAutoFit/>
          </a:bodyPr>
          <a:lstStyle/>
          <a:p>
            <a:pPr algn="l">
              <a:lnSpc>
                <a:spcPts val="2974"/>
              </a:lnSpc>
            </a:pPr>
            <a:r>
              <a:rPr lang="en-US" b="true" sz="2478">
                <a:solidFill>
                  <a:srgbClr val="FF621D"/>
                </a:solidFill>
                <a:latin typeface="Times New Roman Bold"/>
                <a:ea typeface="Times New Roman Bold"/>
                <a:cs typeface="Times New Roman Bold"/>
                <a:sym typeface="Times New Roman Bold"/>
              </a:rPr>
              <a:t>CHANGE DATA CAPTURE</a:t>
            </a:r>
          </a:p>
        </p:txBody>
      </p:sp>
      <p:sp>
        <p:nvSpPr>
          <p:cNvPr name="TextBox 10" id="10"/>
          <p:cNvSpPr txBox="true"/>
          <p:nvPr/>
        </p:nvSpPr>
        <p:spPr>
          <a:xfrm rot="0">
            <a:off x="11338560" y="6563487"/>
            <a:ext cx="5193792" cy="762000"/>
          </a:xfrm>
          <a:prstGeom prst="rect">
            <a:avLst/>
          </a:prstGeom>
        </p:spPr>
        <p:txBody>
          <a:bodyPr anchor="t" rtlCol="false" tIns="0" lIns="0" bIns="0" rIns="0">
            <a:spAutoFit/>
          </a:bodyPr>
          <a:lstStyle/>
          <a:p>
            <a:pPr algn="l">
              <a:lnSpc>
                <a:spcPts val="2932"/>
              </a:lnSpc>
            </a:pPr>
            <a:r>
              <a:rPr lang="en-US" sz="2443" spc="-48">
                <a:solidFill>
                  <a:srgbClr val="000411"/>
                </a:solidFill>
                <a:latin typeface="Times New Roman"/>
                <a:ea typeface="Times New Roman"/>
                <a:cs typeface="Times New Roman"/>
                <a:sym typeface="Times New Roman"/>
              </a:rPr>
              <a:t>Captures and applies continuous changes to keep systems synchronized</a:t>
            </a:r>
          </a:p>
        </p:txBody>
      </p:sp>
      <p:sp>
        <p:nvSpPr>
          <p:cNvPr name="TextBox 11" id="11"/>
          <p:cNvSpPr txBox="true"/>
          <p:nvPr/>
        </p:nvSpPr>
        <p:spPr>
          <a:xfrm rot="0">
            <a:off x="11338560" y="7743825"/>
            <a:ext cx="5572481" cy="400050"/>
          </a:xfrm>
          <a:prstGeom prst="rect">
            <a:avLst/>
          </a:prstGeom>
        </p:spPr>
        <p:txBody>
          <a:bodyPr anchor="t" rtlCol="false" tIns="0" lIns="0" bIns="0" rIns="0">
            <a:spAutoFit/>
          </a:bodyPr>
          <a:lstStyle/>
          <a:p>
            <a:pPr algn="l">
              <a:lnSpc>
                <a:spcPts val="3017"/>
              </a:lnSpc>
            </a:pPr>
            <a:r>
              <a:rPr lang="en-US" b="true" sz="2514">
                <a:solidFill>
                  <a:srgbClr val="FF621D"/>
                </a:solidFill>
                <a:latin typeface="Times New Roman Bold"/>
                <a:ea typeface="Times New Roman Bold"/>
                <a:cs typeface="Times New Roman Bold"/>
                <a:sym typeface="Times New Roman Bold"/>
              </a:rPr>
              <a:t>VALIDATION &amp; VERIFICATION</a:t>
            </a:r>
          </a:p>
        </p:txBody>
      </p:sp>
      <p:sp>
        <p:nvSpPr>
          <p:cNvPr name="TextBox 12" id="12"/>
          <p:cNvSpPr txBox="true"/>
          <p:nvPr/>
        </p:nvSpPr>
        <p:spPr>
          <a:xfrm rot="0">
            <a:off x="11338560" y="8260080"/>
            <a:ext cx="5010912" cy="752475"/>
          </a:xfrm>
          <a:prstGeom prst="rect">
            <a:avLst/>
          </a:prstGeom>
        </p:spPr>
        <p:txBody>
          <a:bodyPr anchor="t" rtlCol="false" tIns="0" lIns="0" bIns="0" rIns="0">
            <a:spAutoFit/>
          </a:bodyPr>
          <a:lstStyle/>
          <a:p>
            <a:pPr algn="l">
              <a:lnSpc>
                <a:spcPts val="2974"/>
              </a:lnSpc>
            </a:pPr>
            <a:r>
              <a:rPr lang="en-US" sz="2478" spc="-49">
                <a:solidFill>
                  <a:srgbClr val="000411"/>
                </a:solidFill>
                <a:latin typeface="Times New Roman"/>
                <a:ea typeface="Times New Roman"/>
                <a:cs typeface="Times New Roman"/>
                <a:sym typeface="Times New Roman"/>
              </a:rPr>
              <a:t>Ensures accuracy with checksum audits, row counts, and integrity tests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8353425"/>
            <a:ext cx="18288000" cy="1933575"/>
          </a:xfrm>
          <a:custGeom>
            <a:avLst/>
            <a:gdLst/>
            <a:ahLst/>
            <a:cxnLst/>
            <a:rect r="r" b="b" t="t" l="l"/>
            <a:pathLst>
              <a:path h="1933575" w="18288000">
                <a:moveTo>
                  <a:pt x="0" y="0"/>
                </a:moveTo>
                <a:lnTo>
                  <a:pt x="18288000" y="0"/>
                </a:lnTo>
                <a:lnTo>
                  <a:pt x="18288000" y="1933575"/>
                </a:lnTo>
                <a:lnTo>
                  <a:pt x="0" y="1933575"/>
                </a:lnTo>
                <a:lnTo>
                  <a:pt x="0" y="0"/>
                </a:lnTo>
                <a:close/>
              </a:path>
            </a:pathLst>
          </a:custGeom>
          <a:blipFill>
            <a:blip r:embed="rId2"/>
            <a:stretch>
              <a:fillRect l="0" t="0" r="0" b="0"/>
            </a:stretch>
          </a:blipFill>
        </p:spPr>
      </p:sp>
      <p:sp>
        <p:nvSpPr>
          <p:cNvPr name="TextBox 3" id="3"/>
          <p:cNvSpPr txBox="true"/>
          <p:nvPr/>
        </p:nvSpPr>
        <p:spPr>
          <a:xfrm rot="0">
            <a:off x="688294" y="981075"/>
            <a:ext cx="16911412" cy="1190625"/>
          </a:xfrm>
          <a:prstGeom prst="rect">
            <a:avLst/>
          </a:prstGeom>
        </p:spPr>
        <p:txBody>
          <a:bodyPr anchor="t" rtlCol="false" tIns="0" lIns="0" bIns="0" rIns="0">
            <a:spAutoFit/>
          </a:bodyPr>
          <a:lstStyle/>
          <a:p>
            <a:pPr algn="l">
              <a:lnSpc>
                <a:spcPts val="9015"/>
              </a:lnSpc>
            </a:pPr>
            <a:r>
              <a:rPr lang="en-US" sz="7512" spc="-225">
                <a:solidFill>
                  <a:srgbClr val="000411"/>
                </a:solidFill>
                <a:latin typeface="Times New Roman"/>
                <a:ea typeface="Times New Roman"/>
                <a:cs typeface="Times New Roman"/>
                <a:sym typeface="Times New Roman"/>
              </a:rPr>
              <a:t>MIGRATION METHODS &amp; STRATEGIES</a:t>
            </a:r>
          </a:p>
        </p:txBody>
      </p:sp>
      <p:sp>
        <p:nvSpPr>
          <p:cNvPr name="TextBox 4" id="4"/>
          <p:cNvSpPr txBox="true"/>
          <p:nvPr/>
        </p:nvSpPr>
        <p:spPr>
          <a:xfrm rot="0">
            <a:off x="603504" y="2400300"/>
            <a:ext cx="12088368" cy="447675"/>
          </a:xfrm>
          <a:prstGeom prst="rect">
            <a:avLst/>
          </a:prstGeom>
        </p:spPr>
        <p:txBody>
          <a:bodyPr anchor="t" rtlCol="false" tIns="0" lIns="0" bIns="0" rIns="0">
            <a:spAutoFit/>
          </a:bodyPr>
          <a:lstStyle/>
          <a:p>
            <a:pPr algn="l">
              <a:lnSpc>
                <a:spcPts val="3314"/>
              </a:lnSpc>
            </a:pPr>
            <a:r>
              <a:rPr lang="en-US" sz="2762">
                <a:solidFill>
                  <a:srgbClr val="000411"/>
                </a:solidFill>
                <a:latin typeface="Times New Roman"/>
                <a:ea typeface="Times New Roman"/>
                <a:cs typeface="Times New Roman"/>
                <a:sym typeface="Times New Roman"/>
              </a:rPr>
              <a:t>Choose the approach that best balances speed, risk, and business continuity.</a:t>
            </a:r>
          </a:p>
        </p:txBody>
      </p:sp>
      <p:sp>
        <p:nvSpPr>
          <p:cNvPr name="TextBox 5" id="5"/>
          <p:cNvSpPr txBox="true"/>
          <p:nvPr/>
        </p:nvSpPr>
        <p:spPr>
          <a:xfrm rot="0">
            <a:off x="640080" y="3199257"/>
            <a:ext cx="2941320" cy="1000125"/>
          </a:xfrm>
          <a:prstGeom prst="rect">
            <a:avLst/>
          </a:prstGeom>
        </p:spPr>
        <p:txBody>
          <a:bodyPr anchor="t" rtlCol="false" tIns="0" lIns="0" bIns="0" rIns="0">
            <a:spAutoFit/>
          </a:bodyPr>
          <a:lstStyle/>
          <a:p>
            <a:pPr algn="l">
              <a:lnSpc>
                <a:spcPts val="3867"/>
              </a:lnSpc>
            </a:pPr>
            <a:r>
              <a:rPr lang="en-US" sz="3223" b="true">
                <a:solidFill>
                  <a:srgbClr val="FF984E"/>
                </a:solidFill>
                <a:latin typeface="Times New Roman Bold"/>
                <a:ea typeface="Times New Roman Bold"/>
                <a:cs typeface="Times New Roman Bold"/>
                <a:sym typeface="Times New Roman Bold"/>
              </a:rPr>
              <a:t>BIG BANG MIGRATION</a:t>
            </a:r>
          </a:p>
        </p:txBody>
      </p:sp>
      <p:sp>
        <p:nvSpPr>
          <p:cNvPr name="TextBox 6" id="6"/>
          <p:cNvSpPr txBox="true"/>
          <p:nvPr/>
        </p:nvSpPr>
        <p:spPr>
          <a:xfrm rot="0">
            <a:off x="640080" y="4590669"/>
            <a:ext cx="2706624" cy="819150"/>
          </a:xfrm>
          <a:prstGeom prst="rect">
            <a:avLst/>
          </a:prstGeom>
        </p:spPr>
        <p:txBody>
          <a:bodyPr anchor="t" rtlCol="false" tIns="0" lIns="0" bIns="0" rIns="0">
            <a:spAutoFit/>
          </a:bodyPr>
          <a:lstStyle/>
          <a:p>
            <a:pPr algn="l">
              <a:lnSpc>
                <a:spcPts val="3187"/>
              </a:lnSpc>
            </a:pPr>
            <a:r>
              <a:rPr lang="en-US" sz="2656">
                <a:solidFill>
                  <a:srgbClr val="000411"/>
                </a:solidFill>
                <a:latin typeface="Times New Roman"/>
                <a:ea typeface="Times New Roman"/>
                <a:cs typeface="Times New Roman"/>
                <a:sym typeface="Times New Roman"/>
              </a:rPr>
              <a:t>Single operational window</a:t>
            </a:r>
          </a:p>
        </p:txBody>
      </p:sp>
      <p:sp>
        <p:nvSpPr>
          <p:cNvPr name="TextBox 7" id="7"/>
          <p:cNvSpPr txBox="true"/>
          <p:nvPr/>
        </p:nvSpPr>
        <p:spPr>
          <a:xfrm rot="0">
            <a:off x="640080" y="5867781"/>
            <a:ext cx="2706624" cy="857250"/>
          </a:xfrm>
          <a:prstGeom prst="rect">
            <a:avLst/>
          </a:prstGeom>
        </p:spPr>
        <p:txBody>
          <a:bodyPr anchor="t" rtlCol="false" tIns="0" lIns="0" bIns="0" rIns="0">
            <a:spAutoFit/>
          </a:bodyPr>
          <a:lstStyle/>
          <a:p>
            <a:pPr algn="l">
              <a:lnSpc>
                <a:spcPts val="3357"/>
              </a:lnSpc>
            </a:pPr>
            <a:r>
              <a:rPr lang="en-US" sz="2797">
                <a:solidFill>
                  <a:srgbClr val="000411"/>
                </a:solidFill>
                <a:latin typeface="Times New Roman"/>
                <a:ea typeface="Times New Roman"/>
                <a:cs typeface="Times New Roman"/>
                <a:sym typeface="Times New Roman"/>
              </a:rPr>
              <a:t>Fast and simple to execute</a:t>
            </a:r>
          </a:p>
        </p:txBody>
      </p:sp>
      <p:sp>
        <p:nvSpPr>
          <p:cNvPr name="TextBox 8" id="8"/>
          <p:cNvSpPr txBox="true"/>
          <p:nvPr/>
        </p:nvSpPr>
        <p:spPr>
          <a:xfrm rot="0">
            <a:off x="640080" y="7120509"/>
            <a:ext cx="3255264" cy="1276350"/>
          </a:xfrm>
          <a:prstGeom prst="rect">
            <a:avLst/>
          </a:prstGeom>
        </p:spPr>
        <p:txBody>
          <a:bodyPr anchor="t" rtlCol="false" tIns="0" lIns="0" bIns="0" rIns="0">
            <a:spAutoFit/>
          </a:bodyPr>
          <a:lstStyle/>
          <a:p>
            <a:pPr algn="l" marL="0" indent="0" lvl="0">
              <a:lnSpc>
                <a:spcPts val="3357"/>
              </a:lnSpc>
              <a:spcBef>
                <a:spcPct val="0"/>
              </a:spcBef>
            </a:pPr>
            <a:r>
              <a:rPr lang="en-US" sz="2797" strike="noStrike" u="none">
                <a:solidFill>
                  <a:srgbClr val="000411"/>
                </a:solidFill>
                <a:latin typeface="Times New Roman"/>
                <a:ea typeface="Times New Roman"/>
                <a:cs typeface="Times New Roman"/>
                <a:sym typeface="Times New Roman"/>
              </a:rPr>
              <a:t>Higher downtime and single-point-ofFAILURE exposure</a:t>
            </a:r>
          </a:p>
        </p:txBody>
      </p:sp>
      <p:sp>
        <p:nvSpPr>
          <p:cNvPr name="Freeform 9" id="9"/>
          <p:cNvSpPr/>
          <p:nvPr/>
        </p:nvSpPr>
        <p:spPr>
          <a:xfrm flipH="false" flipV="false" rot="0">
            <a:off x="4572000" y="3209925"/>
            <a:ext cx="219075" cy="5153025"/>
          </a:xfrm>
          <a:custGeom>
            <a:avLst/>
            <a:gdLst/>
            <a:ahLst/>
            <a:cxnLst/>
            <a:rect r="r" b="b" t="t" l="l"/>
            <a:pathLst>
              <a:path h="5153025" w="219075">
                <a:moveTo>
                  <a:pt x="0" y="0"/>
                </a:moveTo>
                <a:lnTo>
                  <a:pt x="219075" y="0"/>
                </a:lnTo>
                <a:lnTo>
                  <a:pt x="219075" y="5153025"/>
                </a:lnTo>
                <a:lnTo>
                  <a:pt x="0" y="5153025"/>
                </a:lnTo>
                <a:lnTo>
                  <a:pt x="0" y="0"/>
                </a:lnTo>
                <a:close/>
              </a:path>
            </a:pathLst>
          </a:custGeom>
          <a:blipFill>
            <a:blip r:embed="rId3"/>
            <a:stretch>
              <a:fillRect l="0" t="0" r="0" b="0"/>
            </a:stretch>
          </a:blipFill>
        </p:spPr>
      </p:sp>
      <p:sp>
        <p:nvSpPr>
          <p:cNvPr name="TextBox 10" id="10"/>
          <p:cNvSpPr txBox="true"/>
          <p:nvPr/>
        </p:nvSpPr>
        <p:spPr>
          <a:xfrm rot="0">
            <a:off x="4791075" y="3181350"/>
            <a:ext cx="4041648" cy="1000125"/>
          </a:xfrm>
          <a:prstGeom prst="rect">
            <a:avLst/>
          </a:prstGeom>
        </p:spPr>
        <p:txBody>
          <a:bodyPr anchor="t" rtlCol="false" tIns="0" lIns="0" bIns="0" rIns="0">
            <a:spAutoFit/>
          </a:bodyPr>
          <a:lstStyle/>
          <a:p>
            <a:pPr algn="l">
              <a:lnSpc>
                <a:spcPts val="3867"/>
              </a:lnSpc>
            </a:pPr>
            <a:r>
              <a:rPr lang="en-US" sz="3223" b="true">
                <a:solidFill>
                  <a:srgbClr val="FF984E"/>
                </a:solidFill>
                <a:latin typeface="Times New Roman Bold"/>
                <a:ea typeface="Times New Roman Bold"/>
                <a:cs typeface="Times New Roman Bold"/>
                <a:sym typeface="Times New Roman Bold"/>
              </a:rPr>
              <a:t>PHASED / TRICKLE MIGRATION</a:t>
            </a:r>
          </a:p>
        </p:txBody>
      </p:sp>
      <p:sp>
        <p:nvSpPr>
          <p:cNvPr name="TextBox 11" id="11"/>
          <p:cNvSpPr txBox="true"/>
          <p:nvPr/>
        </p:nvSpPr>
        <p:spPr>
          <a:xfrm rot="0">
            <a:off x="4996815" y="4549521"/>
            <a:ext cx="3108960"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Continuous, smaller increments with CDC</a:t>
            </a:r>
          </a:p>
        </p:txBody>
      </p:sp>
      <p:sp>
        <p:nvSpPr>
          <p:cNvPr name="TextBox 12" id="12"/>
          <p:cNvSpPr txBox="true"/>
          <p:nvPr/>
        </p:nvSpPr>
        <p:spPr>
          <a:xfrm rot="0">
            <a:off x="5054727" y="5959221"/>
            <a:ext cx="2542032"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No downtime for end users</a:t>
            </a:r>
          </a:p>
        </p:txBody>
      </p:sp>
      <p:sp>
        <p:nvSpPr>
          <p:cNvPr name="TextBox 13" id="13"/>
          <p:cNvSpPr txBox="true"/>
          <p:nvPr/>
        </p:nvSpPr>
        <p:spPr>
          <a:xfrm rot="0">
            <a:off x="5102352" y="7573137"/>
            <a:ext cx="2212848"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Greater project complexity</a:t>
            </a:r>
          </a:p>
        </p:txBody>
      </p:sp>
      <p:sp>
        <p:nvSpPr>
          <p:cNvPr name="Freeform 14" id="14"/>
          <p:cNvSpPr/>
          <p:nvPr/>
        </p:nvSpPr>
        <p:spPr>
          <a:xfrm flipH="false" flipV="false" rot="0">
            <a:off x="8924925" y="3209925"/>
            <a:ext cx="219075" cy="4933950"/>
          </a:xfrm>
          <a:custGeom>
            <a:avLst/>
            <a:gdLst/>
            <a:ahLst/>
            <a:cxnLst/>
            <a:rect r="r" b="b" t="t" l="l"/>
            <a:pathLst>
              <a:path h="4933950" w="219075">
                <a:moveTo>
                  <a:pt x="0" y="0"/>
                </a:moveTo>
                <a:lnTo>
                  <a:pt x="219075" y="0"/>
                </a:lnTo>
                <a:lnTo>
                  <a:pt x="219075" y="4933950"/>
                </a:lnTo>
                <a:lnTo>
                  <a:pt x="0" y="4933950"/>
                </a:lnTo>
                <a:lnTo>
                  <a:pt x="0" y="0"/>
                </a:lnTo>
                <a:close/>
              </a:path>
            </a:pathLst>
          </a:custGeom>
          <a:blipFill>
            <a:blip r:embed="rId4"/>
            <a:stretch>
              <a:fillRect l="0" t="0" r="0" b="0"/>
            </a:stretch>
          </a:blipFill>
        </p:spPr>
      </p:sp>
      <p:sp>
        <p:nvSpPr>
          <p:cNvPr name="TextBox 15" id="15"/>
          <p:cNvSpPr txBox="true"/>
          <p:nvPr/>
        </p:nvSpPr>
        <p:spPr>
          <a:xfrm rot="0">
            <a:off x="9473184" y="3199257"/>
            <a:ext cx="4033266" cy="1000125"/>
          </a:xfrm>
          <a:prstGeom prst="rect">
            <a:avLst/>
          </a:prstGeom>
        </p:spPr>
        <p:txBody>
          <a:bodyPr anchor="t" rtlCol="false" tIns="0" lIns="0" bIns="0" rIns="0">
            <a:spAutoFit/>
          </a:bodyPr>
          <a:lstStyle/>
          <a:p>
            <a:pPr algn="l">
              <a:lnSpc>
                <a:spcPts val="3867"/>
              </a:lnSpc>
            </a:pPr>
            <a:r>
              <a:rPr lang="en-US" sz="3223" b="true">
                <a:solidFill>
                  <a:srgbClr val="FF984E"/>
                </a:solidFill>
                <a:latin typeface="Times New Roman Bold"/>
                <a:ea typeface="Times New Roman Bold"/>
                <a:cs typeface="Times New Roman Bold"/>
                <a:sym typeface="Times New Roman Bold"/>
              </a:rPr>
              <a:t>ZERO-DOWNTIME MIGRATION</a:t>
            </a:r>
          </a:p>
        </p:txBody>
      </p:sp>
      <p:sp>
        <p:nvSpPr>
          <p:cNvPr name="TextBox 16" id="16"/>
          <p:cNvSpPr txBox="true"/>
          <p:nvPr/>
        </p:nvSpPr>
        <p:spPr>
          <a:xfrm rot="0">
            <a:off x="9473184" y="4549521"/>
            <a:ext cx="2889504" cy="819150"/>
          </a:xfrm>
          <a:prstGeom prst="rect">
            <a:avLst/>
          </a:prstGeom>
        </p:spPr>
        <p:txBody>
          <a:bodyPr anchor="t" rtlCol="false" tIns="0" lIns="0" bIns="0" rIns="0">
            <a:spAutoFit/>
          </a:bodyPr>
          <a:lstStyle/>
          <a:p>
            <a:pPr algn="l">
              <a:lnSpc>
                <a:spcPts val="3187"/>
              </a:lnSpc>
            </a:pPr>
            <a:r>
              <a:rPr lang="en-US" sz="2656">
                <a:solidFill>
                  <a:srgbClr val="000411"/>
                </a:solidFill>
                <a:latin typeface="Times New Roman"/>
                <a:ea typeface="Times New Roman"/>
                <a:cs typeface="Times New Roman"/>
                <a:sym typeface="Times New Roman"/>
              </a:rPr>
              <a:t>Parallel source and target databases</a:t>
            </a:r>
          </a:p>
        </p:txBody>
      </p:sp>
      <p:sp>
        <p:nvSpPr>
          <p:cNvPr name="TextBox 17" id="17"/>
          <p:cNvSpPr txBox="true"/>
          <p:nvPr/>
        </p:nvSpPr>
        <p:spPr>
          <a:xfrm rot="0">
            <a:off x="9473184" y="5835396"/>
            <a:ext cx="3182112"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Dual-write replication keeps data in sync</a:t>
            </a:r>
          </a:p>
        </p:txBody>
      </p:sp>
      <p:sp>
        <p:nvSpPr>
          <p:cNvPr name="TextBox 18" id="18"/>
          <p:cNvSpPr txBox="true"/>
          <p:nvPr/>
        </p:nvSpPr>
        <p:spPr>
          <a:xfrm rot="0">
            <a:off x="9473184" y="7120509"/>
            <a:ext cx="2779776" cy="800100"/>
          </a:xfrm>
          <a:prstGeom prst="rect">
            <a:avLst/>
          </a:prstGeom>
        </p:spPr>
        <p:txBody>
          <a:bodyPr anchor="t" rtlCol="false" tIns="0" lIns="0" bIns="0" rIns="0">
            <a:spAutoFit/>
          </a:bodyPr>
          <a:lstStyle/>
          <a:p>
            <a:pPr algn="l">
              <a:lnSpc>
                <a:spcPts val="3144"/>
              </a:lnSpc>
            </a:pPr>
            <a:r>
              <a:rPr lang="en-US" sz="2620">
                <a:solidFill>
                  <a:srgbClr val="000411"/>
                </a:solidFill>
                <a:latin typeface="Times New Roman"/>
                <a:ea typeface="Times New Roman"/>
                <a:cs typeface="Times New Roman"/>
                <a:sym typeface="Times New Roman"/>
              </a:rPr>
              <a:t>Final cutoff with minimal disruption</a:t>
            </a:r>
          </a:p>
        </p:txBody>
      </p:sp>
      <p:sp>
        <p:nvSpPr>
          <p:cNvPr name="Freeform 19" id="19"/>
          <p:cNvSpPr/>
          <p:nvPr/>
        </p:nvSpPr>
        <p:spPr>
          <a:xfrm flipH="false" flipV="false" rot="0">
            <a:off x="13277850" y="3209925"/>
            <a:ext cx="228600" cy="5153025"/>
          </a:xfrm>
          <a:custGeom>
            <a:avLst/>
            <a:gdLst/>
            <a:ahLst/>
            <a:cxnLst/>
            <a:rect r="r" b="b" t="t" l="l"/>
            <a:pathLst>
              <a:path h="5153025" w="228600">
                <a:moveTo>
                  <a:pt x="0" y="0"/>
                </a:moveTo>
                <a:lnTo>
                  <a:pt x="228600" y="0"/>
                </a:lnTo>
                <a:lnTo>
                  <a:pt x="228600" y="5153025"/>
                </a:lnTo>
                <a:lnTo>
                  <a:pt x="0" y="5153025"/>
                </a:lnTo>
                <a:lnTo>
                  <a:pt x="0" y="0"/>
                </a:lnTo>
                <a:close/>
              </a:path>
            </a:pathLst>
          </a:custGeom>
          <a:blipFill>
            <a:blip r:embed="rId5"/>
            <a:stretch>
              <a:fillRect l="0" t="0" r="0" b="0"/>
            </a:stretch>
          </a:blipFill>
        </p:spPr>
      </p:sp>
      <p:sp>
        <p:nvSpPr>
          <p:cNvPr name="TextBox 20" id="20"/>
          <p:cNvSpPr txBox="true"/>
          <p:nvPr/>
        </p:nvSpPr>
        <p:spPr>
          <a:xfrm rot="0">
            <a:off x="13898880" y="3203258"/>
            <a:ext cx="3943350" cy="1000125"/>
          </a:xfrm>
          <a:prstGeom prst="rect">
            <a:avLst/>
          </a:prstGeom>
        </p:spPr>
        <p:txBody>
          <a:bodyPr anchor="t" rtlCol="false" tIns="0" lIns="0" bIns="0" rIns="0">
            <a:spAutoFit/>
          </a:bodyPr>
          <a:lstStyle/>
          <a:p>
            <a:pPr algn="l">
              <a:lnSpc>
                <a:spcPts val="3867"/>
              </a:lnSpc>
            </a:pPr>
            <a:r>
              <a:rPr lang="en-US" sz="3223" b="true">
                <a:solidFill>
                  <a:srgbClr val="FF984E"/>
                </a:solidFill>
                <a:latin typeface="Times New Roman Bold"/>
                <a:ea typeface="Times New Roman Bold"/>
                <a:cs typeface="Times New Roman Bold"/>
                <a:sym typeface="Times New Roman Bold"/>
              </a:rPr>
              <a:t>LIFT-AND-SHIFT (REHOSTING)</a:t>
            </a:r>
          </a:p>
        </p:txBody>
      </p:sp>
      <p:sp>
        <p:nvSpPr>
          <p:cNvPr name="TextBox 21" id="21"/>
          <p:cNvSpPr txBox="true"/>
          <p:nvPr/>
        </p:nvSpPr>
        <p:spPr>
          <a:xfrm rot="0">
            <a:off x="13898880" y="4559046"/>
            <a:ext cx="2779776"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Move to cloud infrastructure as-is</a:t>
            </a:r>
          </a:p>
        </p:txBody>
      </p:sp>
      <p:sp>
        <p:nvSpPr>
          <p:cNvPr name="TextBox 22" id="22"/>
          <p:cNvSpPr txBox="true"/>
          <p:nvPr/>
        </p:nvSpPr>
        <p:spPr>
          <a:xfrm rot="0">
            <a:off x="13898880" y="5865685"/>
            <a:ext cx="2816352" cy="121920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Preserves schema, configuration, and dependencies</a:t>
            </a:r>
          </a:p>
        </p:txBody>
      </p:sp>
      <p:sp>
        <p:nvSpPr>
          <p:cNvPr name="TextBox 23" id="23"/>
          <p:cNvSpPr txBox="true"/>
          <p:nvPr/>
        </p:nvSpPr>
        <p:spPr>
          <a:xfrm rot="0">
            <a:off x="13898880" y="7563612"/>
            <a:ext cx="3255264"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000411"/>
                </a:solidFill>
                <a:latin typeface="Times New Roman"/>
                <a:ea typeface="Times New Roman"/>
                <a:cs typeface="Times New Roman"/>
                <a:sym typeface="Times New Roman"/>
              </a:rPr>
              <a:t>Fast path to the cloud with minimal change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8143875"/>
            <a:ext cx="18288000" cy="2143125"/>
          </a:xfrm>
          <a:custGeom>
            <a:avLst/>
            <a:gdLst/>
            <a:ahLst/>
            <a:cxnLst/>
            <a:rect r="r" b="b" t="t" l="l"/>
            <a:pathLst>
              <a:path h="2143125" w="18288000">
                <a:moveTo>
                  <a:pt x="0" y="0"/>
                </a:moveTo>
                <a:lnTo>
                  <a:pt x="18288000" y="0"/>
                </a:lnTo>
                <a:lnTo>
                  <a:pt x="18288000" y="2143125"/>
                </a:lnTo>
                <a:lnTo>
                  <a:pt x="0" y="2143125"/>
                </a:lnTo>
                <a:lnTo>
                  <a:pt x="0" y="0"/>
                </a:lnTo>
                <a:close/>
              </a:path>
            </a:pathLst>
          </a:custGeom>
          <a:blipFill>
            <a:blip r:embed="rId2"/>
            <a:stretch>
              <a:fillRect l="0" t="0" r="0" b="0"/>
            </a:stretch>
          </a:blipFill>
        </p:spPr>
      </p:sp>
      <p:sp>
        <p:nvSpPr>
          <p:cNvPr name="TextBox 3" id="3"/>
          <p:cNvSpPr txBox="true"/>
          <p:nvPr/>
        </p:nvSpPr>
        <p:spPr>
          <a:xfrm rot="0">
            <a:off x="1378267" y="1200150"/>
            <a:ext cx="14641480" cy="1123950"/>
          </a:xfrm>
          <a:prstGeom prst="rect">
            <a:avLst/>
          </a:prstGeom>
        </p:spPr>
        <p:txBody>
          <a:bodyPr anchor="t" rtlCol="false" tIns="0" lIns="0" bIns="0" rIns="0">
            <a:spAutoFit/>
          </a:bodyPr>
          <a:lstStyle/>
          <a:p>
            <a:pPr algn="l">
              <a:lnSpc>
                <a:spcPts val="8589"/>
              </a:lnSpc>
            </a:pPr>
            <a:r>
              <a:rPr lang="en-US" sz="7158" spc="-286">
                <a:solidFill>
                  <a:srgbClr val="000411"/>
                </a:solidFill>
                <a:latin typeface="Times New Roman"/>
                <a:ea typeface="Times New Roman"/>
                <a:cs typeface="Times New Roman"/>
                <a:sym typeface="Times New Roman"/>
              </a:rPr>
              <a:t>MIGRATION EXECUTION LIFECYCLE</a:t>
            </a:r>
          </a:p>
        </p:txBody>
      </p:sp>
      <p:sp>
        <p:nvSpPr>
          <p:cNvPr name="Freeform 4" id="4"/>
          <p:cNvSpPr/>
          <p:nvPr/>
        </p:nvSpPr>
        <p:spPr>
          <a:xfrm flipH="false" flipV="false" rot="0">
            <a:off x="866775" y="2571750"/>
            <a:ext cx="1971675" cy="1933575"/>
          </a:xfrm>
          <a:custGeom>
            <a:avLst/>
            <a:gdLst/>
            <a:ahLst/>
            <a:cxnLst/>
            <a:rect r="r" b="b" t="t" l="l"/>
            <a:pathLst>
              <a:path h="1933575" w="1971675">
                <a:moveTo>
                  <a:pt x="0" y="0"/>
                </a:moveTo>
                <a:lnTo>
                  <a:pt x="1971675" y="0"/>
                </a:lnTo>
                <a:lnTo>
                  <a:pt x="1971675" y="1933575"/>
                </a:lnTo>
                <a:lnTo>
                  <a:pt x="0" y="1933575"/>
                </a:lnTo>
                <a:lnTo>
                  <a:pt x="0" y="0"/>
                </a:lnTo>
                <a:close/>
              </a:path>
            </a:pathLst>
          </a:custGeom>
          <a:blipFill>
            <a:blip r:embed="rId3"/>
            <a:stretch>
              <a:fillRect l="0" t="0" r="0" b="0"/>
            </a:stretch>
          </a:blipFill>
        </p:spPr>
      </p:sp>
      <p:sp>
        <p:nvSpPr>
          <p:cNvPr name="TextBox 5" id="5"/>
          <p:cNvSpPr txBox="true"/>
          <p:nvPr/>
        </p:nvSpPr>
        <p:spPr>
          <a:xfrm rot="0">
            <a:off x="1499616" y="2916174"/>
            <a:ext cx="512064" cy="1371600"/>
          </a:xfrm>
          <a:prstGeom prst="rect">
            <a:avLst/>
          </a:prstGeom>
        </p:spPr>
        <p:txBody>
          <a:bodyPr anchor="t" rtlCol="false" tIns="0" lIns="0" bIns="0" rIns="0">
            <a:spAutoFit/>
          </a:bodyPr>
          <a:lstStyle/>
          <a:p>
            <a:pPr algn="ctr">
              <a:lnSpc>
                <a:spcPts val="10546"/>
              </a:lnSpc>
            </a:pPr>
            <a:r>
              <a:rPr lang="en-US" b="true" sz="8788">
                <a:solidFill>
                  <a:srgbClr val="FF621D"/>
                </a:solidFill>
                <a:latin typeface="Times New Roman Bold"/>
                <a:ea typeface="Times New Roman Bold"/>
                <a:cs typeface="Times New Roman Bold"/>
                <a:sym typeface="Times New Roman Bold"/>
              </a:rPr>
              <a:t>1</a:t>
            </a:r>
          </a:p>
        </p:txBody>
      </p:sp>
      <p:sp>
        <p:nvSpPr>
          <p:cNvPr name="TextBox 6" id="6"/>
          <p:cNvSpPr txBox="true"/>
          <p:nvPr/>
        </p:nvSpPr>
        <p:spPr>
          <a:xfrm rot="0">
            <a:off x="1378268" y="4721733"/>
            <a:ext cx="2560320" cy="1000125"/>
          </a:xfrm>
          <a:prstGeom prst="rect">
            <a:avLst/>
          </a:prstGeom>
        </p:spPr>
        <p:txBody>
          <a:bodyPr anchor="t" rtlCol="false" tIns="0" lIns="0" bIns="0" rIns="0">
            <a:spAutoFit/>
          </a:bodyPr>
          <a:lstStyle/>
          <a:p>
            <a:pPr algn="l">
              <a:lnSpc>
                <a:spcPts val="3867"/>
              </a:lnSpc>
            </a:pPr>
            <a:r>
              <a:rPr lang="en-US" sz="3223" b="true">
                <a:solidFill>
                  <a:srgbClr val="000411"/>
                </a:solidFill>
                <a:latin typeface="Times New Roman Bold"/>
                <a:ea typeface="Times New Roman Bold"/>
                <a:cs typeface="Times New Roman Bold"/>
                <a:sym typeface="Times New Roman Bold"/>
              </a:rPr>
              <a:t>Assessment &amp; Discovery</a:t>
            </a:r>
          </a:p>
        </p:txBody>
      </p:sp>
      <p:sp>
        <p:nvSpPr>
          <p:cNvPr name="TextBox 7" id="7"/>
          <p:cNvSpPr txBox="true"/>
          <p:nvPr/>
        </p:nvSpPr>
        <p:spPr>
          <a:xfrm rot="0">
            <a:off x="969264" y="6069431"/>
            <a:ext cx="3618790"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Inventory data assets</a:t>
            </a:r>
          </a:p>
        </p:txBody>
      </p:sp>
      <p:sp>
        <p:nvSpPr>
          <p:cNvPr name="TextBox 8" id="8"/>
          <p:cNvSpPr txBox="true"/>
          <p:nvPr/>
        </p:nvSpPr>
        <p:spPr>
          <a:xfrm rot="0">
            <a:off x="969264" y="7087844"/>
            <a:ext cx="3976811" cy="81915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Evaluate schema compatibility</a:t>
            </a:r>
          </a:p>
        </p:txBody>
      </p:sp>
      <p:sp>
        <p:nvSpPr>
          <p:cNvPr name="TextBox 9" id="9"/>
          <p:cNvSpPr txBox="true"/>
          <p:nvPr/>
        </p:nvSpPr>
        <p:spPr>
          <a:xfrm rot="0">
            <a:off x="978604" y="7887944"/>
            <a:ext cx="3767328" cy="81915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Define performance benchmarks</a:t>
            </a:r>
          </a:p>
        </p:txBody>
      </p:sp>
      <p:sp>
        <p:nvSpPr>
          <p:cNvPr name="Freeform 10" id="10"/>
          <p:cNvSpPr/>
          <p:nvPr/>
        </p:nvSpPr>
        <p:spPr>
          <a:xfrm flipH="false" flipV="false" rot="0">
            <a:off x="2609850" y="3429000"/>
            <a:ext cx="2619375" cy="428625"/>
          </a:xfrm>
          <a:custGeom>
            <a:avLst/>
            <a:gdLst/>
            <a:ahLst/>
            <a:cxnLst/>
            <a:rect r="r" b="b" t="t" l="l"/>
            <a:pathLst>
              <a:path h="428625" w="2619375">
                <a:moveTo>
                  <a:pt x="0" y="0"/>
                </a:moveTo>
                <a:lnTo>
                  <a:pt x="2619375" y="0"/>
                </a:lnTo>
                <a:lnTo>
                  <a:pt x="2619375" y="428625"/>
                </a:lnTo>
                <a:lnTo>
                  <a:pt x="0" y="428625"/>
                </a:lnTo>
                <a:lnTo>
                  <a:pt x="0" y="0"/>
                </a:lnTo>
                <a:close/>
              </a:path>
            </a:pathLst>
          </a:custGeom>
          <a:blipFill>
            <a:blip r:embed="rId4"/>
            <a:stretch>
              <a:fillRect l="0" t="0" r="0" b="0"/>
            </a:stretch>
          </a:blipFill>
        </p:spPr>
      </p:sp>
      <p:sp>
        <p:nvSpPr>
          <p:cNvPr name="Freeform 11" id="11"/>
          <p:cNvSpPr/>
          <p:nvPr/>
        </p:nvSpPr>
        <p:spPr>
          <a:xfrm flipH="false" flipV="false" rot="0">
            <a:off x="5219700" y="2571750"/>
            <a:ext cx="1971675" cy="1933575"/>
          </a:xfrm>
          <a:custGeom>
            <a:avLst/>
            <a:gdLst/>
            <a:ahLst/>
            <a:cxnLst/>
            <a:rect r="r" b="b" t="t" l="l"/>
            <a:pathLst>
              <a:path h="1933575" w="1971675">
                <a:moveTo>
                  <a:pt x="0" y="0"/>
                </a:moveTo>
                <a:lnTo>
                  <a:pt x="1971675" y="0"/>
                </a:lnTo>
                <a:lnTo>
                  <a:pt x="1971675" y="1933575"/>
                </a:lnTo>
                <a:lnTo>
                  <a:pt x="0" y="1933575"/>
                </a:lnTo>
                <a:lnTo>
                  <a:pt x="0" y="0"/>
                </a:lnTo>
                <a:close/>
              </a:path>
            </a:pathLst>
          </a:custGeom>
          <a:blipFill>
            <a:blip r:embed="rId5"/>
            <a:stretch>
              <a:fillRect l="0" t="0" r="0" b="0"/>
            </a:stretch>
          </a:blipFill>
        </p:spPr>
      </p:sp>
      <p:sp>
        <p:nvSpPr>
          <p:cNvPr name="TextBox 12" id="12"/>
          <p:cNvSpPr txBox="true"/>
          <p:nvPr/>
        </p:nvSpPr>
        <p:spPr>
          <a:xfrm rot="0">
            <a:off x="5943600" y="2916174"/>
            <a:ext cx="694944" cy="1371600"/>
          </a:xfrm>
          <a:prstGeom prst="rect">
            <a:avLst/>
          </a:prstGeom>
        </p:spPr>
        <p:txBody>
          <a:bodyPr anchor="t" rtlCol="false" tIns="0" lIns="0" bIns="0" rIns="0">
            <a:spAutoFit/>
          </a:bodyPr>
          <a:lstStyle/>
          <a:p>
            <a:pPr algn="ctr">
              <a:lnSpc>
                <a:spcPts val="10546"/>
              </a:lnSpc>
            </a:pPr>
            <a:r>
              <a:rPr lang="en-US" b="true" sz="8788">
                <a:solidFill>
                  <a:srgbClr val="FF621D"/>
                </a:solidFill>
                <a:latin typeface="Times New Roman Bold"/>
                <a:ea typeface="Times New Roman Bold"/>
                <a:cs typeface="Times New Roman Bold"/>
                <a:sym typeface="Times New Roman Bold"/>
              </a:rPr>
              <a:t>2</a:t>
            </a:r>
          </a:p>
        </p:txBody>
      </p:sp>
      <p:sp>
        <p:nvSpPr>
          <p:cNvPr name="TextBox 13" id="13"/>
          <p:cNvSpPr txBox="true"/>
          <p:nvPr/>
        </p:nvSpPr>
        <p:spPr>
          <a:xfrm rot="0">
            <a:off x="5675376" y="4759833"/>
            <a:ext cx="2706624" cy="933450"/>
          </a:xfrm>
          <a:prstGeom prst="rect">
            <a:avLst/>
          </a:prstGeom>
        </p:spPr>
        <p:txBody>
          <a:bodyPr anchor="t" rtlCol="false" tIns="0" lIns="0" bIns="0" rIns="0">
            <a:spAutoFit/>
          </a:bodyPr>
          <a:lstStyle/>
          <a:p>
            <a:pPr algn="l">
              <a:lnSpc>
                <a:spcPts val="3655"/>
              </a:lnSpc>
            </a:pPr>
            <a:r>
              <a:rPr lang="en-US" sz="3045" b="true">
                <a:solidFill>
                  <a:srgbClr val="000411"/>
                </a:solidFill>
                <a:latin typeface="Times New Roman Bold"/>
                <a:ea typeface="Times New Roman Bold"/>
                <a:cs typeface="Times New Roman Bold"/>
                <a:sym typeface="Times New Roman Bold"/>
              </a:rPr>
              <a:t>Planning &amp;</a:t>
            </a:r>
          </a:p>
          <a:p>
            <a:pPr algn="l">
              <a:lnSpc>
                <a:spcPts val="3655"/>
              </a:lnSpc>
            </a:pPr>
            <a:r>
              <a:rPr lang="en-US" sz="3045" b="true">
                <a:solidFill>
                  <a:srgbClr val="000411"/>
                </a:solidFill>
                <a:latin typeface="Times New Roman Bold"/>
                <a:ea typeface="Times New Roman Bold"/>
                <a:cs typeface="Times New Roman Bold"/>
                <a:sym typeface="Times New Roman Bold"/>
              </a:rPr>
              <a:t>Schema Design</a:t>
            </a:r>
          </a:p>
        </p:txBody>
      </p:sp>
      <p:sp>
        <p:nvSpPr>
          <p:cNvPr name="TextBox 14" id="14"/>
          <p:cNvSpPr txBox="true"/>
          <p:nvPr/>
        </p:nvSpPr>
        <p:spPr>
          <a:xfrm rot="0">
            <a:off x="5431536" y="6065119"/>
            <a:ext cx="3541429"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Choose infrastructure</a:t>
            </a:r>
          </a:p>
        </p:txBody>
      </p:sp>
      <p:sp>
        <p:nvSpPr>
          <p:cNvPr name="TextBox 15" id="15"/>
          <p:cNvSpPr txBox="true"/>
          <p:nvPr/>
        </p:nvSpPr>
        <p:spPr>
          <a:xfrm rot="0">
            <a:off x="5431536" y="7083532"/>
            <a:ext cx="3682670"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Select ETA/CDC tools</a:t>
            </a:r>
          </a:p>
        </p:txBody>
      </p:sp>
      <p:sp>
        <p:nvSpPr>
          <p:cNvPr name="TextBox 16" id="16"/>
          <p:cNvSpPr txBox="true"/>
          <p:nvPr/>
        </p:nvSpPr>
        <p:spPr>
          <a:xfrm rot="0">
            <a:off x="5431536" y="7587595"/>
            <a:ext cx="3539406"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Build rollback plan</a:t>
            </a:r>
          </a:p>
        </p:txBody>
      </p:sp>
      <p:sp>
        <p:nvSpPr>
          <p:cNvPr name="Freeform 17" id="17"/>
          <p:cNvSpPr/>
          <p:nvPr/>
        </p:nvSpPr>
        <p:spPr>
          <a:xfrm flipH="false" flipV="false" rot="0">
            <a:off x="6962775" y="3429000"/>
            <a:ext cx="2838450" cy="428625"/>
          </a:xfrm>
          <a:custGeom>
            <a:avLst/>
            <a:gdLst/>
            <a:ahLst/>
            <a:cxnLst/>
            <a:rect r="r" b="b" t="t" l="l"/>
            <a:pathLst>
              <a:path h="428625" w="2838450">
                <a:moveTo>
                  <a:pt x="0" y="0"/>
                </a:moveTo>
                <a:lnTo>
                  <a:pt x="2838450" y="0"/>
                </a:lnTo>
                <a:lnTo>
                  <a:pt x="2838450" y="428625"/>
                </a:lnTo>
                <a:lnTo>
                  <a:pt x="0" y="428625"/>
                </a:lnTo>
                <a:lnTo>
                  <a:pt x="0" y="0"/>
                </a:lnTo>
                <a:close/>
              </a:path>
            </a:pathLst>
          </a:custGeom>
          <a:blipFill>
            <a:blip r:embed="rId6"/>
            <a:stretch>
              <a:fillRect l="0" t="0" r="0" b="0"/>
            </a:stretch>
          </a:blipFill>
        </p:spPr>
      </p:sp>
      <p:sp>
        <p:nvSpPr>
          <p:cNvPr name="Freeform 18" id="18"/>
          <p:cNvSpPr/>
          <p:nvPr/>
        </p:nvSpPr>
        <p:spPr>
          <a:xfrm flipH="false" flipV="false" rot="0">
            <a:off x="9791700" y="2571750"/>
            <a:ext cx="1971675" cy="1933575"/>
          </a:xfrm>
          <a:custGeom>
            <a:avLst/>
            <a:gdLst/>
            <a:ahLst/>
            <a:cxnLst/>
            <a:rect r="r" b="b" t="t" l="l"/>
            <a:pathLst>
              <a:path h="1933575" w="1971675">
                <a:moveTo>
                  <a:pt x="0" y="0"/>
                </a:moveTo>
                <a:lnTo>
                  <a:pt x="1971675" y="0"/>
                </a:lnTo>
                <a:lnTo>
                  <a:pt x="1971675" y="1933575"/>
                </a:lnTo>
                <a:lnTo>
                  <a:pt x="0" y="1933575"/>
                </a:lnTo>
                <a:lnTo>
                  <a:pt x="0" y="0"/>
                </a:lnTo>
                <a:close/>
              </a:path>
            </a:pathLst>
          </a:custGeom>
          <a:blipFill>
            <a:blip r:embed="rId7"/>
            <a:stretch>
              <a:fillRect l="0" t="0" r="0" b="0"/>
            </a:stretch>
          </a:blipFill>
        </p:spPr>
      </p:sp>
      <p:sp>
        <p:nvSpPr>
          <p:cNvPr name="TextBox 19" id="19"/>
          <p:cNvSpPr txBox="true"/>
          <p:nvPr/>
        </p:nvSpPr>
        <p:spPr>
          <a:xfrm rot="0">
            <a:off x="10405872" y="2916174"/>
            <a:ext cx="694944" cy="1371600"/>
          </a:xfrm>
          <a:prstGeom prst="rect">
            <a:avLst/>
          </a:prstGeom>
        </p:spPr>
        <p:txBody>
          <a:bodyPr anchor="t" rtlCol="false" tIns="0" lIns="0" bIns="0" rIns="0">
            <a:spAutoFit/>
          </a:bodyPr>
          <a:lstStyle/>
          <a:p>
            <a:pPr algn="ctr">
              <a:lnSpc>
                <a:spcPts val="10546"/>
              </a:lnSpc>
            </a:pPr>
            <a:r>
              <a:rPr lang="en-US" b="true" sz="8788">
                <a:solidFill>
                  <a:srgbClr val="FF621D"/>
                </a:solidFill>
                <a:latin typeface="Times New Roman Bold"/>
                <a:ea typeface="Times New Roman Bold"/>
                <a:cs typeface="Times New Roman Bold"/>
                <a:sym typeface="Times New Roman Bold"/>
              </a:rPr>
              <a:t>3</a:t>
            </a:r>
          </a:p>
        </p:txBody>
      </p:sp>
      <p:sp>
        <p:nvSpPr>
          <p:cNvPr name="TextBox 20" id="20"/>
          <p:cNvSpPr txBox="true"/>
          <p:nvPr/>
        </p:nvSpPr>
        <p:spPr>
          <a:xfrm rot="0">
            <a:off x="10201275" y="4721733"/>
            <a:ext cx="2176272" cy="1000125"/>
          </a:xfrm>
          <a:prstGeom prst="rect">
            <a:avLst/>
          </a:prstGeom>
        </p:spPr>
        <p:txBody>
          <a:bodyPr anchor="t" rtlCol="false" tIns="0" lIns="0" bIns="0" rIns="0">
            <a:spAutoFit/>
          </a:bodyPr>
          <a:lstStyle/>
          <a:p>
            <a:pPr algn="l">
              <a:lnSpc>
                <a:spcPts val="3867"/>
              </a:lnSpc>
            </a:pPr>
            <a:r>
              <a:rPr lang="en-US" sz="3223" b="true">
                <a:solidFill>
                  <a:srgbClr val="000411"/>
                </a:solidFill>
                <a:latin typeface="Times New Roman Bold"/>
                <a:ea typeface="Times New Roman Bold"/>
                <a:cs typeface="Times New Roman Bold"/>
                <a:sym typeface="Times New Roman Bold"/>
              </a:rPr>
              <a:t>Execution &amp; Testing</a:t>
            </a:r>
          </a:p>
        </p:txBody>
      </p:sp>
      <p:sp>
        <p:nvSpPr>
          <p:cNvPr name="TextBox 21" id="21"/>
          <p:cNvSpPr txBox="true"/>
          <p:nvPr/>
        </p:nvSpPr>
        <p:spPr>
          <a:xfrm rot="0">
            <a:off x="9893808" y="6065569"/>
            <a:ext cx="2338793"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Run dry runs</a:t>
            </a:r>
          </a:p>
        </p:txBody>
      </p:sp>
      <p:sp>
        <p:nvSpPr>
          <p:cNvPr name="TextBox 22" id="22"/>
          <p:cNvSpPr txBox="true"/>
          <p:nvPr/>
        </p:nvSpPr>
        <p:spPr>
          <a:xfrm rot="0">
            <a:off x="9893808" y="7083532"/>
            <a:ext cx="3727140" cy="81915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Execute CDC incremental loads</a:t>
            </a:r>
          </a:p>
        </p:txBody>
      </p:sp>
      <p:sp>
        <p:nvSpPr>
          <p:cNvPr name="TextBox 23" id="23"/>
          <p:cNvSpPr txBox="true"/>
          <p:nvPr/>
        </p:nvSpPr>
        <p:spPr>
          <a:xfrm rot="0">
            <a:off x="9893808" y="7997932"/>
            <a:ext cx="3727140"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Validate data integrity</a:t>
            </a:r>
          </a:p>
        </p:txBody>
      </p:sp>
      <p:sp>
        <p:nvSpPr>
          <p:cNvPr name="Freeform 24" id="24"/>
          <p:cNvSpPr/>
          <p:nvPr/>
        </p:nvSpPr>
        <p:spPr>
          <a:xfrm flipH="false" flipV="false" rot="0">
            <a:off x="11534775" y="3429000"/>
            <a:ext cx="2619375" cy="428625"/>
          </a:xfrm>
          <a:custGeom>
            <a:avLst/>
            <a:gdLst/>
            <a:ahLst/>
            <a:cxnLst/>
            <a:rect r="r" b="b" t="t" l="l"/>
            <a:pathLst>
              <a:path h="428625" w="2619375">
                <a:moveTo>
                  <a:pt x="0" y="0"/>
                </a:moveTo>
                <a:lnTo>
                  <a:pt x="2619375" y="0"/>
                </a:lnTo>
                <a:lnTo>
                  <a:pt x="2619375" y="428625"/>
                </a:lnTo>
                <a:lnTo>
                  <a:pt x="0" y="428625"/>
                </a:lnTo>
                <a:lnTo>
                  <a:pt x="0" y="0"/>
                </a:lnTo>
                <a:close/>
              </a:path>
            </a:pathLst>
          </a:custGeom>
          <a:blipFill>
            <a:blip r:embed="rId8"/>
            <a:stretch>
              <a:fillRect l="0" t="0" r="0" b="0"/>
            </a:stretch>
          </a:blipFill>
        </p:spPr>
      </p:sp>
      <p:sp>
        <p:nvSpPr>
          <p:cNvPr name="Freeform 25" id="25"/>
          <p:cNvSpPr/>
          <p:nvPr/>
        </p:nvSpPr>
        <p:spPr>
          <a:xfrm flipH="false" flipV="false" rot="0">
            <a:off x="14144625" y="2571750"/>
            <a:ext cx="1971675" cy="1933575"/>
          </a:xfrm>
          <a:custGeom>
            <a:avLst/>
            <a:gdLst/>
            <a:ahLst/>
            <a:cxnLst/>
            <a:rect r="r" b="b" t="t" l="l"/>
            <a:pathLst>
              <a:path h="1933575" w="1971675">
                <a:moveTo>
                  <a:pt x="0" y="0"/>
                </a:moveTo>
                <a:lnTo>
                  <a:pt x="1971675" y="0"/>
                </a:lnTo>
                <a:lnTo>
                  <a:pt x="1971675" y="1933575"/>
                </a:lnTo>
                <a:lnTo>
                  <a:pt x="0" y="1933575"/>
                </a:lnTo>
                <a:lnTo>
                  <a:pt x="0" y="0"/>
                </a:lnTo>
                <a:close/>
              </a:path>
            </a:pathLst>
          </a:custGeom>
          <a:blipFill>
            <a:blip r:embed="rId9"/>
            <a:stretch>
              <a:fillRect l="0" t="0" r="0" b="0"/>
            </a:stretch>
          </a:blipFill>
        </p:spPr>
      </p:sp>
      <p:sp>
        <p:nvSpPr>
          <p:cNvPr name="TextBox 26" id="26"/>
          <p:cNvSpPr txBox="true"/>
          <p:nvPr/>
        </p:nvSpPr>
        <p:spPr>
          <a:xfrm rot="0">
            <a:off x="14813280" y="2916174"/>
            <a:ext cx="694944" cy="1371600"/>
          </a:xfrm>
          <a:prstGeom prst="rect">
            <a:avLst/>
          </a:prstGeom>
        </p:spPr>
        <p:txBody>
          <a:bodyPr anchor="t" rtlCol="false" tIns="0" lIns="0" bIns="0" rIns="0">
            <a:spAutoFit/>
          </a:bodyPr>
          <a:lstStyle/>
          <a:p>
            <a:pPr algn="ctr">
              <a:lnSpc>
                <a:spcPts val="10546"/>
              </a:lnSpc>
            </a:pPr>
            <a:r>
              <a:rPr lang="en-US" b="true" sz="8788">
                <a:solidFill>
                  <a:srgbClr val="FF621D"/>
                </a:solidFill>
                <a:latin typeface="Times New Roman Bold"/>
                <a:ea typeface="Times New Roman Bold"/>
                <a:cs typeface="Times New Roman Bold"/>
                <a:sym typeface="Times New Roman Bold"/>
              </a:rPr>
              <a:t>4</a:t>
            </a:r>
          </a:p>
        </p:txBody>
      </p:sp>
      <p:sp>
        <p:nvSpPr>
          <p:cNvPr name="TextBox 27" id="27"/>
          <p:cNvSpPr txBox="true"/>
          <p:nvPr/>
        </p:nvSpPr>
        <p:spPr>
          <a:xfrm rot="0">
            <a:off x="14621637" y="4750308"/>
            <a:ext cx="2596896" cy="942975"/>
          </a:xfrm>
          <a:prstGeom prst="rect">
            <a:avLst/>
          </a:prstGeom>
        </p:spPr>
        <p:txBody>
          <a:bodyPr anchor="t" rtlCol="false" tIns="0" lIns="0" bIns="0" rIns="0">
            <a:spAutoFit/>
          </a:bodyPr>
          <a:lstStyle/>
          <a:p>
            <a:pPr algn="l">
              <a:lnSpc>
                <a:spcPts val="3612"/>
              </a:lnSpc>
            </a:pPr>
            <a:r>
              <a:rPr lang="en-US" sz="3010" b="true">
                <a:solidFill>
                  <a:srgbClr val="000411"/>
                </a:solidFill>
                <a:latin typeface="Times New Roman Bold"/>
                <a:ea typeface="Times New Roman Bold"/>
                <a:cs typeface="Times New Roman Bold"/>
                <a:sym typeface="Times New Roman Bold"/>
              </a:rPr>
              <a:t>Cutover &amp;</a:t>
            </a:r>
          </a:p>
          <a:p>
            <a:pPr algn="l">
              <a:lnSpc>
                <a:spcPts val="3612"/>
              </a:lnSpc>
            </a:pPr>
            <a:r>
              <a:rPr lang="en-US" sz="3010" b="true">
                <a:solidFill>
                  <a:srgbClr val="000411"/>
                </a:solidFill>
                <a:latin typeface="Times New Roman Bold"/>
                <a:ea typeface="Times New Roman Bold"/>
                <a:cs typeface="Times New Roman Bold"/>
                <a:sym typeface="Times New Roman Bold"/>
              </a:rPr>
              <a:t>Post-Migration</a:t>
            </a:r>
          </a:p>
        </p:txBody>
      </p:sp>
      <p:sp>
        <p:nvSpPr>
          <p:cNvPr name="TextBox 28" id="28"/>
          <p:cNvSpPr txBox="true"/>
          <p:nvPr/>
        </p:nvSpPr>
        <p:spPr>
          <a:xfrm rot="0">
            <a:off x="14319504" y="6065119"/>
            <a:ext cx="2889504"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Re-point traffic</a:t>
            </a:r>
          </a:p>
        </p:txBody>
      </p:sp>
      <p:sp>
        <p:nvSpPr>
          <p:cNvPr name="TextBox 29" id="29"/>
          <p:cNvSpPr txBox="true"/>
          <p:nvPr/>
        </p:nvSpPr>
        <p:spPr>
          <a:xfrm rot="0">
            <a:off x="14319504" y="6573494"/>
            <a:ext cx="3569025" cy="81915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Monitor real-time metrics</a:t>
            </a:r>
          </a:p>
        </p:txBody>
      </p:sp>
      <p:sp>
        <p:nvSpPr>
          <p:cNvPr name="TextBox 30" id="30"/>
          <p:cNvSpPr txBox="true"/>
          <p:nvPr/>
        </p:nvSpPr>
        <p:spPr>
          <a:xfrm rot="0">
            <a:off x="14306748" y="7373594"/>
            <a:ext cx="2952552" cy="12192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Decommission legacy hardware safely</a:t>
            </a:r>
          </a:p>
        </p:txBody>
      </p:sp>
      <p:sp>
        <p:nvSpPr>
          <p:cNvPr name="TextBox 31" id="31"/>
          <p:cNvSpPr txBox="true"/>
          <p:nvPr/>
        </p:nvSpPr>
        <p:spPr>
          <a:xfrm rot="0">
            <a:off x="969264" y="6569182"/>
            <a:ext cx="3776668"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Map dependencies</a:t>
            </a:r>
          </a:p>
        </p:txBody>
      </p:sp>
      <p:sp>
        <p:nvSpPr>
          <p:cNvPr name="TextBox 32" id="32"/>
          <p:cNvSpPr txBox="true"/>
          <p:nvPr/>
        </p:nvSpPr>
        <p:spPr>
          <a:xfrm rot="0">
            <a:off x="5431536" y="6569182"/>
            <a:ext cx="3234362"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Design schemas</a:t>
            </a:r>
          </a:p>
        </p:txBody>
      </p:sp>
      <p:sp>
        <p:nvSpPr>
          <p:cNvPr name="TextBox 33" id="33"/>
          <p:cNvSpPr txBox="true"/>
          <p:nvPr/>
        </p:nvSpPr>
        <p:spPr>
          <a:xfrm rot="0">
            <a:off x="9893808" y="6573494"/>
            <a:ext cx="3178658" cy="419100"/>
          </a:xfrm>
          <a:prstGeom prst="rect">
            <a:avLst/>
          </a:prstGeom>
        </p:spPr>
        <p:txBody>
          <a:bodyPr anchor="t" rtlCol="false" tIns="0" lIns="0" bIns="0" rIns="0">
            <a:spAutoFit/>
          </a:bodyPr>
          <a:lstStyle/>
          <a:p>
            <a:pPr algn="l" marL="573443" indent="-286721" lvl="1">
              <a:lnSpc>
                <a:spcPts val="3187"/>
              </a:lnSpc>
              <a:buFont typeface="Arial"/>
              <a:buChar char="•"/>
            </a:pPr>
            <a:r>
              <a:rPr lang="en-US" sz="2656" strike="noStrike" u="none">
                <a:solidFill>
                  <a:srgbClr val="000411"/>
                </a:solidFill>
                <a:latin typeface="Times New Roman"/>
                <a:ea typeface="Times New Roman"/>
                <a:cs typeface="Times New Roman"/>
                <a:sym typeface="Times New Roman"/>
              </a:rPr>
              <a:t>Perform full syncs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TextBox 2" id="2"/>
          <p:cNvSpPr txBox="true"/>
          <p:nvPr/>
        </p:nvSpPr>
        <p:spPr>
          <a:xfrm rot="0">
            <a:off x="981075" y="990800"/>
            <a:ext cx="8763386" cy="1076125"/>
          </a:xfrm>
          <a:prstGeom prst="rect">
            <a:avLst/>
          </a:prstGeom>
        </p:spPr>
        <p:txBody>
          <a:bodyPr anchor="t" rtlCol="false" tIns="0" lIns="0" bIns="0" rIns="0">
            <a:spAutoFit/>
          </a:bodyPr>
          <a:lstStyle/>
          <a:p>
            <a:pPr algn="l">
              <a:lnSpc>
                <a:spcPts val="7867"/>
              </a:lnSpc>
            </a:pPr>
            <a:r>
              <a:rPr lang="en-US" sz="7867" spc="-314">
                <a:solidFill>
                  <a:srgbClr val="000411"/>
                </a:solidFill>
                <a:latin typeface="Times New Roman"/>
                <a:ea typeface="Times New Roman"/>
                <a:cs typeface="Times New Roman"/>
                <a:sym typeface="Times New Roman"/>
              </a:rPr>
              <a:t>KEY ADVANTAGES</a:t>
            </a:r>
          </a:p>
        </p:txBody>
      </p:sp>
      <p:sp>
        <p:nvSpPr>
          <p:cNvPr name="Freeform 3" id="3"/>
          <p:cNvSpPr/>
          <p:nvPr/>
        </p:nvSpPr>
        <p:spPr>
          <a:xfrm flipH="false" flipV="false" rot="0">
            <a:off x="866775" y="2143125"/>
            <a:ext cx="228600" cy="1504950"/>
          </a:xfrm>
          <a:custGeom>
            <a:avLst/>
            <a:gdLst/>
            <a:ahLst/>
            <a:cxnLst/>
            <a:rect r="r" b="b" t="t" l="l"/>
            <a:pathLst>
              <a:path h="1504950" w="228600">
                <a:moveTo>
                  <a:pt x="0" y="0"/>
                </a:moveTo>
                <a:lnTo>
                  <a:pt x="228600" y="0"/>
                </a:lnTo>
                <a:lnTo>
                  <a:pt x="228600" y="1504950"/>
                </a:lnTo>
                <a:lnTo>
                  <a:pt x="0" y="1504950"/>
                </a:lnTo>
                <a:lnTo>
                  <a:pt x="0" y="0"/>
                </a:lnTo>
                <a:close/>
              </a:path>
            </a:pathLst>
          </a:custGeom>
          <a:blipFill>
            <a:blip r:embed="rId2"/>
            <a:stretch>
              <a:fillRect l="0" t="0" r="0" b="0"/>
            </a:stretch>
          </a:blipFill>
        </p:spPr>
      </p:sp>
      <p:sp>
        <p:nvSpPr>
          <p:cNvPr name="TextBox 4" id="4"/>
          <p:cNvSpPr txBox="true"/>
          <p:nvPr/>
        </p:nvSpPr>
        <p:spPr>
          <a:xfrm rot="0">
            <a:off x="1517904" y="2200656"/>
            <a:ext cx="5994020" cy="476250"/>
          </a:xfrm>
          <a:prstGeom prst="rect">
            <a:avLst/>
          </a:prstGeom>
        </p:spPr>
        <p:txBody>
          <a:bodyPr anchor="t" rtlCol="false" tIns="0" lIns="0" bIns="0" rIns="0">
            <a:spAutoFit/>
          </a:bodyPr>
          <a:lstStyle/>
          <a:p>
            <a:pPr algn="l">
              <a:lnSpc>
                <a:spcPts val="3655"/>
              </a:lnSpc>
            </a:pPr>
            <a:r>
              <a:rPr lang="en-US" b="true" sz="3045">
                <a:solidFill>
                  <a:srgbClr val="FF621D"/>
                </a:solidFill>
                <a:latin typeface="Times New Roman Bold"/>
                <a:ea typeface="Times New Roman Bold"/>
                <a:cs typeface="Times New Roman Bold"/>
                <a:sym typeface="Times New Roman Bold"/>
              </a:rPr>
              <a:t>IMPROVED SCALABILITY</a:t>
            </a:r>
          </a:p>
        </p:txBody>
      </p:sp>
      <p:sp>
        <p:nvSpPr>
          <p:cNvPr name="TextBox 5" id="5"/>
          <p:cNvSpPr txBox="true"/>
          <p:nvPr/>
        </p:nvSpPr>
        <p:spPr>
          <a:xfrm rot="0">
            <a:off x="1517904" y="2730246"/>
            <a:ext cx="6181344" cy="857250"/>
          </a:xfrm>
          <a:prstGeom prst="rect">
            <a:avLst/>
          </a:prstGeom>
        </p:spPr>
        <p:txBody>
          <a:bodyPr anchor="t" rtlCol="false" tIns="0" lIns="0" bIns="0" rIns="0">
            <a:spAutoFit/>
          </a:bodyPr>
          <a:lstStyle/>
          <a:p>
            <a:pPr algn="l">
              <a:lnSpc>
                <a:spcPts val="3357"/>
              </a:lnSpc>
            </a:pPr>
            <a:r>
              <a:rPr lang="en-US" sz="2797">
                <a:solidFill>
                  <a:srgbClr val="000411"/>
                </a:solidFill>
                <a:latin typeface="Times New Roman"/>
                <a:ea typeface="Times New Roman"/>
                <a:cs typeface="Times New Roman"/>
                <a:sym typeface="Times New Roman"/>
              </a:rPr>
              <a:t>Elastic cloud storage and compute handle application workload spikes.</a:t>
            </a:r>
          </a:p>
        </p:txBody>
      </p:sp>
      <p:sp>
        <p:nvSpPr>
          <p:cNvPr name="Freeform 6" id="6"/>
          <p:cNvSpPr/>
          <p:nvPr/>
        </p:nvSpPr>
        <p:spPr>
          <a:xfrm flipH="false" flipV="false" rot="0">
            <a:off x="866775" y="4067175"/>
            <a:ext cx="228600" cy="1504950"/>
          </a:xfrm>
          <a:custGeom>
            <a:avLst/>
            <a:gdLst/>
            <a:ahLst/>
            <a:cxnLst/>
            <a:rect r="r" b="b" t="t" l="l"/>
            <a:pathLst>
              <a:path h="1504950" w="228600">
                <a:moveTo>
                  <a:pt x="0" y="0"/>
                </a:moveTo>
                <a:lnTo>
                  <a:pt x="228600" y="0"/>
                </a:lnTo>
                <a:lnTo>
                  <a:pt x="228600" y="1504950"/>
                </a:lnTo>
                <a:lnTo>
                  <a:pt x="0" y="1504950"/>
                </a:lnTo>
                <a:lnTo>
                  <a:pt x="0" y="0"/>
                </a:lnTo>
                <a:close/>
              </a:path>
            </a:pathLst>
          </a:custGeom>
          <a:blipFill>
            <a:blip r:embed="rId3"/>
            <a:stretch>
              <a:fillRect l="0" t="0" r="0" b="0"/>
            </a:stretch>
          </a:blipFill>
        </p:spPr>
      </p:sp>
      <p:sp>
        <p:nvSpPr>
          <p:cNvPr name="TextBox 7" id="7"/>
          <p:cNvSpPr txBox="true"/>
          <p:nvPr/>
        </p:nvSpPr>
        <p:spPr>
          <a:xfrm rot="0">
            <a:off x="1517904" y="4158425"/>
            <a:ext cx="7254633" cy="438150"/>
          </a:xfrm>
          <a:prstGeom prst="rect">
            <a:avLst/>
          </a:prstGeom>
        </p:spPr>
        <p:txBody>
          <a:bodyPr anchor="t" rtlCol="false" tIns="0" lIns="0" bIns="0" rIns="0">
            <a:spAutoFit/>
          </a:bodyPr>
          <a:lstStyle/>
          <a:p>
            <a:pPr algn="l">
              <a:lnSpc>
                <a:spcPts val="3399"/>
              </a:lnSpc>
            </a:pPr>
            <a:r>
              <a:rPr lang="en-US" b="true" sz="2833">
                <a:solidFill>
                  <a:srgbClr val="FF621D"/>
                </a:solidFill>
                <a:latin typeface="Times New Roman Bold"/>
                <a:ea typeface="Times New Roman Bold"/>
                <a:cs typeface="Times New Roman Bold"/>
                <a:sym typeface="Times New Roman Bold"/>
              </a:rPr>
              <a:t>ENHANCED SYSTEM PERFORMANCE</a:t>
            </a:r>
          </a:p>
        </p:txBody>
      </p:sp>
      <p:sp>
        <p:nvSpPr>
          <p:cNvPr name="TextBox 8" id="8"/>
          <p:cNvSpPr txBox="true"/>
          <p:nvPr/>
        </p:nvSpPr>
        <p:spPr>
          <a:xfrm rot="0">
            <a:off x="1517904" y="4664202"/>
            <a:ext cx="6729984" cy="857250"/>
          </a:xfrm>
          <a:prstGeom prst="rect">
            <a:avLst/>
          </a:prstGeom>
        </p:spPr>
        <p:txBody>
          <a:bodyPr anchor="t" rtlCol="false" tIns="0" lIns="0" bIns="0" rIns="0">
            <a:spAutoFit/>
          </a:bodyPr>
          <a:lstStyle/>
          <a:p>
            <a:pPr algn="l">
              <a:lnSpc>
                <a:spcPts val="3357"/>
              </a:lnSpc>
            </a:pPr>
            <a:r>
              <a:rPr lang="en-US" sz="2797">
                <a:solidFill>
                  <a:srgbClr val="000411"/>
                </a:solidFill>
                <a:latin typeface="Times New Roman"/>
                <a:ea typeface="Times New Roman"/>
                <a:cs typeface="Times New Roman"/>
                <a:sym typeface="Times New Roman"/>
              </a:rPr>
              <a:t>Modern database architectures reduce query latency and accelerate processing.</a:t>
            </a:r>
          </a:p>
        </p:txBody>
      </p:sp>
      <p:sp>
        <p:nvSpPr>
          <p:cNvPr name="Freeform 9" id="9"/>
          <p:cNvSpPr/>
          <p:nvPr/>
        </p:nvSpPr>
        <p:spPr>
          <a:xfrm flipH="false" flipV="false" rot="0">
            <a:off x="866775" y="6000750"/>
            <a:ext cx="228600" cy="1504950"/>
          </a:xfrm>
          <a:custGeom>
            <a:avLst/>
            <a:gdLst/>
            <a:ahLst/>
            <a:cxnLst/>
            <a:rect r="r" b="b" t="t" l="l"/>
            <a:pathLst>
              <a:path h="1504950" w="228600">
                <a:moveTo>
                  <a:pt x="0" y="0"/>
                </a:moveTo>
                <a:lnTo>
                  <a:pt x="228600" y="0"/>
                </a:lnTo>
                <a:lnTo>
                  <a:pt x="228600" y="1504950"/>
                </a:lnTo>
                <a:lnTo>
                  <a:pt x="0" y="1504950"/>
                </a:lnTo>
                <a:lnTo>
                  <a:pt x="0" y="0"/>
                </a:lnTo>
                <a:close/>
              </a:path>
            </a:pathLst>
          </a:custGeom>
          <a:blipFill>
            <a:blip r:embed="rId4"/>
            <a:stretch>
              <a:fillRect l="0" t="0" r="0" b="0"/>
            </a:stretch>
          </a:blipFill>
        </p:spPr>
      </p:sp>
      <p:sp>
        <p:nvSpPr>
          <p:cNvPr name="TextBox 10" id="10"/>
          <p:cNvSpPr txBox="true"/>
          <p:nvPr/>
        </p:nvSpPr>
        <p:spPr>
          <a:xfrm rot="0">
            <a:off x="1517904" y="6016371"/>
            <a:ext cx="4825241" cy="457200"/>
          </a:xfrm>
          <a:prstGeom prst="rect">
            <a:avLst/>
          </a:prstGeom>
        </p:spPr>
        <p:txBody>
          <a:bodyPr anchor="t" rtlCol="false" tIns="0" lIns="0" bIns="0" rIns="0">
            <a:spAutoFit/>
          </a:bodyPr>
          <a:lstStyle/>
          <a:p>
            <a:pPr algn="l">
              <a:lnSpc>
                <a:spcPts val="3485"/>
              </a:lnSpc>
            </a:pPr>
            <a:r>
              <a:rPr lang="en-US" b="true" sz="2904">
                <a:solidFill>
                  <a:srgbClr val="FF621D"/>
                </a:solidFill>
                <a:latin typeface="Times New Roman Bold"/>
                <a:ea typeface="Times New Roman Bold"/>
                <a:cs typeface="Times New Roman Bold"/>
                <a:sym typeface="Times New Roman Bold"/>
              </a:rPr>
              <a:t>COST EFFICIENCY</a:t>
            </a:r>
          </a:p>
        </p:txBody>
      </p:sp>
      <p:sp>
        <p:nvSpPr>
          <p:cNvPr name="TextBox 11" id="11"/>
          <p:cNvSpPr txBox="true"/>
          <p:nvPr/>
        </p:nvSpPr>
        <p:spPr>
          <a:xfrm rot="0">
            <a:off x="1517904" y="6545961"/>
            <a:ext cx="6455664" cy="838200"/>
          </a:xfrm>
          <a:prstGeom prst="rect">
            <a:avLst/>
          </a:prstGeom>
        </p:spPr>
        <p:txBody>
          <a:bodyPr anchor="t" rtlCol="false" tIns="0" lIns="0" bIns="0" rIns="0">
            <a:spAutoFit/>
          </a:bodyPr>
          <a:lstStyle/>
          <a:p>
            <a:pPr algn="l">
              <a:lnSpc>
                <a:spcPts val="3272"/>
              </a:lnSpc>
            </a:pPr>
            <a:r>
              <a:rPr lang="en-US" sz="2726">
                <a:solidFill>
                  <a:srgbClr val="000411"/>
                </a:solidFill>
                <a:latin typeface="Times New Roman"/>
                <a:ea typeface="Times New Roman"/>
                <a:cs typeface="Times New Roman"/>
                <a:sym typeface="Times New Roman"/>
              </a:rPr>
              <a:t>Managed database services lower licensing costs and operational overhead.</a:t>
            </a:r>
          </a:p>
        </p:txBody>
      </p:sp>
      <p:sp>
        <p:nvSpPr>
          <p:cNvPr name="Freeform 12" id="12"/>
          <p:cNvSpPr/>
          <p:nvPr/>
        </p:nvSpPr>
        <p:spPr>
          <a:xfrm flipH="false" flipV="false" rot="0">
            <a:off x="866775" y="7924800"/>
            <a:ext cx="228600" cy="1504950"/>
          </a:xfrm>
          <a:custGeom>
            <a:avLst/>
            <a:gdLst/>
            <a:ahLst/>
            <a:cxnLst/>
            <a:rect r="r" b="b" t="t" l="l"/>
            <a:pathLst>
              <a:path h="1504950" w="228600">
                <a:moveTo>
                  <a:pt x="0" y="0"/>
                </a:moveTo>
                <a:lnTo>
                  <a:pt x="228600" y="0"/>
                </a:lnTo>
                <a:lnTo>
                  <a:pt x="228600" y="1504950"/>
                </a:lnTo>
                <a:lnTo>
                  <a:pt x="0" y="1504950"/>
                </a:lnTo>
                <a:lnTo>
                  <a:pt x="0" y="0"/>
                </a:lnTo>
                <a:close/>
              </a:path>
            </a:pathLst>
          </a:custGeom>
          <a:blipFill>
            <a:blip r:embed="rId5"/>
            <a:stretch>
              <a:fillRect l="0" t="0" r="0" b="0"/>
            </a:stretch>
          </a:blipFill>
        </p:spPr>
      </p:sp>
      <p:sp>
        <p:nvSpPr>
          <p:cNvPr name="TextBox 13" id="13"/>
          <p:cNvSpPr txBox="true"/>
          <p:nvPr/>
        </p:nvSpPr>
        <p:spPr>
          <a:xfrm rot="0">
            <a:off x="1517904" y="7883843"/>
            <a:ext cx="8226557" cy="914400"/>
          </a:xfrm>
          <a:prstGeom prst="rect">
            <a:avLst/>
          </a:prstGeom>
        </p:spPr>
        <p:txBody>
          <a:bodyPr anchor="t" rtlCol="false" tIns="0" lIns="0" bIns="0" rIns="0">
            <a:spAutoFit/>
          </a:bodyPr>
          <a:lstStyle/>
          <a:p>
            <a:pPr algn="l">
              <a:lnSpc>
                <a:spcPts val="3527"/>
              </a:lnSpc>
            </a:pPr>
            <a:r>
              <a:rPr lang="en-US" b="true" sz="2939">
                <a:solidFill>
                  <a:srgbClr val="FF621D"/>
                </a:solidFill>
                <a:latin typeface="Times New Roman Bold"/>
                <a:ea typeface="Times New Roman Bold"/>
                <a:cs typeface="Times New Roman Bold"/>
                <a:sym typeface="Times New Roman Bold"/>
              </a:rPr>
              <a:t>HIGH AVAILABILITY &amp; DISASTER RECOVERY</a:t>
            </a:r>
          </a:p>
        </p:txBody>
      </p:sp>
      <p:sp>
        <p:nvSpPr>
          <p:cNvPr name="TextBox 14" id="14"/>
          <p:cNvSpPr txBox="true"/>
          <p:nvPr/>
        </p:nvSpPr>
        <p:spPr>
          <a:xfrm rot="0">
            <a:off x="1517904" y="8829675"/>
            <a:ext cx="6675120" cy="857250"/>
          </a:xfrm>
          <a:prstGeom prst="rect">
            <a:avLst/>
          </a:prstGeom>
        </p:spPr>
        <p:txBody>
          <a:bodyPr anchor="t" rtlCol="false" tIns="0" lIns="0" bIns="0" rIns="0">
            <a:spAutoFit/>
          </a:bodyPr>
          <a:lstStyle/>
          <a:p>
            <a:pPr algn="l">
              <a:lnSpc>
                <a:spcPts val="3357"/>
              </a:lnSpc>
            </a:pPr>
            <a:r>
              <a:rPr lang="en-US" sz="2797">
                <a:solidFill>
                  <a:srgbClr val="000411"/>
                </a:solidFill>
                <a:latin typeface="Times New Roman"/>
                <a:ea typeface="Times New Roman"/>
                <a:cs typeface="Times New Roman"/>
                <a:sym typeface="Times New Roman"/>
              </a:rPr>
              <a:t>Multi-region replication, automated backups, and higher uptime guarantees.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8486775" y="0"/>
            <a:ext cx="9801225" cy="10287000"/>
          </a:xfrm>
          <a:custGeom>
            <a:avLst/>
            <a:gdLst/>
            <a:ahLst/>
            <a:cxnLst/>
            <a:rect r="r" b="b" t="t" l="l"/>
            <a:pathLst>
              <a:path h="10287000" w="9801225">
                <a:moveTo>
                  <a:pt x="0" y="0"/>
                </a:moveTo>
                <a:lnTo>
                  <a:pt x="9801225" y="0"/>
                </a:lnTo>
                <a:lnTo>
                  <a:pt x="9801225"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1792" y="1042770"/>
            <a:ext cx="11083059" cy="1887691"/>
          </a:xfrm>
          <a:prstGeom prst="rect">
            <a:avLst/>
          </a:prstGeom>
        </p:spPr>
        <p:txBody>
          <a:bodyPr anchor="t" rtlCol="false" tIns="0" lIns="0" bIns="0" rIns="0">
            <a:spAutoFit/>
          </a:bodyPr>
          <a:lstStyle/>
          <a:p>
            <a:pPr algn="l">
              <a:lnSpc>
                <a:spcPts val="7193"/>
              </a:lnSpc>
            </a:pPr>
            <a:r>
              <a:rPr lang="en-US" sz="7193" spc="-143">
                <a:solidFill>
                  <a:srgbClr val="000411"/>
                </a:solidFill>
                <a:latin typeface="Times New Roman"/>
                <a:ea typeface="Times New Roman"/>
                <a:cs typeface="Times New Roman"/>
                <a:sym typeface="Times New Roman"/>
              </a:rPr>
              <a:t>REAL-WORLD APPLICATIONS </a:t>
            </a:r>
          </a:p>
        </p:txBody>
      </p:sp>
      <p:sp>
        <p:nvSpPr>
          <p:cNvPr name="TextBox 4" id="4"/>
          <p:cNvSpPr txBox="true"/>
          <p:nvPr/>
        </p:nvSpPr>
        <p:spPr>
          <a:xfrm rot="0">
            <a:off x="621792" y="3149536"/>
            <a:ext cx="6233462" cy="409575"/>
          </a:xfrm>
          <a:prstGeom prst="rect">
            <a:avLst/>
          </a:prstGeom>
        </p:spPr>
        <p:txBody>
          <a:bodyPr anchor="t" rtlCol="false" tIns="0" lIns="0" bIns="0" rIns="0">
            <a:spAutoFit/>
          </a:bodyPr>
          <a:lstStyle/>
          <a:p>
            <a:pPr algn="l">
              <a:lnSpc>
                <a:spcPts val="3144"/>
              </a:lnSpc>
            </a:pPr>
            <a:r>
              <a:rPr lang="en-US" b="true" sz="2620">
                <a:solidFill>
                  <a:srgbClr val="FF621D"/>
                </a:solidFill>
                <a:latin typeface="Times New Roman Bold"/>
                <a:ea typeface="Times New Roman Bold"/>
                <a:cs typeface="Times New Roman Bold"/>
                <a:sym typeface="Times New Roman Bold"/>
              </a:rPr>
              <a:t>MONOLITH TO MICROSERVICES</a:t>
            </a:r>
          </a:p>
        </p:txBody>
      </p:sp>
      <p:sp>
        <p:nvSpPr>
          <p:cNvPr name="TextBox 5" id="5"/>
          <p:cNvSpPr txBox="true"/>
          <p:nvPr/>
        </p:nvSpPr>
        <p:spPr>
          <a:xfrm rot="0">
            <a:off x="621792" y="3629456"/>
            <a:ext cx="4389120" cy="788570"/>
          </a:xfrm>
          <a:prstGeom prst="rect">
            <a:avLst/>
          </a:prstGeom>
        </p:spPr>
        <p:txBody>
          <a:bodyPr anchor="t" rtlCol="false" tIns="0" lIns="0" bIns="0" rIns="0">
            <a:spAutoFit/>
          </a:bodyPr>
          <a:lstStyle/>
          <a:p>
            <a:pPr algn="l">
              <a:lnSpc>
                <a:spcPts val="3130"/>
              </a:lnSpc>
            </a:pPr>
            <a:r>
              <a:rPr lang="en-US" sz="2407" b="true">
                <a:solidFill>
                  <a:srgbClr val="000411"/>
                </a:solidFill>
                <a:latin typeface="Times New Roman Bold"/>
                <a:ea typeface="Times New Roman Bold"/>
                <a:cs typeface="Times New Roman Bold"/>
                <a:sym typeface="Times New Roman Bold"/>
              </a:rPr>
              <a:t>Separate domain databases for payments, users, and inventory.</a:t>
            </a:r>
          </a:p>
        </p:txBody>
      </p:sp>
      <p:sp>
        <p:nvSpPr>
          <p:cNvPr name="Freeform 6" id="6"/>
          <p:cNvSpPr/>
          <p:nvPr/>
        </p:nvSpPr>
        <p:spPr>
          <a:xfrm flipH="false" flipV="false" rot="0">
            <a:off x="428625" y="4495800"/>
            <a:ext cx="6981825" cy="219075"/>
          </a:xfrm>
          <a:custGeom>
            <a:avLst/>
            <a:gdLst/>
            <a:ahLst/>
            <a:cxnLst/>
            <a:rect r="r" b="b" t="t" l="l"/>
            <a:pathLst>
              <a:path h="219075" w="6981825">
                <a:moveTo>
                  <a:pt x="0" y="0"/>
                </a:moveTo>
                <a:lnTo>
                  <a:pt x="6981825" y="0"/>
                </a:lnTo>
                <a:lnTo>
                  <a:pt x="6981825" y="219075"/>
                </a:lnTo>
                <a:lnTo>
                  <a:pt x="0" y="219075"/>
                </a:lnTo>
                <a:lnTo>
                  <a:pt x="0" y="0"/>
                </a:lnTo>
                <a:close/>
              </a:path>
            </a:pathLst>
          </a:custGeom>
          <a:blipFill>
            <a:blip r:embed="rId3"/>
            <a:stretch>
              <a:fillRect l="0" t="0" r="0" b="0"/>
            </a:stretch>
          </a:blipFill>
        </p:spPr>
      </p:sp>
      <p:sp>
        <p:nvSpPr>
          <p:cNvPr name="TextBox 7" id="7"/>
          <p:cNvSpPr txBox="true"/>
          <p:nvPr/>
        </p:nvSpPr>
        <p:spPr>
          <a:xfrm rot="0">
            <a:off x="621792" y="4929188"/>
            <a:ext cx="5248999" cy="409575"/>
          </a:xfrm>
          <a:prstGeom prst="rect">
            <a:avLst/>
          </a:prstGeom>
        </p:spPr>
        <p:txBody>
          <a:bodyPr anchor="t" rtlCol="false" tIns="0" lIns="0" bIns="0" rIns="0">
            <a:spAutoFit/>
          </a:bodyPr>
          <a:lstStyle/>
          <a:p>
            <a:pPr algn="l">
              <a:lnSpc>
                <a:spcPts val="3144"/>
              </a:lnSpc>
            </a:pPr>
            <a:r>
              <a:rPr lang="en-US" b="true" sz="2620">
                <a:solidFill>
                  <a:srgbClr val="FF621D"/>
                </a:solidFill>
                <a:latin typeface="Times New Roman Bold"/>
                <a:ea typeface="Times New Roman Bold"/>
                <a:cs typeface="Times New Roman Bold"/>
                <a:sym typeface="Times New Roman Bold"/>
              </a:rPr>
              <a:t>ON-PREMISES TO CLOUD</a:t>
            </a:r>
          </a:p>
        </p:txBody>
      </p:sp>
      <p:sp>
        <p:nvSpPr>
          <p:cNvPr name="TextBox 8" id="8"/>
          <p:cNvSpPr txBox="true"/>
          <p:nvPr/>
        </p:nvSpPr>
        <p:spPr>
          <a:xfrm rot="0">
            <a:off x="621792" y="5428694"/>
            <a:ext cx="6528816" cy="779495"/>
          </a:xfrm>
          <a:prstGeom prst="rect">
            <a:avLst/>
          </a:prstGeom>
        </p:spPr>
        <p:txBody>
          <a:bodyPr anchor="t" rtlCol="false" tIns="0" lIns="0" bIns="0" rIns="0">
            <a:spAutoFit/>
          </a:bodyPr>
          <a:lstStyle/>
          <a:p>
            <a:pPr algn="l">
              <a:lnSpc>
                <a:spcPts val="3084"/>
              </a:lnSpc>
            </a:pPr>
            <a:r>
              <a:rPr lang="en-US" sz="2372" b="true">
                <a:solidFill>
                  <a:srgbClr val="000411"/>
                </a:solidFill>
                <a:latin typeface="Times New Roman Bold"/>
                <a:ea typeface="Times New Roman Bold"/>
                <a:cs typeface="Times New Roman Bold"/>
                <a:sym typeface="Times New Roman Bold"/>
              </a:rPr>
              <a:t>Move SQL Server or Oracle to </a:t>
            </a:r>
          </a:p>
          <a:p>
            <a:pPr algn="l">
              <a:lnSpc>
                <a:spcPts val="3084"/>
              </a:lnSpc>
            </a:pPr>
            <a:r>
              <a:rPr lang="en-US" sz="2372" b="true">
                <a:solidFill>
                  <a:srgbClr val="000411"/>
                </a:solidFill>
                <a:latin typeface="Times New Roman Bold"/>
                <a:ea typeface="Times New Roman Bold"/>
                <a:cs typeface="Times New Roman Bold"/>
                <a:sym typeface="Times New Roman Bold"/>
              </a:rPr>
              <a:t>AWS RDS, Azure SQL, or Google Cloud Spanner.</a:t>
            </a:r>
          </a:p>
        </p:txBody>
      </p:sp>
      <p:sp>
        <p:nvSpPr>
          <p:cNvPr name="Freeform 9" id="9"/>
          <p:cNvSpPr/>
          <p:nvPr/>
        </p:nvSpPr>
        <p:spPr>
          <a:xfrm flipH="false" flipV="false" rot="0">
            <a:off x="428625" y="6429375"/>
            <a:ext cx="6981825" cy="219075"/>
          </a:xfrm>
          <a:custGeom>
            <a:avLst/>
            <a:gdLst/>
            <a:ahLst/>
            <a:cxnLst/>
            <a:rect r="r" b="b" t="t" l="l"/>
            <a:pathLst>
              <a:path h="219075" w="6981825">
                <a:moveTo>
                  <a:pt x="0" y="0"/>
                </a:moveTo>
                <a:lnTo>
                  <a:pt x="6981825" y="0"/>
                </a:lnTo>
                <a:lnTo>
                  <a:pt x="6981825" y="219075"/>
                </a:lnTo>
                <a:lnTo>
                  <a:pt x="0" y="219075"/>
                </a:lnTo>
                <a:lnTo>
                  <a:pt x="0" y="0"/>
                </a:lnTo>
                <a:close/>
              </a:path>
            </a:pathLst>
          </a:custGeom>
          <a:blipFill>
            <a:blip r:embed="rId4"/>
            <a:stretch>
              <a:fillRect l="0" t="0" r="0" b="0"/>
            </a:stretch>
          </a:blipFill>
        </p:spPr>
      </p:sp>
      <p:sp>
        <p:nvSpPr>
          <p:cNvPr name="TextBox 10" id="10"/>
          <p:cNvSpPr txBox="true"/>
          <p:nvPr/>
        </p:nvSpPr>
        <p:spPr>
          <a:xfrm rot="0">
            <a:off x="621792" y="6719125"/>
            <a:ext cx="4187952" cy="409575"/>
          </a:xfrm>
          <a:prstGeom prst="rect">
            <a:avLst/>
          </a:prstGeom>
        </p:spPr>
        <p:txBody>
          <a:bodyPr anchor="t" rtlCol="false" tIns="0" lIns="0" bIns="0" rIns="0">
            <a:spAutoFit/>
          </a:bodyPr>
          <a:lstStyle/>
          <a:p>
            <a:pPr algn="l">
              <a:lnSpc>
                <a:spcPts val="3144"/>
              </a:lnSpc>
            </a:pPr>
            <a:r>
              <a:rPr lang="en-US" b="true" sz="2620">
                <a:solidFill>
                  <a:srgbClr val="FF621D"/>
                </a:solidFill>
                <a:latin typeface="Times New Roman Bold"/>
                <a:ea typeface="Times New Roman Bold"/>
                <a:cs typeface="Times New Roman Bold"/>
                <a:sym typeface="Times New Roman Bold"/>
              </a:rPr>
              <a:t>SQL TO SQL MIGRATION</a:t>
            </a:r>
          </a:p>
        </p:txBody>
      </p:sp>
      <p:sp>
        <p:nvSpPr>
          <p:cNvPr name="TextBox 11" id="11"/>
          <p:cNvSpPr txBox="true"/>
          <p:nvPr/>
        </p:nvSpPr>
        <p:spPr>
          <a:xfrm rot="0">
            <a:off x="621792" y="7209332"/>
            <a:ext cx="5376672" cy="788570"/>
          </a:xfrm>
          <a:prstGeom prst="rect">
            <a:avLst/>
          </a:prstGeom>
        </p:spPr>
        <p:txBody>
          <a:bodyPr anchor="t" rtlCol="false" tIns="0" lIns="0" bIns="0" rIns="0">
            <a:spAutoFit/>
          </a:bodyPr>
          <a:lstStyle/>
          <a:p>
            <a:pPr algn="l">
              <a:lnSpc>
                <a:spcPts val="3130"/>
              </a:lnSpc>
            </a:pPr>
            <a:r>
              <a:rPr lang="en-US" sz="2407" b="true">
                <a:solidFill>
                  <a:srgbClr val="000411"/>
                </a:solidFill>
                <a:latin typeface="Times New Roman Bold"/>
                <a:ea typeface="Times New Roman Bold"/>
                <a:cs typeface="Times New Roman Bold"/>
                <a:sym typeface="Times New Roman Bold"/>
              </a:rPr>
              <a:t>Move unstructured or semi-structured data to MongoDB or DynamoDB.</a:t>
            </a:r>
          </a:p>
        </p:txBody>
      </p:sp>
      <p:sp>
        <p:nvSpPr>
          <p:cNvPr name="Freeform 12" id="12"/>
          <p:cNvSpPr/>
          <p:nvPr/>
        </p:nvSpPr>
        <p:spPr>
          <a:xfrm flipH="false" flipV="false" rot="0">
            <a:off x="428625" y="8143875"/>
            <a:ext cx="6981825" cy="219075"/>
          </a:xfrm>
          <a:custGeom>
            <a:avLst/>
            <a:gdLst/>
            <a:ahLst/>
            <a:cxnLst/>
            <a:rect r="r" b="b" t="t" l="l"/>
            <a:pathLst>
              <a:path h="219075" w="6981825">
                <a:moveTo>
                  <a:pt x="0" y="0"/>
                </a:moveTo>
                <a:lnTo>
                  <a:pt x="6981825" y="0"/>
                </a:lnTo>
                <a:lnTo>
                  <a:pt x="6981825" y="219075"/>
                </a:lnTo>
                <a:lnTo>
                  <a:pt x="0" y="219075"/>
                </a:lnTo>
                <a:lnTo>
                  <a:pt x="0" y="0"/>
                </a:lnTo>
                <a:close/>
              </a:path>
            </a:pathLst>
          </a:custGeom>
          <a:blipFill>
            <a:blip r:embed="rId5"/>
            <a:stretch>
              <a:fillRect l="0" t="0" r="0" b="0"/>
            </a:stretch>
          </a:blipFill>
        </p:spPr>
      </p:sp>
      <p:sp>
        <p:nvSpPr>
          <p:cNvPr name="TextBox 13" id="13"/>
          <p:cNvSpPr txBox="true"/>
          <p:nvPr/>
        </p:nvSpPr>
        <p:spPr>
          <a:xfrm rot="0">
            <a:off x="621792" y="8509063"/>
            <a:ext cx="7082038" cy="409575"/>
          </a:xfrm>
          <a:prstGeom prst="rect">
            <a:avLst/>
          </a:prstGeom>
        </p:spPr>
        <p:txBody>
          <a:bodyPr anchor="t" rtlCol="false" tIns="0" lIns="0" bIns="0" rIns="0">
            <a:spAutoFit/>
          </a:bodyPr>
          <a:lstStyle/>
          <a:p>
            <a:pPr algn="l">
              <a:lnSpc>
                <a:spcPts val="3144"/>
              </a:lnSpc>
            </a:pPr>
            <a:r>
              <a:rPr lang="en-US" b="true" sz="2620">
                <a:solidFill>
                  <a:srgbClr val="FF621D"/>
                </a:solidFill>
                <a:latin typeface="Times New Roman Bold"/>
                <a:ea typeface="Times New Roman Bold"/>
                <a:cs typeface="Times New Roman Bold"/>
                <a:sym typeface="Times New Roman Bold"/>
              </a:rPr>
              <a:t>DATABASE ENGINE CONSOLIDATION</a:t>
            </a:r>
          </a:p>
        </p:txBody>
      </p:sp>
      <p:sp>
        <p:nvSpPr>
          <p:cNvPr name="TextBox 14" id="14"/>
          <p:cNvSpPr txBox="true"/>
          <p:nvPr/>
        </p:nvSpPr>
        <p:spPr>
          <a:xfrm rot="0">
            <a:off x="621792" y="8988983"/>
            <a:ext cx="5047488" cy="788570"/>
          </a:xfrm>
          <a:prstGeom prst="rect">
            <a:avLst/>
          </a:prstGeom>
        </p:spPr>
        <p:txBody>
          <a:bodyPr anchor="t" rtlCol="false" tIns="0" lIns="0" bIns="0" rIns="0">
            <a:spAutoFit/>
          </a:bodyPr>
          <a:lstStyle/>
          <a:p>
            <a:pPr algn="l">
              <a:lnSpc>
                <a:spcPts val="3130"/>
              </a:lnSpc>
            </a:pPr>
            <a:r>
              <a:rPr lang="en-US" sz="2407" b="true">
                <a:solidFill>
                  <a:srgbClr val="000411"/>
                </a:solidFill>
                <a:latin typeface="Times New Roman Bold"/>
                <a:ea typeface="Times New Roman Bold"/>
                <a:cs typeface="Times New Roman Bold"/>
                <a:sym typeface="Times New Roman Bold"/>
              </a:rPr>
              <a:t>Standardize disparate systems into open-source PostgreSQL.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TextBox 2" id="2"/>
          <p:cNvSpPr txBox="true"/>
          <p:nvPr/>
        </p:nvSpPr>
        <p:spPr>
          <a:xfrm rot="0">
            <a:off x="603504" y="571119"/>
            <a:ext cx="17317888" cy="1123950"/>
          </a:xfrm>
          <a:prstGeom prst="rect">
            <a:avLst/>
          </a:prstGeom>
        </p:spPr>
        <p:txBody>
          <a:bodyPr anchor="t" rtlCol="false" tIns="0" lIns="0" bIns="0" rIns="0">
            <a:spAutoFit/>
          </a:bodyPr>
          <a:lstStyle/>
          <a:p>
            <a:pPr algn="l">
              <a:lnSpc>
                <a:spcPts val="8589"/>
              </a:lnSpc>
            </a:pPr>
            <a:r>
              <a:rPr lang="en-US" sz="7158" spc="-286">
                <a:solidFill>
                  <a:srgbClr val="000411"/>
                </a:solidFill>
                <a:latin typeface="Times New Roman"/>
                <a:ea typeface="Times New Roman"/>
                <a:cs typeface="Times New Roman"/>
                <a:sym typeface="Times New Roman"/>
              </a:rPr>
              <a:t>CRITICAL CHALLENGES &amp; MITIGATIONS</a:t>
            </a:r>
          </a:p>
        </p:txBody>
      </p:sp>
      <p:sp>
        <p:nvSpPr>
          <p:cNvPr name="TextBox 3" id="3"/>
          <p:cNvSpPr txBox="true"/>
          <p:nvPr/>
        </p:nvSpPr>
        <p:spPr>
          <a:xfrm rot="0">
            <a:off x="1028700" y="2079307"/>
            <a:ext cx="4437210" cy="513304"/>
          </a:xfrm>
          <a:prstGeom prst="rect">
            <a:avLst/>
          </a:prstGeom>
        </p:spPr>
        <p:txBody>
          <a:bodyPr anchor="t" rtlCol="false" tIns="0" lIns="0" bIns="0" rIns="0">
            <a:spAutoFit/>
          </a:bodyPr>
          <a:lstStyle/>
          <a:p>
            <a:pPr algn="l">
              <a:lnSpc>
                <a:spcPts val="3969"/>
              </a:lnSpc>
            </a:pPr>
            <a:r>
              <a:rPr lang="en-US" b="true" sz="3307">
                <a:solidFill>
                  <a:srgbClr val="FF621D"/>
                </a:solidFill>
                <a:latin typeface="Times New Roman Bold"/>
                <a:ea typeface="Times New Roman Bold"/>
                <a:cs typeface="Times New Roman Bold"/>
                <a:sym typeface="Times New Roman Bold"/>
              </a:rPr>
              <a:t>CHALLENGE</a:t>
            </a:r>
          </a:p>
        </p:txBody>
      </p:sp>
      <p:sp>
        <p:nvSpPr>
          <p:cNvPr name="Freeform 4" id="4"/>
          <p:cNvSpPr/>
          <p:nvPr/>
        </p:nvSpPr>
        <p:spPr>
          <a:xfrm flipH="false" flipV="false" rot="0">
            <a:off x="647700" y="2781300"/>
            <a:ext cx="7629525" cy="1724025"/>
          </a:xfrm>
          <a:custGeom>
            <a:avLst/>
            <a:gdLst/>
            <a:ahLst/>
            <a:cxnLst/>
            <a:rect r="r" b="b" t="t" l="l"/>
            <a:pathLst>
              <a:path h="1724025" w="7629525">
                <a:moveTo>
                  <a:pt x="0" y="0"/>
                </a:moveTo>
                <a:lnTo>
                  <a:pt x="7629525" y="0"/>
                </a:lnTo>
                <a:lnTo>
                  <a:pt x="7629525" y="1724025"/>
                </a:lnTo>
                <a:lnTo>
                  <a:pt x="0" y="1724025"/>
                </a:lnTo>
                <a:lnTo>
                  <a:pt x="0" y="0"/>
                </a:lnTo>
                <a:close/>
              </a:path>
            </a:pathLst>
          </a:custGeom>
          <a:blipFill>
            <a:blip r:embed="rId2"/>
            <a:stretch>
              <a:fillRect l="0" t="0" r="0" b="0"/>
            </a:stretch>
          </a:blipFill>
        </p:spPr>
      </p:sp>
      <p:sp>
        <p:nvSpPr>
          <p:cNvPr name="TextBox 5" id="5"/>
          <p:cNvSpPr txBox="true"/>
          <p:nvPr/>
        </p:nvSpPr>
        <p:spPr>
          <a:xfrm rot="0">
            <a:off x="1024128" y="3311652"/>
            <a:ext cx="4937760" cy="476250"/>
          </a:xfrm>
          <a:prstGeom prst="rect">
            <a:avLst/>
          </a:prstGeom>
        </p:spPr>
        <p:txBody>
          <a:bodyPr anchor="t" rtlCol="false" tIns="0" lIns="0" bIns="0" rIns="0">
            <a:spAutoFit/>
          </a:bodyPr>
          <a:lstStyle/>
          <a:p>
            <a:pPr algn="l">
              <a:lnSpc>
                <a:spcPts val="3655"/>
              </a:lnSpc>
            </a:pPr>
            <a:r>
              <a:rPr lang="en-US" b="true" sz="3045" spc="-121">
                <a:solidFill>
                  <a:srgbClr val="D9D9D9"/>
                </a:solidFill>
                <a:latin typeface="Times New Roman Bold"/>
                <a:ea typeface="Times New Roman Bold"/>
                <a:cs typeface="Times New Roman Bold"/>
                <a:sym typeface="Times New Roman Bold"/>
              </a:rPr>
              <a:t>Data Corruption &amp; Loss Risk</a:t>
            </a:r>
          </a:p>
        </p:txBody>
      </p:sp>
      <p:sp>
        <p:nvSpPr>
          <p:cNvPr name="Freeform 6" id="6"/>
          <p:cNvSpPr/>
          <p:nvPr/>
        </p:nvSpPr>
        <p:spPr>
          <a:xfrm flipH="false" flipV="false" rot="0">
            <a:off x="647700" y="4286250"/>
            <a:ext cx="7629525" cy="1933575"/>
          </a:xfrm>
          <a:custGeom>
            <a:avLst/>
            <a:gdLst/>
            <a:ahLst/>
            <a:cxnLst/>
            <a:rect r="r" b="b" t="t" l="l"/>
            <a:pathLst>
              <a:path h="1933575" w="7629525">
                <a:moveTo>
                  <a:pt x="0" y="0"/>
                </a:moveTo>
                <a:lnTo>
                  <a:pt x="7629525" y="0"/>
                </a:lnTo>
                <a:lnTo>
                  <a:pt x="7629525" y="1933575"/>
                </a:lnTo>
                <a:lnTo>
                  <a:pt x="0" y="1933575"/>
                </a:lnTo>
                <a:lnTo>
                  <a:pt x="0" y="0"/>
                </a:lnTo>
                <a:close/>
              </a:path>
            </a:pathLst>
          </a:custGeom>
          <a:blipFill>
            <a:blip r:embed="rId3"/>
            <a:stretch>
              <a:fillRect l="0" t="0" r="0" b="0"/>
            </a:stretch>
          </a:blipFill>
        </p:spPr>
      </p:sp>
      <p:sp>
        <p:nvSpPr>
          <p:cNvPr name="TextBox 7" id="7"/>
          <p:cNvSpPr txBox="true"/>
          <p:nvPr/>
        </p:nvSpPr>
        <p:spPr>
          <a:xfrm rot="0">
            <a:off x="1024128" y="4998720"/>
            <a:ext cx="4992624" cy="476250"/>
          </a:xfrm>
          <a:prstGeom prst="rect">
            <a:avLst/>
          </a:prstGeom>
        </p:spPr>
        <p:txBody>
          <a:bodyPr anchor="t" rtlCol="false" tIns="0" lIns="0" bIns="0" rIns="0">
            <a:spAutoFit/>
          </a:bodyPr>
          <a:lstStyle/>
          <a:p>
            <a:pPr algn="l">
              <a:lnSpc>
                <a:spcPts val="3655"/>
              </a:lnSpc>
            </a:pPr>
            <a:r>
              <a:rPr lang="en-US" b="true" sz="3045" spc="-121">
                <a:solidFill>
                  <a:srgbClr val="D9D9D9"/>
                </a:solidFill>
                <a:latin typeface="Times New Roman Bold"/>
                <a:ea typeface="Times New Roman Bold"/>
                <a:cs typeface="Times New Roman Bold"/>
                <a:sym typeface="Times New Roman Bold"/>
              </a:rPr>
              <a:t>Extended System Downtime</a:t>
            </a:r>
          </a:p>
        </p:txBody>
      </p:sp>
      <p:sp>
        <p:nvSpPr>
          <p:cNvPr name="Freeform 8" id="8"/>
          <p:cNvSpPr/>
          <p:nvPr/>
        </p:nvSpPr>
        <p:spPr>
          <a:xfrm flipH="false" flipV="false" rot="0">
            <a:off x="647700" y="6000750"/>
            <a:ext cx="7629525" cy="1933575"/>
          </a:xfrm>
          <a:custGeom>
            <a:avLst/>
            <a:gdLst/>
            <a:ahLst/>
            <a:cxnLst/>
            <a:rect r="r" b="b" t="t" l="l"/>
            <a:pathLst>
              <a:path h="1933575" w="7629525">
                <a:moveTo>
                  <a:pt x="0" y="0"/>
                </a:moveTo>
                <a:lnTo>
                  <a:pt x="7629525" y="0"/>
                </a:lnTo>
                <a:lnTo>
                  <a:pt x="7629525" y="1933575"/>
                </a:lnTo>
                <a:lnTo>
                  <a:pt x="0" y="1933575"/>
                </a:lnTo>
                <a:lnTo>
                  <a:pt x="0" y="0"/>
                </a:lnTo>
                <a:close/>
              </a:path>
            </a:pathLst>
          </a:custGeom>
          <a:blipFill>
            <a:blip r:embed="rId4"/>
            <a:stretch>
              <a:fillRect l="0" t="0" r="0" b="0"/>
            </a:stretch>
          </a:blipFill>
        </p:spPr>
      </p:sp>
      <p:sp>
        <p:nvSpPr>
          <p:cNvPr name="TextBox 9" id="9"/>
          <p:cNvSpPr txBox="true"/>
          <p:nvPr/>
        </p:nvSpPr>
        <p:spPr>
          <a:xfrm rot="0">
            <a:off x="1024128" y="6685788"/>
            <a:ext cx="5394960" cy="476250"/>
          </a:xfrm>
          <a:prstGeom prst="rect">
            <a:avLst/>
          </a:prstGeom>
        </p:spPr>
        <p:txBody>
          <a:bodyPr anchor="t" rtlCol="false" tIns="0" lIns="0" bIns="0" rIns="0">
            <a:spAutoFit/>
          </a:bodyPr>
          <a:lstStyle/>
          <a:p>
            <a:pPr algn="l">
              <a:lnSpc>
                <a:spcPts val="3655"/>
              </a:lnSpc>
            </a:pPr>
            <a:r>
              <a:rPr lang="en-US" b="true" sz="3045" spc="-121">
                <a:solidFill>
                  <a:srgbClr val="D9D9D9"/>
                </a:solidFill>
                <a:latin typeface="Times New Roman Bold"/>
                <a:ea typeface="Times New Roman Bold"/>
                <a:cs typeface="Times New Roman Bold"/>
                <a:sym typeface="Times New Roman Bold"/>
              </a:rPr>
              <a:t>Schema &amp; Data Incompatibility</a:t>
            </a:r>
          </a:p>
        </p:txBody>
      </p:sp>
      <p:sp>
        <p:nvSpPr>
          <p:cNvPr name="Freeform 10" id="10"/>
          <p:cNvSpPr/>
          <p:nvPr/>
        </p:nvSpPr>
        <p:spPr>
          <a:xfrm flipH="false" flipV="false" rot="0">
            <a:off x="647700" y="7715250"/>
            <a:ext cx="7629525" cy="1714500"/>
          </a:xfrm>
          <a:custGeom>
            <a:avLst/>
            <a:gdLst/>
            <a:ahLst/>
            <a:cxnLst/>
            <a:rect r="r" b="b" t="t" l="l"/>
            <a:pathLst>
              <a:path h="1714500" w="7629525">
                <a:moveTo>
                  <a:pt x="0" y="0"/>
                </a:moveTo>
                <a:lnTo>
                  <a:pt x="7629525" y="0"/>
                </a:lnTo>
                <a:lnTo>
                  <a:pt x="7629525" y="1714500"/>
                </a:lnTo>
                <a:lnTo>
                  <a:pt x="0" y="1714500"/>
                </a:lnTo>
                <a:lnTo>
                  <a:pt x="0" y="0"/>
                </a:lnTo>
                <a:close/>
              </a:path>
            </a:pathLst>
          </a:custGeom>
          <a:blipFill>
            <a:blip r:embed="rId5"/>
            <a:stretch>
              <a:fillRect l="0" t="0" r="0" b="0"/>
            </a:stretch>
          </a:blipFill>
        </p:spPr>
      </p:sp>
      <p:sp>
        <p:nvSpPr>
          <p:cNvPr name="TextBox 11" id="11"/>
          <p:cNvSpPr txBox="true"/>
          <p:nvPr/>
        </p:nvSpPr>
        <p:spPr>
          <a:xfrm rot="0">
            <a:off x="1024128" y="8383143"/>
            <a:ext cx="5961888" cy="476250"/>
          </a:xfrm>
          <a:prstGeom prst="rect">
            <a:avLst/>
          </a:prstGeom>
        </p:spPr>
        <p:txBody>
          <a:bodyPr anchor="t" rtlCol="false" tIns="0" lIns="0" bIns="0" rIns="0">
            <a:spAutoFit/>
          </a:bodyPr>
          <a:lstStyle/>
          <a:p>
            <a:pPr algn="l">
              <a:lnSpc>
                <a:spcPts val="3655"/>
              </a:lnSpc>
            </a:pPr>
            <a:r>
              <a:rPr lang="en-US" b="true" sz="3045" spc="-121">
                <a:solidFill>
                  <a:srgbClr val="D9D9D9"/>
                </a:solidFill>
                <a:latin typeface="Times New Roman Bold"/>
                <a:ea typeface="Times New Roman Bold"/>
                <a:cs typeface="Times New Roman Bold"/>
                <a:sym typeface="Times New Roman Bold"/>
              </a:rPr>
              <a:t>Security &amp; Regulatory Compliance</a:t>
            </a:r>
          </a:p>
        </p:txBody>
      </p:sp>
      <p:sp>
        <p:nvSpPr>
          <p:cNvPr name="TextBox 12" id="12"/>
          <p:cNvSpPr txBox="true"/>
          <p:nvPr/>
        </p:nvSpPr>
        <p:spPr>
          <a:xfrm rot="0">
            <a:off x="9893808" y="2079307"/>
            <a:ext cx="2798064" cy="514350"/>
          </a:xfrm>
          <a:prstGeom prst="rect">
            <a:avLst/>
          </a:prstGeom>
        </p:spPr>
        <p:txBody>
          <a:bodyPr anchor="t" rtlCol="false" tIns="0" lIns="0" bIns="0" rIns="0">
            <a:spAutoFit/>
          </a:bodyPr>
          <a:lstStyle/>
          <a:p>
            <a:pPr algn="l" marL="0" indent="0" lvl="0">
              <a:lnSpc>
                <a:spcPts val="3969"/>
              </a:lnSpc>
              <a:spcBef>
                <a:spcPct val="0"/>
              </a:spcBef>
            </a:pPr>
            <a:r>
              <a:rPr lang="en-US" b="true" sz="3307" strike="noStrike" u="none">
                <a:solidFill>
                  <a:srgbClr val="FF621D"/>
                </a:solidFill>
                <a:latin typeface="Times New Roman Bold"/>
                <a:ea typeface="Times New Roman Bold"/>
                <a:cs typeface="Times New Roman Bold"/>
                <a:sym typeface="Times New Roman Bold"/>
              </a:rPr>
              <a:t>MITIGATION</a:t>
            </a:r>
          </a:p>
        </p:txBody>
      </p:sp>
      <p:sp>
        <p:nvSpPr>
          <p:cNvPr name="Freeform 13" id="13"/>
          <p:cNvSpPr/>
          <p:nvPr/>
        </p:nvSpPr>
        <p:spPr>
          <a:xfrm flipH="false" flipV="false" rot="0">
            <a:off x="8267700" y="3209925"/>
            <a:ext cx="1095375" cy="647700"/>
          </a:xfrm>
          <a:custGeom>
            <a:avLst/>
            <a:gdLst/>
            <a:ahLst/>
            <a:cxnLst/>
            <a:rect r="r" b="b" t="t" l="l"/>
            <a:pathLst>
              <a:path h="647700" w="1095375">
                <a:moveTo>
                  <a:pt x="0" y="0"/>
                </a:moveTo>
                <a:lnTo>
                  <a:pt x="1095375" y="0"/>
                </a:lnTo>
                <a:lnTo>
                  <a:pt x="1095375" y="647700"/>
                </a:lnTo>
                <a:lnTo>
                  <a:pt x="0" y="647700"/>
                </a:lnTo>
                <a:lnTo>
                  <a:pt x="0" y="0"/>
                </a:lnTo>
                <a:close/>
              </a:path>
            </a:pathLst>
          </a:custGeom>
          <a:blipFill>
            <a:blip r:embed="rId6"/>
            <a:stretch>
              <a:fillRect l="0" t="0" r="0" b="0"/>
            </a:stretch>
          </a:blipFill>
        </p:spPr>
      </p:sp>
      <p:sp>
        <p:nvSpPr>
          <p:cNvPr name="Freeform 14" id="14"/>
          <p:cNvSpPr/>
          <p:nvPr/>
        </p:nvSpPr>
        <p:spPr>
          <a:xfrm flipH="false" flipV="false" rot="0">
            <a:off x="9572625" y="2781300"/>
            <a:ext cx="8067675" cy="1724025"/>
          </a:xfrm>
          <a:custGeom>
            <a:avLst/>
            <a:gdLst/>
            <a:ahLst/>
            <a:cxnLst/>
            <a:rect r="r" b="b" t="t" l="l"/>
            <a:pathLst>
              <a:path h="1724025" w="8067675">
                <a:moveTo>
                  <a:pt x="0" y="0"/>
                </a:moveTo>
                <a:lnTo>
                  <a:pt x="8067675" y="0"/>
                </a:lnTo>
                <a:lnTo>
                  <a:pt x="8067675" y="1724025"/>
                </a:lnTo>
                <a:lnTo>
                  <a:pt x="0" y="1724025"/>
                </a:lnTo>
                <a:lnTo>
                  <a:pt x="0" y="0"/>
                </a:lnTo>
                <a:close/>
              </a:path>
            </a:pathLst>
          </a:custGeom>
          <a:blipFill>
            <a:blip r:embed="rId7"/>
            <a:stretch>
              <a:fillRect l="0" t="0" r="0" b="0"/>
            </a:stretch>
          </a:blipFill>
        </p:spPr>
      </p:sp>
      <p:sp>
        <p:nvSpPr>
          <p:cNvPr name="TextBox 15" id="15"/>
          <p:cNvSpPr txBox="true"/>
          <p:nvPr/>
        </p:nvSpPr>
        <p:spPr>
          <a:xfrm rot="0">
            <a:off x="9893808" y="3144320"/>
            <a:ext cx="5596128"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Full backups, checksum validation,</a:t>
            </a:r>
          </a:p>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and automated data comparison scripts</a:t>
            </a:r>
          </a:p>
        </p:txBody>
      </p:sp>
      <p:sp>
        <p:nvSpPr>
          <p:cNvPr name="Freeform 16" id="16"/>
          <p:cNvSpPr/>
          <p:nvPr/>
        </p:nvSpPr>
        <p:spPr>
          <a:xfrm flipH="false" flipV="false" rot="0">
            <a:off x="8267700" y="4924425"/>
            <a:ext cx="1095375" cy="647700"/>
          </a:xfrm>
          <a:custGeom>
            <a:avLst/>
            <a:gdLst/>
            <a:ahLst/>
            <a:cxnLst/>
            <a:rect r="r" b="b" t="t" l="l"/>
            <a:pathLst>
              <a:path h="647700" w="1095375">
                <a:moveTo>
                  <a:pt x="0" y="0"/>
                </a:moveTo>
                <a:lnTo>
                  <a:pt x="1095375" y="0"/>
                </a:lnTo>
                <a:lnTo>
                  <a:pt x="1095375" y="647700"/>
                </a:lnTo>
                <a:lnTo>
                  <a:pt x="0" y="647700"/>
                </a:lnTo>
                <a:lnTo>
                  <a:pt x="0" y="0"/>
                </a:lnTo>
                <a:close/>
              </a:path>
            </a:pathLst>
          </a:custGeom>
          <a:blipFill>
            <a:blip r:embed="rId8"/>
            <a:stretch>
              <a:fillRect l="0" t="0" r="0" b="0"/>
            </a:stretch>
          </a:blipFill>
        </p:spPr>
      </p:sp>
      <p:sp>
        <p:nvSpPr>
          <p:cNvPr name="Freeform 17" id="17"/>
          <p:cNvSpPr/>
          <p:nvPr/>
        </p:nvSpPr>
        <p:spPr>
          <a:xfrm flipH="false" flipV="false" rot="0">
            <a:off x="9572625" y="4286250"/>
            <a:ext cx="8067675" cy="1933575"/>
          </a:xfrm>
          <a:custGeom>
            <a:avLst/>
            <a:gdLst/>
            <a:ahLst/>
            <a:cxnLst/>
            <a:rect r="r" b="b" t="t" l="l"/>
            <a:pathLst>
              <a:path h="1933575" w="8067675">
                <a:moveTo>
                  <a:pt x="0" y="0"/>
                </a:moveTo>
                <a:lnTo>
                  <a:pt x="8067675" y="0"/>
                </a:lnTo>
                <a:lnTo>
                  <a:pt x="8067675" y="1933575"/>
                </a:lnTo>
                <a:lnTo>
                  <a:pt x="0" y="1933575"/>
                </a:lnTo>
                <a:lnTo>
                  <a:pt x="0" y="0"/>
                </a:lnTo>
                <a:close/>
              </a:path>
            </a:pathLst>
          </a:custGeom>
          <a:blipFill>
            <a:blip r:embed="rId9"/>
            <a:stretch>
              <a:fillRect l="0" t="0" r="0" b="0"/>
            </a:stretch>
          </a:blipFill>
        </p:spPr>
      </p:sp>
      <p:sp>
        <p:nvSpPr>
          <p:cNvPr name="TextBox 18" id="18"/>
          <p:cNvSpPr txBox="true"/>
          <p:nvPr/>
        </p:nvSpPr>
        <p:spPr>
          <a:xfrm rot="0">
            <a:off x="9893808" y="4831388"/>
            <a:ext cx="5065776"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CDC and dual-write synchronization</a:t>
            </a:r>
          </a:p>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before final cutoff</a:t>
            </a:r>
          </a:p>
        </p:txBody>
      </p:sp>
      <p:sp>
        <p:nvSpPr>
          <p:cNvPr name="Freeform 19" id="19"/>
          <p:cNvSpPr/>
          <p:nvPr/>
        </p:nvSpPr>
        <p:spPr>
          <a:xfrm flipH="false" flipV="false" rot="0">
            <a:off x="8267700" y="6638925"/>
            <a:ext cx="1095375" cy="647700"/>
          </a:xfrm>
          <a:custGeom>
            <a:avLst/>
            <a:gdLst/>
            <a:ahLst/>
            <a:cxnLst/>
            <a:rect r="r" b="b" t="t" l="l"/>
            <a:pathLst>
              <a:path h="647700" w="1095375">
                <a:moveTo>
                  <a:pt x="0" y="0"/>
                </a:moveTo>
                <a:lnTo>
                  <a:pt x="1095375" y="0"/>
                </a:lnTo>
                <a:lnTo>
                  <a:pt x="1095375" y="647700"/>
                </a:lnTo>
                <a:lnTo>
                  <a:pt x="0" y="647700"/>
                </a:lnTo>
                <a:lnTo>
                  <a:pt x="0" y="0"/>
                </a:lnTo>
                <a:close/>
              </a:path>
            </a:pathLst>
          </a:custGeom>
          <a:blipFill>
            <a:blip r:embed="rId10"/>
            <a:stretch>
              <a:fillRect l="0" t="0" r="0" b="0"/>
            </a:stretch>
          </a:blipFill>
        </p:spPr>
      </p:sp>
      <p:sp>
        <p:nvSpPr>
          <p:cNvPr name="Freeform 20" id="20"/>
          <p:cNvSpPr/>
          <p:nvPr/>
        </p:nvSpPr>
        <p:spPr>
          <a:xfrm flipH="false" flipV="false" rot="0">
            <a:off x="9572625" y="6000750"/>
            <a:ext cx="8067675" cy="1933575"/>
          </a:xfrm>
          <a:custGeom>
            <a:avLst/>
            <a:gdLst/>
            <a:ahLst/>
            <a:cxnLst/>
            <a:rect r="r" b="b" t="t" l="l"/>
            <a:pathLst>
              <a:path h="1933575" w="8067675">
                <a:moveTo>
                  <a:pt x="0" y="0"/>
                </a:moveTo>
                <a:lnTo>
                  <a:pt x="8067675" y="0"/>
                </a:lnTo>
                <a:lnTo>
                  <a:pt x="8067675" y="1933575"/>
                </a:lnTo>
                <a:lnTo>
                  <a:pt x="0" y="1933575"/>
                </a:lnTo>
                <a:lnTo>
                  <a:pt x="0" y="0"/>
                </a:lnTo>
                <a:close/>
              </a:path>
            </a:pathLst>
          </a:custGeom>
          <a:blipFill>
            <a:blip r:embed="rId11"/>
            <a:stretch>
              <a:fillRect l="0" t="0" r="0" b="0"/>
            </a:stretch>
          </a:blipFill>
        </p:spPr>
      </p:sp>
      <p:sp>
        <p:nvSpPr>
          <p:cNvPr name="TextBox 21" id="21"/>
          <p:cNvSpPr txBox="true"/>
          <p:nvPr/>
        </p:nvSpPr>
        <p:spPr>
          <a:xfrm rot="0">
            <a:off x="9893808" y="6518456"/>
            <a:ext cx="6364224"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Conversion tools, data type</a:t>
            </a:r>
          </a:p>
          <a:p>
            <a:pPr algn="l" marL="0" indent="0" lvl="0">
              <a:lnSpc>
                <a:spcPts val="3187"/>
              </a:lnSpc>
              <a:spcBef>
                <a:spcPct val="0"/>
              </a:spcBef>
            </a:pPr>
            <a:r>
              <a:rPr lang="en-US" sz="2656" strike="noStrike" u="none">
                <a:solidFill>
                  <a:srgbClr val="D9D9D9"/>
                </a:solidFill>
                <a:latin typeface="Times New Roman"/>
                <a:ea typeface="Times New Roman"/>
                <a:cs typeface="Times New Roman"/>
                <a:sym typeface="Times New Roman"/>
              </a:rPr>
              <a:t>mapping matrices, and dry-run environments</a:t>
            </a:r>
          </a:p>
        </p:txBody>
      </p:sp>
      <p:sp>
        <p:nvSpPr>
          <p:cNvPr name="Freeform 22" id="22"/>
          <p:cNvSpPr/>
          <p:nvPr/>
        </p:nvSpPr>
        <p:spPr>
          <a:xfrm flipH="false" flipV="false" rot="0">
            <a:off x="8267700" y="8353425"/>
            <a:ext cx="1095375" cy="647700"/>
          </a:xfrm>
          <a:custGeom>
            <a:avLst/>
            <a:gdLst/>
            <a:ahLst/>
            <a:cxnLst/>
            <a:rect r="r" b="b" t="t" l="l"/>
            <a:pathLst>
              <a:path h="647700" w="1095375">
                <a:moveTo>
                  <a:pt x="0" y="0"/>
                </a:moveTo>
                <a:lnTo>
                  <a:pt x="1095375" y="0"/>
                </a:lnTo>
                <a:lnTo>
                  <a:pt x="1095375" y="647700"/>
                </a:lnTo>
                <a:lnTo>
                  <a:pt x="0" y="647700"/>
                </a:lnTo>
                <a:lnTo>
                  <a:pt x="0" y="0"/>
                </a:lnTo>
                <a:close/>
              </a:path>
            </a:pathLst>
          </a:custGeom>
          <a:blipFill>
            <a:blip r:embed="rId12"/>
            <a:stretch>
              <a:fillRect l="0" t="0" r="0" b="0"/>
            </a:stretch>
          </a:blipFill>
        </p:spPr>
      </p:sp>
      <p:sp>
        <p:nvSpPr>
          <p:cNvPr name="Freeform 23" id="23"/>
          <p:cNvSpPr/>
          <p:nvPr/>
        </p:nvSpPr>
        <p:spPr>
          <a:xfrm flipH="false" flipV="false" rot="0">
            <a:off x="9572625" y="7715250"/>
            <a:ext cx="8067675" cy="1714500"/>
          </a:xfrm>
          <a:custGeom>
            <a:avLst/>
            <a:gdLst/>
            <a:ahLst/>
            <a:cxnLst/>
            <a:rect r="r" b="b" t="t" l="l"/>
            <a:pathLst>
              <a:path h="1714500" w="8067675">
                <a:moveTo>
                  <a:pt x="0" y="0"/>
                </a:moveTo>
                <a:lnTo>
                  <a:pt x="8067675" y="0"/>
                </a:lnTo>
                <a:lnTo>
                  <a:pt x="8067675" y="1714500"/>
                </a:lnTo>
                <a:lnTo>
                  <a:pt x="0" y="1714500"/>
                </a:lnTo>
                <a:lnTo>
                  <a:pt x="0" y="0"/>
                </a:lnTo>
                <a:close/>
              </a:path>
            </a:pathLst>
          </a:custGeom>
          <a:blipFill>
            <a:blip r:embed="rId13"/>
            <a:stretch>
              <a:fillRect l="0" t="0" r="0" b="0"/>
            </a:stretch>
          </a:blipFill>
        </p:spPr>
      </p:sp>
      <p:sp>
        <p:nvSpPr>
          <p:cNvPr name="TextBox 24" id="24"/>
          <p:cNvSpPr txBox="true"/>
          <p:nvPr/>
        </p:nvSpPr>
        <p:spPr>
          <a:xfrm rot="0">
            <a:off x="9893808" y="8215811"/>
            <a:ext cx="6144768" cy="819150"/>
          </a:xfrm>
          <a:prstGeom prst="rect">
            <a:avLst/>
          </a:prstGeom>
        </p:spPr>
        <p:txBody>
          <a:bodyPr anchor="t" rtlCol="false" tIns="0" lIns="0" bIns="0" rIns="0">
            <a:spAutoFit/>
          </a:bodyPr>
          <a:lstStyle/>
          <a:p>
            <a:pPr algn="l" marL="0" indent="0" lvl="0">
              <a:lnSpc>
                <a:spcPts val="3187"/>
              </a:lnSpc>
              <a:spcBef>
                <a:spcPct val="0"/>
              </a:spcBef>
            </a:pPr>
            <a:r>
              <a:rPr lang="en-US" sz="2656" strike="noStrike" u="none">
                <a:solidFill>
                  <a:srgbClr val="B4B4B4"/>
                </a:solidFill>
                <a:latin typeface="Times New Roman"/>
                <a:ea typeface="Times New Roman"/>
                <a:cs typeface="Times New Roman"/>
                <a:sym typeface="Times New Roman"/>
              </a:rPr>
              <a:t>End-to-end encryption in transit and at rest,</a:t>
            </a:r>
          </a:p>
          <a:p>
            <a:pPr algn="l" marL="0" indent="0" lvl="0">
              <a:lnSpc>
                <a:spcPts val="3187"/>
              </a:lnSpc>
              <a:spcBef>
                <a:spcPct val="0"/>
              </a:spcBef>
            </a:pPr>
            <a:r>
              <a:rPr lang="en-US" sz="2656" strike="noStrike" u="none">
                <a:solidFill>
                  <a:srgbClr val="B4B4B4"/>
                </a:solidFill>
                <a:latin typeface="Times New Roman"/>
                <a:ea typeface="Times New Roman"/>
                <a:cs typeface="Times New Roman"/>
                <a:sym typeface="Times New Roman"/>
              </a:rPr>
              <a:t>plus strict access controls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Freeform 2" id="2"/>
          <p:cNvSpPr/>
          <p:nvPr/>
        </p:nvSpPr>
        <p:spPr>
          <a:xfrm flipH="false" flipV="false" rot="0">
            <a:off x="0" y="8143875"/>
            <a:ext cx="18288000" cy="2143125"/>
          </a:xfrm>
          <a:custGeom>
            <a:avLst/>
            <a:gdLst/>
            <a:ahLst/>
            <a:cxnLst/>
            <a:rect r="r" b="b" t="t" l="l"/>
            <a:pathLst>
              <a:path h="2143125" w="18288000">
                <a:moveTo>
                  <a:pt x="0" y="0"/>
                </a:moveTo>
                <a:lnTo>
                  <a:pt x="18288000" y="0"/>
                </a:lnTo>
                <a:lnTo>
                  <a:pt x="18288000" y="2143125"/>
                </a:lnTo>
                <a:lnTo>
                  <a:pt x="0" y="2143125"/>
                </a:lnTo>
                <a:lnTo>
                  <a:pt x="0" y="0"/>
                </a:lnTo>
                <a:close/>
              </a:path>
            </a:pathLst>
          </a:custGeom>
          <a:blipFill>
            <a:blip r:embed="rId2"/>
            <a:stretch>
              <a:fillRect l="0" t="0" r="0" b="0"/>
            </a:stretch>
          </a:blipFill>
        </p:spPr>
      </p:sp>
      <p:sp>
        <p:nvSpPr>
          <p:cNvPr name="TextBox 3" id="3"/>
          <p:cNvSpPr txBox="true"/>
          <p:nvPr/>
        </p:nvSpPr>
        <p:spPr>
          <a:xfrm rot="0">
            <a:off x="4347822" y="1400175"/>
            <a:ext cx="9592357" cy="1362075"/>
          </a:xfrm>
          <a:prstGeom prst="rect">
            <a:avLst/>
          </a:prstGeom>
        </p:spPr>
        <p:txBody>
          <a:bodyPr anchor="t" rtlCol="false" tIns="0" lIns="0" bIns="0" rIns="0">
            <a:spAutoFit/>
          </a:bodyPr>
          <a:lstStyle/>
          <a:p>
            <a:pPr algn="ctr">
              <a:lnSpc>
                <a:spcPts val="10358"/>
              </a:lnSpc>
            </a:pPr>
            <a:r>
              <a:rPr lang="en-US" sz="8632" spc="-345">
                <a:solidFill>
                  <a:srgbClr val="000411"/>
                </a:solidFill>
                <a:latin typeface="Times New Roman"/>
                <a:ea typeface="Times New Roman"/>
                <a:cs typeface="Times New Roman"/>
                <a:sym typeface="Times New Roman"/>
              </a:rPr>
              <a:t>CONCLUSION </a:t>
            </a:r>
          </a:p>
        </p:txBody>
      </p:sp>
      <p:sp>
        <p:nvSpPr>
          <p:cNvPr name="TextBox 4" id="4"/>
          <p:cNvSpPr txBox="true"/>
          <p:nvPr/>
        </p:nvSpPr>
        <p:spPr>
          <a:xfrm rot="0">
            <a:off x="3761751" y="3028950"/>
            <a:ext cx="10764498" cy="4210050"/>
          </a:xfrm>
          <a:prstGeom prst="rect">
            <a:avLst/>
          </a:prstGeom>
        </p:spPr>
        <p:txBody>
          <a:bodyPr anchor="t" rtlCol="false" tIns="0" lIns="0" bIns="0" rIns="0">
            <a:spAutoFit/>
          </a:bodyPr>
          <a:lstStyle/>
          <a:p>
            <a:pPr algn="ctr">
              <a:lnSpc>
                <a:spcPts val="4183"/>
              </a:lnSpc>
            </a:pPr>
            <a:r>
              <a:rPr lang="en-US" sz="3485">
                <a:solidFill>
                  <a:srgbClr val="000411"/>
                </a:solidFill>
                <a:latin typeface="Times New Roman"/>
                <a:ea typeface="Times New Roman"/>
                <a:cs typeface="Times New Roman"/>
                <a:sym typeface="Times New Roman"/>
              </a:rPr>
              <a:t>Database migration is a strategic process that enables organizations to modernize infrastructure, boost performance, and achieve seamless scalability. While risks like downtime and data loss exist, thorough planning, Change Data Capture (CDC), and continuous validation effectively mitigate them. Choosing the right strategy ensures a smooth transition and builds a resilient foundation for long-term growth.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1DFEF"/>
        </a:solidFill>
      </p:bgPr>
    </p:bg>
    <p:spTree>
      <p:nvGrpSpPr>
        <p:cNvPr id="1" name=""/>
        <p:cNvGrpSpPr/>
        <p:nvPr/>
      </p:nvGrpSpPr>
      <p:grpSpPr>
        <a:xfrm>
          <a:off x="0" y="0"/>
          <a:ext cx="0" cy="0"/>
          <a:chOff x="0" y="0"/>
          <a:chExt cx="0" cy="0"/>
        </a:xfrm>
      </p:grpSpPr>
      <p:sp>
        <p:nvSpPr>
          <p:cNvPr name="TextBox 2" id="2"/>
          <p:cNvSpPr txBox="true"/>
          <p:nvPr/>
        </p:nvSpPr>
        <p:spPr>
          <a:xfrm rot="0">
            <a:off x="4588071" y="3496203"/>
            <a:ext cx="9111857" cy="1647297"/>
          </a:xfrm>
          <a:prstGeom prst="rect">
            <a:avLst/>
          </a:prstGeom>
        </p:spPr>
        <p:txBody>
          <a:bodyPr anchor="t" rtlCol="false" tIns="0" lIns="0" bIns="0" rIns="0">
            <a:spAutoFit/>
          </a:bodyPr>
          <a:lstStyle/>
          <a:p>
            <a:pPr algn="l">
              <a:lnSpc>
                <a:spcPts val="11979"/>
              </a:lnSpc>
            </a:pPr>
            <a:r>
              <a:rPr lang="en-US" sz="11979" spc="-598">
                <a:solidFill>
                  <a:srgbClr val="000411"/>
                </a:solidFill>
                <a:latin typeface="Times New Roman"/>
                <a:ea typeface="Times New Roman"/>
                <a:cs typeface="Times New Roman"/>
                <a:sym typeface="Times New Roman"/>
              </a:rPr>
              <a:t>THANK YOU</a:t>
            </a:r>
          </a:p>
        </p:txBody>
      </p:sp>
      <p:sp>
        <p:nvSpPr>
          <p:cNvPr name="Freeform 3" id="3"/>
          <p:cNvSpPr/>
          <p:nvPr/>
        </p:nvSpPr>
        <p:spPr>
          <a:xfrm flipH="false" flipV="false" rot="0">
            <a:off x="7794338" y="4962525"/>
            <a:ext cx="2680274" cy="761228"/>
          </a:xfrm>
          <a:custGeom>
            <a:avLst/>
            <a:gdLst/>
            <a:ahLst/>
            <a:cxnLst/>
            <a:rect r="r" b="b" t="t" l="l"/>
            <a:pathLst>
              <a:path h="761228" w="2680274">
                <a:moveTo>
                  <a:pt x="0" y="0"/>
                </a:moveTo>
                <a:lnTo>
                  <a:pt x="2680274" y="0"/>
                </a:lnTo>
                <a:lnTo>
                  <a:pt x="2680274" y="761228"/>
                </a:lnTo>
                <a:lnTo>
                  <a:pt x="0" y="761228"/>
                </a:lnTo>
                <a:lnTo>
                  <a:pt x="0" y="0"/>
                </a:lnTo>
                <a:close/>
              </a:path>
            </a:pathLst>
          </a:custGeom>
          <a:blipFill>
            <a:blip r:embed="rId2"/>
            <a:stretch>
              <a:fillRect l="-13902" t="0" r="-13902"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DAHTymXz-8I</dc:identifier>
  <dcterms:modified xsi:type="dcterms:W3CDTF">2011-08-01T06:04:30Z</dcterms:modified>
  <cp:revision>1</cp:revision>
  <dc:title>Database Migration</dc:title>
</cp:coreProperties>
</file>