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Times New Roman MT" charset="1" panose="02030502070405020303"/>
      <p:regular r:id="rId14"/>
    </p:embeddedFont>
    <p:embeddedFont>
      <p:font typeface="Times New Roman MT Semi-Bold" charset="1" panose="02030702070405020303"/>
      <p:regular r:id="rId15"/>
    </p:embeddedFont>
    <p:embeddedFont>
      <p:font typeface="Times New Roman MT Medium" charset="1" panose="02030502070405020303"/>
      <p:regular r:id="rId16"/>
    </p:embeddedFont>
    <p:embeddedFont>
      <p:font typeface="Times New Roman MT Bold" charset="1" panose="02030802070405020303"/>
      <p:regular r:id="rId17"/>
    </p:embeddedFont>
    <p:embeddedFont>
      <p:font typeface="Brittany" charset="1" panose="000000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10.png" Type="http://schemas.openxmlformats.org/officeDocument/2006/relationships/image"/><Relationship Id="rId9" Target="../media/image11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11" Target="../media/image11.svg" Type="http://schemas.openxmlformats.org/officeDocument/2006/relationships/image"/><Relationship Id="rId12" Target="../media/image13.jpe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png" Type="http://schemas.openxmlformats.org/officeDocument/2006/relationships/image"/><Relationship Id="rId11" Target="../media/image19.svg" Type="http://schemas.openxmlformats.org/officeDocument/2006/relationships/image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16.png" Type="http://schemas.openxmlformats.org/officeDocument/2006/relationships/image"/><Relationship Id="rId9" Target="../media/image1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png" Type="http://schemas.openxmlformats.org/officeDocument/2006/relationships/image"/><Relationship Id="rId11" Target="../media/image21.svg" Type="http://schemas.openxmlformats.org/officeDocument/2006/relationships/image"/><Relationship Id="rId12" Target="../media/image10.png" Type="http://schemas.openxmlformats.org/officeDocument/2006/relationships/image"/><Relationship Id="rId13" Target="../media/image11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16.png" Type="http://schemas.openxmlformats.org/officeDocument/2006/relationships/image"/><Relationship Id="rId9" Target="../media/image17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png" Type="http://schemas.openxmlformats.org/officeDocument/2006/relationships/image"/><Relationship Id="rId11" Target="../media/image21.svg" Type="http://schemas.openxmlformats.org/officeDocument/2006/relationships/image"/><Relationship Id="rId12" Target="../media/image10.png" Type="http://schemas.openxmlformats.org/officeDocument/2006/relationships/image"/><Relationship Id="rId13" Target="../media/image11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17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22.png" Type="http://schemas.openxmlformats.org/officeDocument/2006/relationships/image"/><Relationship Id="rId9" Target="../media/image2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7451233">
            <a:off x="-2530498" y="8126854"/>
            <a:ext cx="5015225" cy="5175185"/>
          </a:xfrm>
          <a:custGeom>
            <a:avLst/>
            <a:gdLst/>
            <a:ahLst/>
            <a:cxnLst/>
            <a:rect r="r" b="b" t="t" l="l"/>
            <a:pathLst>
              <a:path h="5175185" w="5015225">
                <a:moveTo>
                  <a:pt x="5015225" y="5175185"/>
                </a:moveTo>
                <a:lnTo>
                  <a:pt x="0" y="5175185"/>
                </a:lnTo>
                <a:lnTo>
                  <a:pt x="0" y="0"/>
                </a:lnTo>
                <a:lnTo>
                  <a:pt x="5015225" y="0"/>
                </a:lnTo>
                <a:lnTo>
                  <a:pt x="5015225" y="517518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779923" y="1038225"/>
            <a:ext cx="14955160" cy="1687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53"/>
              </a:lnSpc>
            </a:pPr>
            <a:r>
              <a:rPr lang="en-US" sz="5993" spc="275">
                <a:solidFill>
                  <a:srgbClr val="142505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SHADAN WOMEN'S COLLEGE OF ENGINEERING AND TECHNOLOGY </a:t>
            </a:r>
          </a:p>
        </p:txBody>
      </p:sp>
      <p:sp>
        <p:nvSpPr>
          <p:cNvPr name="Freeform 4" id="4"/>
          <p:cNvSpPr/>
          <p:nvPr/>
        </p:nvSpPr>
        <p:spPr>
          <a:xfrm flipH="true" flipV="true" rot="-3348766">
            <a:off x="15317462" y="-3683849"/>
            <a:ext cx="5695343" cy="5876996"/>
          </a:xfrm>
          <a:custGeom>
            <a:avLst/>
            <a:gdLst/>
            <a:ahLst/>
            <a:cxnLst/>
            <a:rect r="r" b="b" t="t" l="l"/>
            <a:pathLst>
              <a:path h="5876996" w="5695343">
                <a:moveTo>
                  <a:pt x="5695343" y="5876996"/>
                </a:moveTo>
                <a:lnTo>
                  <a:pt x="0" y="5876996"/>
                </a:lnTo>
                <a:lnTo>
                  <a:pt x="0" y="0"/>
                </a:lnTo>
                <a:lnTo>
                  <a:pt x="5695343" y="0"/>
                </a:lnTo>
                <a:lnTo>
                  <a:pt x="5695343" y="587699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259664" y="9540301"/>
            <a:ext cx="5768671" cy="1919394"/>
          </a:xfrm>
          <a:custGeom>
            <a:avLst/>
            <a:gdLst/>
            <a:ahLst/>
            <a:cxnLst/>
            <a:rect r="r" b="b" t="t" l="l"/>
            <a:pathLst>
              <a:path h="1919394" w="5768671">
                <a:moveTo>
                  <a:pt x="0" y="0"/>
                </a:moveTo>
                <a:lnTo>
                  <a:pt x="5768672" y="0"/>
                </a:lnTo>
                <a:lnTo>
                  <a:pt x="5768672" y="1919395"/>
                </a:lnTo>
                <a:lnTo>
                  <a:pt x="0" y="19193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779923" y="6255903"/>
            <a:ext cx="12728155" cy="2729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6"/>
              </a:lnSpc>
            </a:pPr>
            <a:r>
              <a:rPr lang="en-US" b="true" sz="3894" spc="124">
                <a:solidFill>
                  <a:srgbClr val="142505"/>
                </a:solidFill>
                <a:latin typeface="Times New Roman MT Semi-Bold"/>
                <a:ea typeface="Times New Roman MT Semi-Bold"/>
                <a:cs typeface="Times New Roman MT Semi-Bold"/>
                <a:sym typeface="Times New Roman MT Semi-Bold"/>
              </a:rPr>
              <a:t>Name</a:t>
            </a:r>
            <a:r>
              <a:rPr lang="en-US" sz="3894" spc="124">
                <a:solidFill>
                  <a:srgbClr val="142505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: Amath ur Rasheed U.A </a:t>
            </a:r>
          </a:p>
          <a:p>
            <a:pPr algn="ctr">
              <a:lnSpc>
                <a:spcPts val="4166"/>
              </a:lnSpc>
            </a:pPr>
            <a:r>
              <a:rPr lang="en-US" b="true" sz="3894" spc="124">
                <a:solidFill>
                  <a:srgbClr val="142505"/>
                </a:solidFill>
                <a:latin typeface="Times New Roman MT Semi-Bold"/>
                <a:ea typeface="Times New Roman MT Semi-Bold"/>
                <a:cs typeface="Times New Roman MT Semi-Bold"/>
                <a:sym typeface="Times New Roman MT Semi-Bold"/>
              </a:rPr>
              <a:t>Ht.no.</a:t>
            </a:r>
            <a:r>
              <a:rPr lang="en-US" sz="3894" spc="124">
                <a:solidFill>
                  <a:srgbClr val="142505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: 24L51A0508</a:t>
            </a:r>
          </a:p>
          <a:p>
            <a:pPr algn="ctr">
              <a:lnSpc>
                <a:spcPts val="4166"/>
              </a:lnSpc>
            </a:pPr>
            <a:r>
              <a:rPr lang="en-US" b="true" sz="3894" spc="124">
                <a:solidFill>
                  <a:srgbClr val="142505"/>
                </a:solidFill>
                <a:latin typeface="Times New Roman MT Semi-Bold"/>
                <a:ea typeface="Times New Roman MT Semi-Bold"/>
                <a:cs typeface="Times New Roman MT Semi-Bold"/>
                <a:sym typeface="Times New Roman MT Semi-Bold"/>
              </a:rPr>
              <a:t>Class</a:t>
            </a:r>
            <a:r>
              <a:rPr lang="en-US" sz="3894" spc="124">
                <a:solidFill>
                  <a:srgbClr val="142505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: B.tech 3rd Year 1st Semester </a:t>
            </a:r>
          </a:p>
          <a:p>
            <a:pPr algn="ctr">
              <a:lnSpc>
                <a:spcPts val="4166"/>
              </a:lnSpc>
            </a:pPr>
            <a:r>
              <a:rPr lang="en-US" b="true" sz="3894" spc="124">
                <a:solidFill>
                  <a:srgbClr val="142505"/>
                </a:solidFill>
                <a:latin typeface="Times New Roman MT Semi-Bold"/>
                <a:ea typeface="Times New Roman MT Semi-Bold"/>
                <a:cs typeface="Times New Roman MT Semi-Bold"/>
                <a:sym typeface="Times New Roman MT Semi-Bold"/>
              </a:rPr>
              <a:t>Subject</a:t>
            </a:r>
            <a:r>
              <a:rPr lang="en-US" sz="3894" spc="124">
                <a:solidFill>
                  <a:srgbClr val="142505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: Design and analysis of algorithms </a:t>
            </a:r>
          </a:p>
          <a:p>
            <a:pPr algn="ctr" marL="0" indent="0" lvl="0">
              <a:lnSpc>
                <a:spcPts val="4166"/>
              </a:lnSpc>
              <a:spcBef>
                <a:spcPct val="0"/>
              </a:spcBef>
            </a:pPr>
            <a:r>
              <a:rPr lang="en-US" b="true" sz="3894" spc="124">
                <a:solidFill>
                  <a:srgbClr val="142505"/>
                </a:solidFill>
                <a:latin typeface="Times New Roman MT Semi-Bold"/>
                <a:ea typeface="Times New Roman MT Semi-Bold"/>
                <a:cs typeface="Times New Roman MT Semi-Bold"/>
                <a:sym typeface="Times New Roman MT Semi-Bold"/>
              </a:rPr>
              <a:t>Department</a:t>
            </a:r>
            <a:r>
              <a:rPr lang="en-US" sz="3894" spc="124">
                <a:solidFill>
                  <a:srgbClr val="142505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:  CSE-A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256799" y="815619"/>
            <a:ext cx="2551698" cy="2151932"/>
          </a:xfrm>
          <a:custGeom>
            <a:avLst/>
            <a:gdLst/>
            <a:ahLst/>
            <a:cxnLst/>
            <a:rect r="r" b="b" t="t" l="l"/>
            <a:pathLst>
              <a:path h="2151932" w="2551698">
                <a:moveTo>
                  <a:pt x="0" y="0"/>
                </a:moveTo>
                <a:lnTo>
                  <a:pt x="2551699" y="0"/>
                </a:lnTo>
                <a:lnTo>
                  <a:pt x="2551699" y="2151932"/>
                </a:lnTo>
                <a:lnTo>
                  <a:pt x="0" y="21519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875867" y="4278107"/>
            <a:ext cx="14767171" cy="1451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11"/>
              </a:lnSpc>
            </a:pPr>
            <a:r>
              <a:rPr lang="en-US" sz="9416" spc="433">
                <a:solidFill>
                  <a:srgbClr val="142505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THETA (Θ) NOTATION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911685" y="2817745"/>
            <a:ext cx="13528399" cy="620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66"/>
              </a:lnSpc>
              <a:spcBef>
                <a:spcPct val="0"/>
              </a:spcBef>
            </a:pPr>
            <a:r>
              <a:rPr lang="en-US" b="true" sz="3894" spc="124">
                <a:solidFill>
                  <a:srgbClr val="142505"/>
                </a:solidFill>
                <a:latin typeface="Times New Roman MT Semi-Bold"/>
                <a:ea typeface="Times New Roman MT Semi-Bold"/>
                <a:cs typeface="Times New Roman MT Semi-Bold"/>
                <a:sym typeface="Times New Roman MT Semi-Bold"/>
              </a:rPr>
              <a:t>[ An Autonomous Institution Affiliated to JNTUH]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7451233">
            <a:off x="-2344887" y="7555362"/>
            <a:ext cx="5908684" cy="6097141"/>
          </a:xfrm>
          <a:custGeom>
            <a:avLst/>
            <a:gdLst/>
            <a:ahLst/>
            <a:cxnLst/>
            <a:rect r="r" b="b" t="t" l="l"/>
            <a:pathLst>
              <a:path h="6097141" w="5908684">
                <a:moveTo>
                  <a:pt x="5908684" y="6097141"/>
                </a:moveTo>
                <a:lnTo>
                  <a:pt x="0" y="6097141"/>
                </a:lnTo>
                <a:lnTo>
                  <a:pt x="0" y="0"/>
                </a:lnTo>
                <a:lnTo>
                  <a:pt x="5908684" y="0"/>
                </a:lnTo>
                <a:lnTo>
                  <a:pt x="5908684" y="609714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702522" y="978457"/>
            <a:ext cx="11141571" cy="1486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1"/>
              </a:lnSpc>
            </a:pPr>
            <a:r>
              <a:rPr lang="en-US" sz="9694" spc="445">
                <a:solidFill>
                  <a:srgbClr val="142505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INTRODUCTION</a:t>
            </a:r>
          </a:p>
        </p:txBody>
      </p:sp>
      <p:sp>
        <p:nvSpPr>
          <p:cNvPr name="Freeform 4" id="4"/>
          <p:cNvSpPr/>
          <p:nvPr/>
        </p:nvSpPr>
        <p:spPr>
          <a:xfrm flipH="true" flipV="true" rot="-3348766">
            <a:off x="14802365" y="-3471969"/>
            <a:ext cx="5908684" cy="6097141"/>
          </a:xfrm>
          <a:custGeom>
            <a:avLst/>
            <a:gdLst/>
            <a:ahLst/>
            <a:cxnLst/>
            <a:rect r="r" b="b" t="t" l="l"/>
            <a:pathLst>
              <a:path h="6097141" w="5908684">
                <a:moveTo>
                  <a:pt x="5908684" y="6097142"/>
                </a:moveTo>
                <a:lnTo>
                  <a:pt x="0" y="6097142"/>
                </a:lnTo>
                <a:lnTo>
                  <a:pt x="0" y="0"/>
                </a:lnTo>
                <a:lnTo>
                  <a:pt x="5908684" y="0"/>
                </a:lnTo>
                <a:lnTo>
                  <a:pt x="5908684" y="609714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4520574">
            <a:off x="15375024" y="7387940"/>
            <a:ext cx="4738374" cy="4548839"/>
          </a:xfrm>
          <a:custGeom>
            <a:avLst/>
            <a:gdLst/>
            <a:ahLst/>
            <a:cxnLst/>
            <a:rect r="r" b="b" t="t" l="l"/>
            <a:pathLst>
              <a:path h="4548839" w="4738374">
                <a:moveTo>
                  <a:pt x="0" y="0"/>
                </a:moveTo>
                <a:lnTo>
                  <a:pt x="4738374" y="0"/>
                </a:lnTo>
                <a:lnTo>
                  <a:pt x="4738374" y="4548839"/>
                </a:lnTo>
                <a:lnTo>
                  <a:pt x="0" y="45488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400000">
            <a:off x="-2085229" y="-2025628"/>
            <a:ext cx="5102157" cy="4898071"/>
          </a:xfrm>
          <a:custGeom>
            <a:avLst/>
            <a:gdLst/>
            <a:ahLst/>
            <a:cxnLst/>
            <a:rect r="r" b="b" t="t" l="l"/>
            <a:pathLst>
              <a:path h="4898071" w="5102157">
                <a:moveTo>
                  <a:pt x="0" y="0"/>
                </a:moveTo>
                <a:lnTo>
                  <a:pt x="5102158" y="0"/>
                </a:lnTo>
                <a:lnTo>
                  <a:pt x="5102158" y="4898071"/>
                </a:lnTo>
                <a:lnTo>
                  <a:pt x="0" y="48980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92806" y="629430"/>
            <a:ext cx="2247403" cy="1046064"/>
          </a:xfrm>
          <a:custGeom>
            <a:avLst/>
            <a:gdLst/>
            <a:ahLst/>
            <a:cxnLst/>
            <a:rect r="r" b="b" t="t" l="l"/>
            <a:pathLst>
              <a:path h="1046064" w="2247403">
                <a:moveTo>
                  <a:pt x="0" y="0"/>
                </a:moveTo>
                <a:lnTo>
                  <a:pt x="2247404" y="0"/>
                </a:lnTo>
                <a:lnTo>
                  <a:pt x="2247404" y="1046064"/>
                </a:lnTo>
                <a:lnTo>
                  <a:pt x="0" y="104606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0">
            <a:off x="14714785" y="8464356"/>
            <a:ext cx="2087163" cy="971480"/>
          </a:xfrm>
          <a:custGeom>
            <a:avLst/>
            <a:gdLst/>
            <a:ahLst/>
            <a:cxnLst/>
            <a:rect r="r" b="b" t="t" l="l"/>
            <a:pathLst>
              <a:path h="971480" w="2087163">
                <a:moveTo>
                  <a:pt x="0" y="971480"/>
                </a:moveTo>
                <a:lnTo>
                  <a:pt x="2087164" y="971480"/>
                </a:lnTo>
                <a:lnTo>
                  <a:pt x="2087164" y="0"/>
                </a:lnTo>
                <a:lnTo>
                  <a:pt x="0" y="0"/>
                </a:lnTo>
                <a:lnTo>
                  <a:pt x="0" y="97148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116508" y="2860187"/>
            <a:ext cx="10432267" cy="5714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03"/>
              </a:lnSpc>
            </a:pPr>
            <a:r>
              <a:rPr lang="en-US" b="true" sz="2994" spc="95">
                <a:solidFill>
                  <a:srgbClr val="142505"/>
                </a:solidFill>
                <a:latin typeface="Times New Roman MT Medium"/>
                <a:ea typeface="Times New Roman MT Medium"/>
                <a:cs typeface="Times New Roman MT Medium"/>
                <a:sym typeface="Times New Roman MT Medium"/>
              </a:rPr>
              <a:t>Asymptotic Analysis</a:t>
            </a:r>
            <a:r>
              <a:rPr lang="en-US" sz="2994" spc="95">
                <a:solidFill>
                  <a:srgbClr val="142505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:It is a technique used to study the performance of an algorithm based on input size (n), independent of specific computer hardware, programming languages, or compiler optimizations.</a:t>
            </a:r>
          </a:p>
          <a:p>
            <a:pPr algn="ctr">
              <a:lnSpc>
                <a:spcPts val="4103"/>
              </a:lnSpc>
            </a:pPr>
            <a:r>
              <a:rPr lang="en-US" sz="2994" spc="95">
                <a:solidFill>
                  <a:srgbClr val="142505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​The Role of Theta Notation: It represents the tight asymptotic bound of an algorithm.</a:t>
            </a:r>
          </a:p>
          <a:p>
            <a:pPr algn="ctr" marL="0" indent="0" lvl="0">
              <a:lnSpc>
                <a:spcPts val="4103"/>
              </a:lnSpc>
            </a:pPr>
            <a:r>
              <a:rPr lang="en-US" sz="2994" spc="95">
                <a:solidFill>
                  <a:srgbClr val="142505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​ Unlike bounds that only look at a ceiling or a floor, Theta notation bounds an algorithm's running time from both above and below by the same function (up to constant factors). This provides a precise and complete description of how resource usage scales as data grows.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549529" y="7789249"/>
            <a:ext cx="1916061" cy="1873110"/>
          </a:xfrm>
          <a:custGeom>
            <a:avLst/>
            <a:gdLst/>
            <a:ahLst/>
            <a:cxnLst/>
            <a:rect r="r" b="b" t="t" l="l"/>
            <a:pathLst>
              <a:path h="1873110" w="1916061">
                <a:moveTo>
                  <a:pt x="0" y="0"/>
                </a:moveTo>
                <a:lnTo>
                  <a:pt x="1916061" y="0"/>
                </a:lnTo>
                <a:lnTo>
                  <a:pt x="1916061" y="1873111"/>
                </a:lnTo>
                <a:lnTo>
                  <a:pt x="0" y="187311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true" rot="0">
            <a:off x="15758367" y="423408"/>
            <a:ext cx="1916061" cy="1873110"/>
          </a:xfrm>
          <a:custGeom>
            <a:avLst/>
            <a:gdLst/>
            <a:ahLst/>
            <a:cxnLst/>
            <a:rect r="r" b="b" t="t" l="l"/>
            <a:pathLst>
              <a:path h="1873110" w="1916061">
                <a:moveTo>
                  <a:pt x="1916061" y="1873110"/>
                </a:moveTo>
                <a:lnTo>
                  <a:pt x="0" y="1873110"/>
                </a:lnTo>
                <a:lnTo>
                  <a:pt x="0" y="0"/>
                </a:lnTo>
                <a:lnTo>
                  <a:pt x="1916061" y="0"/>
                </a:lnTo>
                <a:lnTo>
                  <a:pt x="1916061" y="187311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879712" y="2974487"/>
            <a:ext cx="4794716" cy="5130238"/>
          </a:xfrm>
          <a:custGeom>
            <a:avLst/>
            <a:gdLst/>
            <a:ahLst/>
            <a:cxnLst/>
            <a:rect r="r" b="b" t="t" l="l"/>
            <a:pathLst>
              <a:path h="5130238" w="4794716">
                <a:moveTo>
                  <a:pt x="0" y="0"/>
                </a:moveTo>
                <a:lnTo>
                  <a:pt x="4794716" y="0"/>
                </a:lnTo>
                <a:lnTo>
                  <a:pt x="4794716" y="5130238"/>
                </a:lnTo>
                <a:lnTo>
                  <a:pt x="0" y="513023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7451233">
            <a:off x="-2344887" y="7555362"/>
            <a:ext cx="5908684" cy="6097141"/>
          </a:xfrm>
          <a:custGeom>
            <a:avLst/>
            <a:gdLst/>
            <a:ahLst/>
            <a:cxnLst/>
            <a:rect r="r" b="b" t="t" l="l"/>
            <a:pathLst>
              <a:path h="6097141" w="5908684">
                <a:moveTo>
                  <a:pt x="5908684" y="6097141"/>
                </a:moveTo>
                <a:lnTo>
                  <a:pt x="0" y="6097141"/>
                </a:lnTo>
                <a:lnTo>
                  <a:pt x="0" y="0"/>
                </a:lnTo>
                <a:lnTo>
                  <a:pt x="5908684" y="0"/>
                </a:lnTo>
                <a:lnTo>
                  <a:pt x="5908684" y="609714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3348766">
            <a:off x="14802365" y="-3471969"/>
            <a:ext cx="5908684" cy="6097141"/>
          </a:xfrm>
          <a:custGeom>
            <a:avLst/>
            <a:gdLst/>
            <a:ahLst/>
            <a:cxnLst/>
            <a:rect r="r" b="b" t="t" l="l"/>
            <a:pathLst>
              <a:path h="6097141" w="5908684">
                <a:moveTo>
                  <a:pt x="5908684" y="6097142"/>
                </a:moveTo>
                <a:lnTo>
                  <a:pt x="0" y="6097142"/>
                </a:lnTo>
                <a:lnTo>
                  <a:pt x="0" y="0"/>
                </a:lnTo>
                <a:lnTo>
                  <a:pt x="5908684" y="0"/>
                </a:lnTo>
                <a:lnTo>
                  <a:pt x="5908684" y="609714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259664" y="9540301"/>
            <a:ext cx="5768671" cy="1919394"/>
          </a:xfrm>
          <a:custGeom>
            <a:avLst/>
            <a:gdLst/>
            <a:ahLst/>
            <a:cxnLst/>
            <a:rect r="r" b="b" t="t" l="l"/>
            <a:pathLst>
              <a:path h="1919394" w="5768671">
                <a:moveTo>
                  <a:pt x="0" y="0"/>
                </a:moveTo>
                <a:lnTo>
                  <a:pt x="5768672" y="0"/>
                </a:lnTo>
                <a:lnTo>
                  <a:pt x="5768672" y="1919395"/>
                </a:lnTo>
                <a:lnTo>
                  <a:pt x="0" y="19193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4520574">
            <a:off x="15375024" y="7387940"/>
            <a:ext cx="4738374" cy="4548839"/>
          </a:xfrm>
          <a:custGeom>
            <a:avLst/>
            <a:gdLst/>
            <a:ahLst/>
            <a:cxnLst/>
            <a:rect r="r" b="b" t="t" l="l"/>
            <a:pathLst>
              <a:path h="4548839" w="4738374">
                <a:moveTo>
                  <a:pt x="0" y="0"/>
                </a:moveTo>
                <a:lnTo>
                  <a:pt x="4738374" y="0"/>
                </a:lnTo>
                <a:lnTo>
                  <a:pt x="4738374" y="4548839"/>
                </a:lnTo>
                <a:lnTo>
                  <a:pt x="0" y="454883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400000">
            <a:off x="-2085229" y="-2025628"/>
            <a:ext cx="5102157" cy="4898071"/>
          </a:xfrm>
          <a:custGeom>
            <a:avLst/>
            <a:gdLst/>
            <a:ahLst/>
            <a:cxnLst/>
            <a:rect r="r" b="b" t="t" l="l"/>
            <a:pathLst>
              <a:path h="4898071" w="5102157">
                <a:moveTo>
                  <a:pt x="0" y="0"/>
                </a:moveTo>
                <a:lnTo>
                  <a:pt x="5102158" y="0"/>
                </a:lnTo>
                <a:lnTo>
                  <a:pt x="5102158" y="4898071"/>
                </a:lnTo>
                <a:lnTo>
                  <a:pt x="0" y="489807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92806" y="629430"/>
            <a:ext cx="2247403" cy="1046064"/>
          </a:xfrm>
          <a:custGeom>
            <a:avLst/>
            <a:gdLst/>
            <a:ahLst/>
            <a:cxnLst/>
            <a:rect r="r" b="b" t="t" l="l"/>
            <a:pathLst>
              <a:path h="1046064" w="2247403">
                <a:moveTo>
                  <a:pt x="0" y="0"/>
                </a:moveTo>
                <a:lnTo>
                  <a:pt x="2247404" y="0"/>
                </a:lnTo>
                <a:lnTo>
                  <a:pt x="2247404" y="1046064"/>
                </a:lnTo>
                <a:lnTo>
                  <a:pt x="0" y="104606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0">
            <a:off x="14714785" y="8464356"/>
            <a:ext cx="2087163" cy="971480"/>
          </a:xfrm>
          <a:custGeom>
            <a:avLst/>
            <a:gdLst/>
            <a:ahLst/>
            <a:cxnLst/>
            <a:rect r="r" b="b" t="t" l="l"/>
            <a:pathLst>
              <a:path h="971480" w="2087163">
                <a:moveTo>
                  <a:pt x="0" y="971480"/>
                </a:moveTo>
                <a:lnTo>
                  <a:pt x="2087164" y="971480"/>
                </a:lnTo>
                <a:lnTo>
                  <a:pt x="2087164" y="0"/>
                </a:lnTo>
                <a:lnTo>
                  <a:pt x="0" y="0"/>
                </a:lnTo>
                <a:lnTo>
                  <a:pt x="0" y="97148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259664" y="-1070163"/>
            <a:ext cx="5768671" cy="1919394"/>
          </a:xfrm>
          <a:custGeom>
            <a:avLst/>
            <a:gdLst/>
            <a:ahLst/>
            <a:cxnLst/>
            <a:rect r="r" b="b" t="t" l="l"/>
            <a:pathLst>
              <a:path h="1919394" w="5768671">
                <a:moveTo>
                  <a:pt x="0" y="0"/>
                </a:moveTo>
                <a:lnTo>
                  <a:pt x="5768672" y="0"/>
                </a:lnTo>
                <a:lnTo>
                  <a:pt x="5768672" y="1919394"/>
                </a:lnTo>
                <a:lnTo>
                  <a:pt x="0" y="19193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49529" y="7789249"/>
            <a:ext cx="1916061" cy="1873110"/>
          </a:xfrm>
          <a:custGeom>
            <a:avLst/>
            <a:gdLst/>
            <a:ahLst/>
            <a:cxnLst/>
            <a:rect r="r" b="b" t="t" l="l"/>
            <a:pathLst>
              <a:path h="1873110" w="1916061">
                <a:moveTo>
                  <a:pt x="0" y="0"/>
                </a:moveTo>
                <a:lnTo>
                  <a:pt x="1916061" y="0"/>
                </a:lnTo>
                <a:lnTo>
                  <a:pt x="1916061" y="1873111"/>
                </a:lnTo>
                <a:lnTo>
                  <a:pt x="0" y="187311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true" rot="0">
            <a:off x="15758367" y="423408"/>
            <a:ext cx="1916061" cy="1873110"/>
          </a:xfrm>
          <a:custGeom>
            <a:avLst/>
            <a:gdLst/>
            <a:ahLst/>
            <a:cxnLst/>
            <a:rect r="r" b="b" t="t" l="l"/>
            <a:pathLst>
              <a:path h="1873110" w="1916061">
                <a:moveTo>
                  <a:pt x="1916061" y="1873110"/>
                </a:moveTo>
                <a:lnTo>
                  <a:pt x="0" y="1873110"/>
                </a:lnTo>
                <a:lnTo>
                  <a:pt x="0" y="0"/>
                </a:lnTo>
                <a:lnTo>
                  <a:pt x="1916061" y="0"/>
                </a:lnTo>
                <a:lnTo>
                  <a:pt x="1916061" y="187311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685661" y="4316609"/>
            <a:ext cx="4517323" cy="3046392"/>
          </a:xfrm>
          <a:custGeom>
            <a:avLst/>
            <a:gdLst/>
            <a:ahLst/>
            <a:cxnLst/>
            <a:rect r="r" b="b" t="t" l="l"/>
            <a:pathLst>
              <a:path h="3046392" w="4517323">
                <a:moveTo>
                  <a:pt x="0" y="0"/>
                </a:moveTo>
                <a:lnTo>
                  <a:pt x="4517323" y="0"/>
                </a:lnTo>
                <a:lnTo>
                  <a:pt x="4517323" y="3046391"/>
                </a:lnTo>
                <a:lnTo>
                  <a:pt x="0" y="304639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1365" t="-19795" r="-54867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573215" y="1488063"/>
            <a:ext cx="11141571" cy="1486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1"/>
              </a:lnSpc>
            </a:pPr>
            <a:r>
              <a:rPr lang="en-US" sz="9694" spc="445">
                <a:solidFill>
                  <a:srgbClr val="142505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DESIGN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807886" y="3635440"/>
            <a:ext cx="1397307" cy="1009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26"/>
              </a:lnSpc>
            </a:pPr>
            <a:r>
              <a:rPr lang="en-US" sz="6560" spc="301">
                <a:solidFill>
                  <a:srgbClr val="142505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1.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788836" y="5210175"/>
            <a:ext cx="1397307" cy="1009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26"/>
              </a:lnSpc>
            </a:pPr>
            <a:r>
              <a:rPr lang="en-US" sz="6560" spc="301">
                <a:solidFill>
                  <a:srgbClr val="142505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2.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205193" y="7056507"/>
            <a:ext cx="7823143" cy="1722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354"/>
              </a:lnSpc>
            </a:pPr>
            <a:r>
              <a:rPr lang="en-US" b="true" sz="2448" spc="78">
                <a:solidFill>
                  <a:srgbClr val="142505"/>
                </a:solidFill>
                <a:latin typeface="Times New Roman MT Medium"/>
                <a:ea typeface="Times New Roman MT Medium"/>
                <a:cs typeface="Times New Roman MT Medium"/>
                <a:sym typeface="Times New Roman MT Medium"/>
              </a:rPr>
              <a:t>Predictability</a:t>
            </a:r>
            <a:r>
              <a:rPr lang="en-US" sz="2448" spc="78">
                <a:solidFill>
                  <a:srgbClr val="142505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: Knowing that an algorithm's design yields a specific tight bound helps developers guarantee performance guarantees across varying enterprise scales.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788836" y="6978611"/>
            <a:ext cx="1397307" cy="1009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26"/>
              </a:lnSpc>
            </a:pPr>
            <a:r>
              <a:rPr lang="en-US" sz="6560" spc="301">
                <a:solidFill>
                  <a:srgbClr val="142505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3.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205193" y="5156848"/>
            <a:ext cx="7823143" cy="1718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354"/>
              </a:lnSpc>
            </a:pPr>
            <a:r>
              <a:rPr lang="en-US" sz="2448" spc="78">
                <a:solidFill>
                  <a:srgbClr val="142505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Focusing on Dominant Growth: Design choices focus on the fastest-growing term because lower-order terms and constant coefficients become negligible for large inputs.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205193" y="3619140"/>
            <a:ext cx="7823143" cy="1299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354"/>
              </a:lnSpc>
            </a:pPr>
            <a:r>
              <a:rPr lang="en-US" sz="2448" spc="78">
                <a:solidFill>
                  <a:srgbClr val="142505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Role in Algorithm Design: During the design phase, engineers use asymptotic notations to predict scalability before writing code.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003975" y="940647"/>
            <a:ext cx="14280051" cy="1410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26"/>
              </a:lnSpc>
            </a:pPr>
            <a:r>
              <a:rPr lang="en-US" sz="9135" spc="420">
                <a:solidFill>
                  <a:srgbClr val="142505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ALGORITHM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838676" y="3661960"/>
            <a:ext cx="5153787" cy="6172200"/>
          </a:xfrm>
          <a:custGeom>
            <a:avLst/>
            <a:gdLst/>
            <a:ahLst/>
            <a:cxnLst/>
            <a:rect r="r" b="b" t="t" l="l"/>
            <a:pathLst>
              <a:path h="6172200" w="5153787">
                <a:moveTo>
                  <a:pt x="0" y="0"/>
                </a:moveTo>
                <a:lnTo>
                  <a:pt x="5153787" y="0"/>
                </a:lnTo>
                <a:lnTo>
                  <a:pt x="5153787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05513" y="3733440"/>
            <a:ext cx="5153787" cy="6172200"/>
          </a:xfrm>
          <a:custGeom>
            <a:avLst/>
            <a:gdLst/>
            <a:ahLst/>
            <a:cxnLst/>
            <a:rect r="r" b="b" t="t" l="l"/>
            <a:pathLst>
              <a:path h="6172200" w="5153787">
                <a:moveTo>
                  <a:pt x="0" y="0"/>
                </a:moveTo>
                <a:lnTo>
                  <a:pt x="5153787" y="0"/>
                </a:lnTo>
                <a:lnTo>
                  <a:pt x="5153787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026425" y="8579391"/>
            <a:ext cx="5132157" cy="1707609"/>
          </a:xfrm>
          <a:custGeom>
            <a:avLst/>
            <a:gdLst/>
            <a:ahLst/>
            <a:cxnLst/>
            <a:rect r="r" b="b" t="t" l="l"/>
            <a:pathLst>
              <a:path h="1707609" w="5132157">
                <a:moveTo>
                  <a:pt x="0" y="0"/>
                </a:moveTo>
                <a:lnTo>
                  <a:pt x="5132158" y="0"/>
                </a:lnTo>
                <a:lnTo>
                  <a:pt x="5132158" y="1707609"/>
                </a:lnTo>
                <a:lnTo>
                  <a:pt x="0" y="17076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-3348766">
            <a:off x="14802365" y="-3471969"/>
            <a:ext cx="5908684" cy="6097141"/>
          </a:xfrm>
          <a:custGeom>
            <a:avLst/>
            <a:gdLst/>
            <a:ahLst/>
            <a:cxnLst/>
            <a:rect r="r" b="b" t="t" l="l"/>
            <a:pathLst>
              <a:path h="6097141" w="5908684">
                <a:moveTo>
                  <a:pt x="5908684" y="6097142"/>
                </a:moveTo>
                <a:lnTo>
                  <a:pt x="0" y="6097142"/>
                </a:lnTo>
                <a:lnTo>
                  <a:pt x="0" y="0"/>
                </a:lnTo>
                <a:lnTo>
                  <a:pt x="5908684" y="0"/>
                </a:lnTo>
                <a:lnTo>
                  <a:pt x="5908684" y="609714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7451233">
            <a:off x="-2344887" y="7555362"/>
            <a:ext cx="5908684" cy="6097141"/>
          </a:xfrm>
          <a:custGeom>
            <a:avLst/>
            <a:gdLst/>
            <a:ahLst/>
            <a:cxnLst/>
            <a:rect r="r" b="b" t="t" l="l"/>
            <a:pathLst>
              <a:path h="6097141" w="5908684">
                <a:moveTo>
                  <a:pt x="5908684" y="6097141"/>
                </a:moveTo>
                <a:lnTo>
                  <a:pt x="0" y="6097141"/>
                </a:lnTo>
                <a:lnTo>
                  <a:pt x="0" y="0"/>
                </a:lnTo>
                <a:lnTo>
                  <a:pt x="5908684" y="0"/>
                </a:lnTo>
                <a:lnTo>
                  <a:pt x="5908684" y="6097141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847387" y="346375"/>
            <a:ext cx="1639119" cy="1889663"/>
          </a:xfrm>
          <a:custGeom>
            <a:avLst/>
            <a:gdLst/>
            <a:ahLst/>
            <a:cxnLst/>
            <a:rect r="r" b="b" t="t" l="l"/>
            <a:pathLst>
              <a:path h="1889663" w="1639119">
                <a:moveTo>
                  <a:pt x="0" y="0"/>
                </a:moveTo>
                <a:lnTo>
                  <a:pt x="1639119" y="0"/>
                </a:lnTo>
                <a:lnTo>
                  <a:pt x="1639119" y="1889662"/>
                </a:lnTo>
                <a:lnTo>
                  <a:pt x="0" y="188966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733274" y="0"/>
            <a:ext cx="5768671" cy="1919394"/>
          </a:xfrm>
          <a:custGeom>
            <a:avLst/>
            <a:gdLst/>
            <a:ahLst/>
            <a:cxnLst/>
            <a:rect r="r" b="b" t="t" l="l"/>
            <a:pathLst>
              <a:path h="1919394" w="5768671">
                <a:moveTo>
                  <a:pt x="0" y="0"/>
                </a:moveTo>
                <a:lnTo>
                  <a:pt x="5768671" y="0"/>
                </a:lnTo>
                <a:lnTo>
                  <a:pt x="5768671" y="1919394"/>
                </a:lnTo>
                <a:lnTo>
                  <a:pt x="0" y="19193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true" rot="0">
            <a:off x="879657" y="7944497"/>
            <a:ext cx="1639119" cy="1889663"/>
          </a:xfrm>
          <a:custGeom>
            <a:avLst/>
            <a:gdLst/>
            <a:ahLst/>
            <a:cxnLst/>
            <a:rect r="r" b="b" t="t" l="l"/>
            <a:pathLst>
              <a:path h="1889663" w="1639119">
                <a:moveTo>
                  <a:pt x="1639119" y="1889663"/>
                </a:moveTo>
                <a:lnTo>
                  <a:pt x="0" y="1889663"/>
                </a:lnTo>
                <a:lnTo>
                  <a:pt x="0" y="0"/>
                </a:lnTo>
                <a:lnTo>
                  <a:pt x="1639119" y="0"/>
                </a:lnTo>
                <a:lnTo>
                  <a:pt x="1639119" y="1889663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6923920">
            <a:off x="3158018" y="-2047815"/>
            <a:ext cx="2760252" cy="2800994"/>
          </a:xfrm>
          <a:custGeom>
            <a:avLst/>
            <a:gdLst/>
            <a:ahLst/>
            <a:cxnLst/>
            <a:rect r="r" b="b" t="t" l="l"/>
            <a:pathLst>
              <a:path h="2800994" w="2760252">
                <a:moveTo>
                  <a:pt x="0" y="0"/>
                </a:moveTo>
                <a:lnTo>
                  <a:pt x="2760252" y="0"/>
                </a:lnTo>
                <a:lnTo>
                  <a:pt x="2760252" y="2800994"/>
                </a:lnTo>
                <a:lnTo>
                  <a:pt x="0" y="280099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466446" y="3733440"/>
            <a:ext cx="5153787" cy="6172200"/>
          </a:xfrm>
          <a:custGeom>
            <a:avLst/>
            <a:gdLst/>
            <a:ahLst/>
            <a:cxnLst/>
            <a:rect r="r" b="b" t="t" l="l"/>
            <a:pathLst>
              <a:path h="6172200" w="5153787">
                <a:moveTo>
                  <a:pt x="0" y="0"/>
                </a:moveTo>
                <a:lnTo>
                  <a:pt x="5153787" y="0"/>
                </a:lnTo>
                <a:lnTo>
                  <a:pt x="5153787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-155723" y="2237195"/>
            <a:ext cx="18599447" cy="1078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03"/>
              </a:lnSpc>
            </a:pPr>
            <a:r>
              <a:rPr lang="en-US" sz="2994" spc="95">
                <a:solidFill>
                  <a:srgbClr val="142505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Algorithm analysis using Theta notation evaluates how execution steps </a:t>
            </a:r>
          </a:p>
          <a:p>
            <a:pPr algn="ctr" marL="0" indent="0" lvl="0">
              <a:lnSpc>
                <a:spcPts val="4103"/>
              </a:lnSpc>
            </a:pPr>
            <a:r>
              <a:rPr lang="en-US" sz="2994" spc="95">
                <a:solidFill>
                  <a:srgbClr val="142505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scale across typical loop structures: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48080" y="3884950"/>
            <a:ext cx="5334979" cy="802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28369" indent="-464185" lvl="1">
              <a:lnSpc>
                <a:spcPts val="5890"/>
              </a:lnSpc>
              <a:buFont typeface="Arial"/>
              <a:buChar char="•"/>
            </a:pPr>
            <a:r>
              <a:rPr lang="en-US" b="true" sz="4299" spc="137">
                <a:solidFill>
                  <a:srgbClr val="142505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Single Loop 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691447" y="3884950"/>
            <a:ext cx="5334979" cy="795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28368" indent="-464184" lvl="1">
              <a:lnSpc>
                <a:spcPts val="589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4299" spc="137" strike="noStrike" u="none">
                <a:solidFill>
                  <a:srgbClr val="142505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Triple Loop :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040088" y="3825521"/>
            <a:ext cx="5334979" cy="795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28368" indent="-464184" lvl="1">
              <a:lnSpc>
                <a:spcPts val="589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4299" spc="137" strike="noStrike" u="none">
                <a:solidFill>
                  <a:srgbClr val="142505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Double Loop :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04069" y="4929411"/>
            <a:ext cx="4774988" cy="3656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10"/>
              </a:lnSpc>
            </a:pPr>
            <a:r>
              <a:rPr lang="en-US" sz="3000" spc="96">
                <a:solidFill>
                  <a:srgbClr val="142505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for(i = 1; i &lt;= n; i++) {</a:t>
            </a:r>
          </a:p>
          <a:p>
            <a:pPr algn="l">
              <a:lnSpc>
                <a:spcPts val="4110"/>
              </a:lnSpc>
            </a:pPr>
            <a:r>
              <a:rPr lang="en-US" sz="3000" spc="96">
                <a:solidFill>
                  <a:srgbClr val="142505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print(i); </a:t>
            </a:r>
          </a:p>
          <a:p>
            <a:pPr algn="l">
              <a:lnSpc>
                <a:spcPts val="4110"/>
              </a:lnSpc>
            </a:pPr>
            <a:r>
              <a:rPr lang="en-US" sz="3000" spc="96">
                <a:solidFill>
                  <a:srgbClr val="142505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}</a:t>
            </a:r>
          </a:p>
          <a:p>
            <a:pPr algn="l">
              <a:lnSpc>
                <a:spcPts val="4110"/>
              </a:lnSpc>
            </a:pPr>
          </a:p>
          <a:p>
            <a:pPr algn="l">
              <a:lnSpc>
                <a:spcPts val="4110"/>
              </a:lnSpc>
            </a:pPr>
            <a:r>
              <a:rPr lang="en-US" sz="3000" spc="96">
                <a:solidFill>
                  <a:srgbClr val="142505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▪︎</a:t>
            </a:r>
            <a:r>
              <a:rPr lang="en-US" sz="3000" spc="96">
                <a:solidFill>
                  <a:srgbClr val="142505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Executes n times</a:t>
            </a:r>
          </a:p>
          <a:p>
            <a:pPr algn="l">
              <a:lnSpc>
                <a:spcPts val="4110"/>
              </a:lnSpc>
            </a:pPr>
            <a:r>
              <a:rPr lang="en-US" sz="3000" spc="96">
                <a:solidFill>
                  <a:srgbClr val="142505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▪︎</a:t>
            </a:r>
            <a:r>
              <a:rPr lang="en-US" sz="3000" spc="96" b="true">
                <a:solidFill>
                  <a:srgbClr val="142505"/>
                </a:solidFill>
                <a:latin typeface="Times New Roman MT Medium"/>
                <a:ea typeface="Times New Roman MT Medium"/>
                <a:cs typeface="Times New Roman MT Medium"/>
                <a:sym typeface="Times New Roman MT Medium"/>
              </a:rPr>
              <a:t>Time Complexity</a:t>
            </a:r>
            <a:r>
              <a:rPr lang="en-US" sz="3000" spc="96">
                <a:solidFill>
                  <a:srgbClr val="142505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: Θ(n)</a:t>
            </a:r>
          </a:p>
          <a:p>
            <a:pPr algn="l">
              <a:lnSpc>
                <a:spcPts val="4110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6703470" y="4807191"/>
            <a:ext cx="4774988" cy="3656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10"/>
              </a:lnSpc>
            </a:pPr>
            <a:r>
              <a:rPr lang="en-US" sz="3000" spc="96">
                <a:solidFill>
                  <a:srgbClr val="142505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for(i = 1; i &lt;= n; i++){</a:t>
            </a:r>
          </a:p>
          <a:p>
            <a:pPr algn="l">
              <a:lnSpc>
                <a:spcPts val="4110"/>
              </a:lnSpc>
            </a:pPr>
            <a:r>
              <a:rPr lang="en-US" sz="3000" spc="96">
                <a:solidFill>
                  <a:srgbClr val="142505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  for(j = 1; j &lt;= n; j++) {</a:t>
            </a:r>
          </a:p>
          <a:p>
            <a:pPr algn="l">
              <a:lnSpc>
                <a:spcPts val="4110"/>
              </a:lnSpc>
            </a:pPr>
            <a:r>
              <a:rPr lang="en-US" sz="3000" spc="96">
                <a:solidFill>
                  <a:srgbClr val="142505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      print(i, j);</a:t>
            </a:r>
          </a:p>
          <a:p>
            <a:pPr algn="l">
              <a:lnSpc>
                <a:spcPts val="4110"/>
              </a:lnSpc>
            </a:pPr>
            <a:r>
              <a:rPr lang="en-US" sz="3000" spc="96">
                <a:solidFill>
                  <a:srgbClr val="142505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}}</a:t>
            </a:r>
          </a:p>
          <a:p>
            <a:pPr algn="l">
              <a:lnSpc>
                <a:spcPts val="4110"/>
              </a:lnSpc>
            </a:pPr>
          </a:p>
          <a:p>
            <a:pPr algn="l">
              <a:lnSpc>
                <a:spcPts val="4110"/>
              </a:lnSpc>
            </a:pPr>
            <a:r>
              <a:rPr lang="en-US" sz="3000" spc="96">
                <a:solidFill>
                  <a:srgbClr val="142505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▪︎Executes n × n time</a:t>
            </a:r>
          </a:p>
          <a:p>
            <a:pPr algn="l">
              <a:lnSpc>
                <a:spcPts val="4110"/>
              </a:lnSpc>
            </a:pPr>
            <a:r>
              <a:rPr lang="en-US" sz="3000" spc="96">
                <a:solidFill>
                  <a:srgbClr val="142505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▪︎</a:t>
            </a:r>
            <a:r>
              <a:rPr lang="en-US" b="true" sz="3000" spc="96">
                <a:solidFill>
                  <a:srgbClr val="142505"/>
                </a:solidFill>
                <a:latin typeface="Times New Roman MT Medium"/>
                <a:ea typeface="Times New Roman MT Medium"/>
                <a:cs typeface="Times New Roman MT Medium"/>
                <a:sym typeface="Times New Roman MT Medium"/>
              </a:rPr>
              <a:t>Time Complexity</a:t>
            </a:r>
            <a:r>
              <a:rPr lang="en-US" sz="3000" spc="96">
                <a:solidFill>
                  <a:srgbClr val="142505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: Θ(n</a:t>
            </a:r>
            <a:r>
              <a:rPr lang="en-US" sz="3000" spc="96">
                <a:solidFill>
                  <a:srgbClr val="142505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2</a:t>
            </a:r>
            <a:r>
              <a:rPr lang="en-US" sz="3000" spc="96">
                <a:solidFill>
                  <a:srgbClr val="142505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)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-5400000">
            <a:off x="-1210913" y="5853928"/>
            <a:ext cx="2075254" cy="2105885"/>
          </a:xfrm>
          <a:custGeom>
            <a:avLst/>
            <a:gdLst/>
            <a:ahLst/>
            <a:cxnLst/>
            <a:rect r="r" b="b" t="t" l="l"/>
            <a:pathLst>
              <a:path h="2105885" w="2075254">
                <a:moveTo>
                  <a:pt x="0" y="0"/>
                </a:moveTo>
                <a:lnTo>
                  <a:pt x="2075254" y="0"/>
                </a:lnTo>
                <a:lnTo>
                  <a:pt x="2075254" y="2105885"/>
                </a:lnTo>
                <a:lnTo>
                  <a:pt x="0" y="210588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5400000">
            <a:off x="17501821" y="2220722"/>
            <a:ext cx="2075254" cy="2105885"/>
          </a:xfrm>
          <a:custGeom>
            <a:avLst/>
            <a:gdLst/>
            <a:ahLst/>
            <a:cxnLst/>
            <a:rect r="r" b="b" t="t" l="l"/>
            <a:pathLst>
              <a:path h="2105885" w="2075254">
                <a:moveTo>
                  <a:pt x="0" y="0"/>
                </a:moveTo>
                <a:lnTo>
                  <a:pt x="2075254" y="0"/>
                </a:lnTo>
                <a:lnTo>
                  <a:pt x="2075254" y="2105885"/>
                </a:lnTo>
                <a:lnTo>
                  <a:pt x="0" y="210588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2463443" y="5038725"/>
            <a:ext cx="5023062" cy="4334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74"/>
              </a:lnSpc>
              <a:spcBef>
                <a:spcPct val="0"/>
              </a:spcBef>
            </a:pPr>
            <a:r>
              <a:rPr lang="en-US" sz="2755" spc="88" strike="noStrike" u="none">
                <a:solidFill>
                  <a:srgbClr val="142505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for (int i = 1; i &lt;= n; i++) {</a:t>
            </a:r>
          </a:p>
          <a:p>
            <a:pPr algn="l" marL="0" indent="0" lvl="0">
              <a:lnSpc>
                <a:spcPts val="3774"/>
              </a:lnSpc>
              <a:spcBef>
                <a:spcPct val="0"/>
              </a:spcBef>
            </a:pPr>
            <a:r>
              <a:rPr lang="en-US" sz="2755" spc="88" strike="noStrike" u="none">
                <a:solidFill>
                  <a:srgbClr val="142505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  for (int j = 1; j &lt;= n; j++) {</a:t>
            </a:r>
          </a:p>
          <a:p>
            <a:pPr algn="l" marL="0" indent="0" lvl="0">
              <a:lnSpc>
                <a:spcPts val="3774"/>
              </a:lnSpc>
              <a:spcBef>
                <a:spcPct val="0"/>
              </a:spcBef>
            </a:pPr>
            <a:r>
              <a:rPr lang="en-US" sz="2755" spc="88" strike="noStrike" u="none">
                <a:solidFill>
                  <a:srgbClr val="142505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      for (int k = 1; k &lt;= n; k++) {</a:t>
            </a:r>
          </a:p>
          <a:p>
            <a:pPr algn="l" marL="0" indent="0" lvl="0">
              <a:lnSpc>
                <a:spcPts val="3774"/>
              </a:lnSpc>
              <a:spcBef>
                <a:spcPct val="0"/>
              </a:spcBef>
            </a:pPr>
            <a:r>
              <a:rPr lang="en-US" sz="2755" spc="88" strike="noStrike" u="none">
                <a:solidFill>
                  <a:srgbClr val="142505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          print(i, j, k);</a:t>
            </a:r>
          </a:p>
          <a:p>
            <a:pPr algn="l" marL="0" indent="0" lvl="0">
              <a:lnSpc>
                <a:spcPts val="3774"/>
              </a:lnSpc>
              <a:spcBef>
                <a:spcPct val="0"/>
              </a:spcBef>
            </a:pPr>
            <a:r>
              <a:rPr lang="en-US" sz="2755" spc="88" strike="noStrike" u="none">
                <a:solidFill>
                  <a:srgbClr val="142505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}}}</a:t>
            </a:r>
          </a:p>
          <a:p>
            <a:pPr algn="l" marL="0" indent="0" lvl="0">
              <a:lnSpc>
                <a:spcPts val="3774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774"/>
              </a:lnSpc>
              <a:spcBef>
                <a:spcPct val="0"/>
              </a:spcBef>
            </a:pPr>
            <a:r>
              <a:rPr lang="en-US" sz="2755" spc="88" strike="noStrike" u="none">
                <a:solidFill>
                  <a:srgbClr val="142505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▪︎Executes n × n × n times</a:t>
            </a:r>
          </a:p>
          <a:p>
            <a:pPr algn="l" marL="0" indent="0" lvl="0">
              <a:lnSpc>
                <a:spcPts val="3774"/>
              </a:lnSpc>
              <a:spcBef>
                <a:spcPct val="0"/>
              </a:spcBef>
            </a:pPr>
            <a:r>
              <a:rPr lang="en-US" sz="2755" spc="88" strike="noStrike" u="none">
                <a:solidFill>
                  <a:srgbClr val="142505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▪︎</a:t>
            </a:r>
            <a:r>
              <a:rPr lang="en-US" b="true" sz="2755" spc="88" strike="noStrike" u="none">
                <a:solidFill>
                  <a:srgbClr val="142505"/>
                </a:solidFill>
                <a:latin typeface="Times New Roman MT Medium"/>
                <a:ea typeface="Times New Roman MT Medium"/>
                <a:cs typeface="Times New Roman MT Medium"/>
                <a:sym typeface="Times New Roman MT Medium"/>
              </a:rPr>
              <a:t>Time Complexity</a:t>
            </a:r>
            <a:r>
              <a:rPr lang="en-US" sz="2755" spc="88" strike="noStrike" u="none">
                <a:solidFill>
                  <a:srgbClr val="142505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: Θ(n</a:t>
            </a:r>
            <a:r>
              <a:rPr lang="en-US" sz="2755" spc="88" strike="noStrike" u="none">
                <a:solidFill>
                  <a:srgbClr val="142505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3</a:t>
            </a:r>
            <a:r>
              <a:rPr lang="en-US" sz="2755" spc="88" strike="noStrike" u="none">
                <a:solidFill>
                  <a:srgbClr val="142505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)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7451233">
            <a:off x="-2344887" y="7555362"/>
            <a:ext cx="5908684" cy="6097141"/>
          </a:xfrm>
          <a:custGeom>
            <a:avLst/>
            <a:gdLst/>
            <a:ahLst/>
            <a:cxnLst/>
            <a:rect r="r" b="b" t="t" l="l"/>
            <a:pathLst>
              <a:path h="6097141" w="5908684">
                <a:moveTo>
                  <a:pt x="5908684" y="6097141"/>
                </a:moveTo>
                <a:lnTo>
                  <a:pt x="0" y="6097141"/>
                </a:lnTo>
                <a:lnTo>
                  <a:pt x="0" y="0"/>
                </a:lnTo>
                <a:lnTo>
                  <a:pt x="5908684" y="0"/>
                </a:lnTo>
                <a:lnTo>
                  <a:pt x="5908684" y="609714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573215" y="1488063"/>
            <a:ext cx="11141571" cy="1486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1"/>
              </a:lnSpc>
            </a:pPr>
            <a:r>
              <a:rPr lang="en-US" sz="9694" spc="445">
                <a:solidFill>
                  <a:srgbClr val="142505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EXAMPLE</a:t>
            </a:r>
          </a:p>
        </p:txBody>
      </p:sp>
      <p:sp>
        <p:nvSpPr>
          <p:cNvPr name="Freeform 4" id="4"/>
          <p:cNvSpPr/>
          <p:nvPr/>
        </p:nvSpPr>
        <p:spPr>
          <a:xfrm flipH="true" flipV="true" rot="-3348766">
            <a:off x="14802365" y="-3471969"/>
            <a:ext cx="5908684" cy="6097141"/>
          </a:xfrm>
          <a:custGeom>
            <a:avLst/>
            <a:gdLst/>
            <a:ahLst/>
            <a:cxnLst/>
            <a:rect r="r" b="b" t="t" l="l"/>
            <a:pathLst>
              <a:path h="6097141" w="5908684">
                <a:moveTo>
                  <a:pt x="5908684" y="6097142"/>
                </a:moveTo>
                <a:lnTo>
                  <a:pt x="0" y="6097142"/>
                </a:lnTo>
                <a:lnTo>
                  <a:pt x="0" y="0"/>
                </a:lnTo>
                <a:lnTo>
                  <a:pt x="5908684" y="0"/>
                </a:lnTo>
                <a:lnTo>
                  <a:pt x="5908684" y="609714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259664" y="9540301"/>
            <a:ext cx="5768671" cy="1919394"/>
          </a:xfrm>
          <a:custGeom>
            <a:avLst/>
            <a:gdLst/>
            <a:ahLst/>
            <a:cxnLst/>
            <a:rect r="r" b="b" t="t" l="l"/>
            <a:pathLst>
              <a:path h="1919394" w="5768671">
                <a:moveTo>
                  <a:pt x="0" y="0"/>
                </a:moveTo>
                <a:lnTo>
                  <a:pt x="5768672" y="0"/>
                </a:lnTo>
                <a:lnTo>
                  <a:pt x="5768672" y="1919395"/>
                </a:lnTo>
                <a:lnTo>
                  <a:pt x="0" y="19193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4520574">
            <a:off x="15375024" y="7387940"/>
            <a:ext cx="4738374" cy="4548839"/>
          </a:xfrm>
          <a:custGeom>
            <a:avLst/>
            <a:gdLst/>
            <a:ahLst/>
            <a:cxnLst/>
            <a:rect r="r" b="b" t="t" l="l"/>
            <a:pathLst>
              <a:path h="4548839" w="4738374">
                <a:moveTo>
                  <a:pt x="0" y="0"/>
                </a:moveTo>
                <a:lnTo>
                  <a:pt x="4738374" y="0"/>
                </a:lnTo>
                <a:lnTo>
                  <a:pt x="4738374" y="4548839"/>
                </a:lnTo>
                <a:lnTo>
                  <a:pt x="0" y="454883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5400000">
            <a:off x="-2085229" y="-2025628"/>
            <a:ext cx="5102157" cy="4898071"/>
          </a:xfrm>
          <a:custGeom>
            <a:avLst/>
            <a:gdLst/>
            <a:ahLst/>
            <a:cxnLst/>
            <a:rect r="r" b="b" t="t" l="l"/>
            <a:pathLst>
              <a:path h="4898071" w="5102157">
                <a:moveTo>
                  <a:pt x="0" y="0"/>
                </a:moveTo>
                <a:lnTo>
                  <a:pt x="5102158" y="0"/>
                </a:lnTo>
                <a:lnTo>
                  <a:pt x="5102158" y="4898071"/>
                </a:lnTo>
                <a:lnTo>
                  <a:pt x="0" y="489807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92806" y="629430"/>
            <a:ext cx="2247403" cy="1046064"/>
          </a:xfrm>
          <a:custGeom>
            <a:avLst/>
            <a:gdLst/>
            <a:ahLst/>
            <a:cxnLst/>
            <a:rect r="r" b="b" t="t" l="l"/>
            <a:pathLst>
              <a:path h="1046064" w="2247403">
                <a:moveTo>
                  <a:pt x="0" y="0"/>
                </a:moveTo>
                <a:lnTo>
                  <a:pt x="2247404" y="0"/>
                </a:lnTo>
                <a:lnTo>
                  <a:pt x="2247404" y="1046064"/>
                </a:lnTo>
                <a:lnTo>
                  <a:pt x="0" y="104606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0">
            <a:off x="14714785" y="8464356"/>
            <a:ext cx="2087163" cy="971480"/>
          </a:xfrm>
          <a:custGeom>
            <a:avLst/>
            <a:gdLst/>
            <a:ahLst/>
            <a:cxnLst/>
            <a:rect r="r" b="b" t="t" l="l"/>
            <a:pathLst>
              <a:path h="971480" w="2087163">
                <a:moveTo>
                  <a:pt x="0" y="971480"/>
                </a:moveTo>
                <a:lnTo>
                  <a:pt x="2087164" y="971480"/>
                </a:lnTo>
                <a:lnTo>
                  <a:pt x="2087164" y="0"/>
                </a:lnTo>
                <a:lnTo>
                  <a:pt x="0" y="0"/>
                </a:lnTo>
                <a:lnTo>
                  <a:pt x="0" y="97148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-5400000">
            <a:off x="-1241738" y="3467618"/>
            <a:ext cx="2483476" cy="3015119"/>
          </a:xfrm>
          <a:custGeom>
            <a:avLst/>
            <a:gdLst/>
            <a:ahLst/>
            <a:cxnLst/>
            <a:rect r="r" b="b" t="t" l="l"/>
            <a:pathLst>
              <a:path h="3015119" w="2483476">
                <a:moveTo>
                  <a:pt x="2483476" y="0"/>
                </a:moveTo>
                <a:lnTo>
                  <a:pt x="0" y="0"/>
                </a:lnTo>
                <a:lnTo>
                  <a:pt x="0" y="3015119"/>
                </a:lnTo>
                <a:lnTo>
                  <a:pt x="2483476" y="3015119"/>
                </a:lnTo>
                <a:lnTo>
                  <a:pt x="2483476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true" rot="-5400000">
            <a:off x="16843093" y="3467618"/>
            <a:ext cx="2483476" cy="3015119"/>
          </a:xfrm>
          <a:custGeom>
            <a:avLst/>
            <a:gdLst/>
            <a:ahLst/>
            <a:cxnLst/>
            <a:rect r="r" b="b" t="t" l="l"/>
            <a:pathLst>
              <a:path h="3015119" w="2483476">
                <a:moveTo>
                  <a:pt x="0" y="3015119"/>
                </a:moveTo>
                <a:lnTo>
                  <a:pt x="2483477" y="3015119"/>
                </a:lnTo>
                <a:lnTo>
                  <a:pt x="2483477" y="0"/>
                </a:lnTo>
                <a:lnTo>
                  <a:pt x="0" y="0"/>
                </a:lnTo>
                <a:lnTo>
                  <a:pt x="0" y="3015119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259664" y="-1070163"/>
            <a:ext cx="5768671" cy="1919394"/>
          </a:xfrm>
          <a:custGeom>
            <a:avLst/>
            <a:gdLst/>
            <a:ahLst/>
            <a:cxnLst/>
            <a:rect r="r" b="b" t="t" l="l"/>
            <a:pathLst>
              <a:path h="1919394" w="5768671">
                <a:moveTo>
                  <a:pt x="0" y="0"/>
                </a:moveTo>
                <a:lnTo>
                  <a:pt x="5768672" y="0"/>
                </a:lnTo>
                <a:lnTo>
                  <a:pt x="5768672" y="1919394"/>
                </a:lnTo>
                <a:lnTo>
                  <a:pt x="0" y="19193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549529" y="7789249"/>
            <a:ext cx="1916061" cy="1873110"/>
          </a:xfrm>
          <a:custGeom>
            <a:avLst/>
            <a:gdLst/>
            <a:ahLst/>
            <a:cxnLst/>
            <a:rect r="r" b="b" t="t" l="l"/>
            <a:pathLst>
              <a:path h="1873110" w="1916061">
                <a:moveTo>
                  <a:pt x="0" y="0"/>
                </a:moveTo>
                <a:lnTo>
                  <a:pt x="1916061" y="0"/>
                </a:lnTo>
                <a:lnTo>
                  <a:pt x="1916061" y="1873111"/>
                </a:lnTo>
                <a:lnTo>
                  <a:pt x="0" y="187311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true" flipV="true" rot="0">
            <a:off x="15758367" y="423408"/>
            <a:ext cx="1916061" cy="1873110"/>
          </a:xfrm>
          <a:custGeom>
            <a:avLst/>
            <a:gdLst/>
            <a:ahLst/>
            <a:cxnLst/>
            <a:rect r="r" b="b" t="t" l="l"/>
            <a:pathLst>
              <a:path h="1873110" w="1916061">
                <a:moveTo>
                  <a:pt x="1916061" y="1873110"/>
                </a:moveTo>
                <a:lnTo>
                  <a:pt x="0" y="1873110"/>
                </a:lnTo>
                <a:lnTo>
                  <a:pt x="0" y="0"/>
                </a:lnTo>
                <a:lnTo>
                  <a:pt x="1916061" y="0"/>
                </a:lnTo>
                <a:lnTo>
                  <a:pt x="1916061" y="187311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3919324" y="3638190"/>
            <a:ext cx="10795461" cy="4718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8"/>
              </a:lnSpc>
            </a:pPr>
            <a:r>
              <a:rPr lang="en-US" b="true" sz="3665" spc="117">
                <a:solidFill>
                  <a:srgbClr val="142505"/>
                </a:solidFill>
                <a:latin typeface="Times New Roman MT Semi-Bold"/>
                <a:ea typeface="Times New Roman MT Semi-Bold"/>
                <a:cs typeface="Times New Roman MT Semi-Bold"/>
                <a:sym typeface="Times New Roman MT Semi-Bold"/>
              </a:rPr>
              <a:t>Step-by-Step Derivation</a:t>
            </a:r>
            <a:r>
              <a:rPr lang="en-US" sz="3665" spc="117">
                <a:solidFill>
                  <a:srgbClr val="142505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: Consider the running time function T(n) = 4n</a:t>
            </a:r>
            <a:r>
              <a:rPr lang="en-US" sz="3665" spc="117">
                <a:solidFill>
                  <a:srgbClr val="142505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2</a:t>
            </a:r>
            <a:r>
              <a:rPr lang="en-US" sz="3665" spc="117">
                <a:solidFill>
                  <a:srgbClr val="142505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+ 3n + 10.</a:t>
            </a:r>
          </a:p>
          <a:p>
            <a:pPr algn="l" marL="791329" indent="-395665" lvl="1">
              <a:lnSpc>
                <a:spcPts val="4618"/>
              </a:lnSpc>
              <a:buFont typeface="Arial"/>
              <a:buChar char="•"/>
            </a:pPr>
            <a:r>
              <a:rPr lang="en-US" sz="3665" spc="117">
                <a:solidFill>
                  <a:srgbClr val="142505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Identify terms: 4n</a:t>
            </a:r>
            <a:r>
              <a:rPr lang="en-US" sz="3665" spc="117">
                <a:solidFill>
                  <a:srgbClr val="142505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2</a:t>
            </a:r>
            <a:r>
              <a:rPr lang="en-US" sz="3665" spc="117">
                <a:solidFill>
                  <a:srgbClr val="142505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, 3n, and 10.</a:t>
            </a:r>
          </a:p>
          <a:p>
            <a:pPr algn="l" marL="791329" indent="-395665" lvl="1">
              <a:lnSpc>
                <a:spcPts val="4618"/>
              </a:lnSpc>
              <a:buFont typeface="Arial"/>
              <a:buChar char="•"/>
            </a:pPr>
            <a:r>
              <a:rPr lang="en-US" sz="3665" spc="117">
                <a:solidFill>
                  <a:srgbClr val="142505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Find the highest-order term: n</a:t>
            </a:r>
            <a:r>
              <a:rPr lang="en-US" sz="3665" spc="117">
                <a:solidFill>
                  <a:srgbClr val="142505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2</a:t>
            </a:r>
            <a:r>
              <a:rPr lang="en-US" sz="3665" spc="117">
                <a:solidFill>
                  <a:srgbClr val="142505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grows the fastest.</a:t>
            </a:r>
          </a:p>
          <a:p>
            <a:pPr algn="l" marL="791329" indent="-395665" lvl="1">
              <a:lnSpc>
                <a:spcPts val="4618"/>
              </a:lnSpc>
              <a:buFont typeface="Arial"/>
              <a:buChar char="•"/>
            </a:pPr>
            <a:r>
              <a:rPr lang="en-US" sz="3665" spc="117">
                <a:solidFill>
                  <a:srgbClr val="142505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Ignore constant coefficients: Drop the factor 4.</a:t>
            </a:r>
          </a:p>
          <a:p>
            <a:pPr algn="l" marL="791329" indent="-395665" lvl="1">
              <a:lnSpc>
                <a:spcPts val="4618"/>
              </a:lnSpc>
              <a:buFont typeface="Arial"/>
              <a:buChar char="•"/>
            </a:pPr>
            <a:r>
              <a:rPr lang="en-US" sz="3665" spc="117">
                <a:solidFill>
                  <a:srgbClr val="142505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Ignore lower-order terms: Drop 3n and 10.</a:t>
            </a:r>
          </a:p>
          <a:p>
            <a:pPr algn="l" marL="791329" indent="-395665" lvl="1">
              <a:lnSpc>
                <a:spcPts val="4618"/>
              </a:lnSpc>
              <a:buFont typeface="Arial"/>
              <a:buChar char="•"/>
            </a:pPr>
            <a:r>
              <a:rPr lang="en-US" sz="3665" spc="117">
                <a:solidFill>
                  <a:srgbClr val="142505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Final Result: T(n) = Θ(n</a:t>
            </a:r>
            <a:r>
              <a:rPr lang="en-US" sz="3665" spc="117">
                <a:solidFill>
                  <a:srgbClr val="142505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2</a:t>
            </a:r>
            <a:r>
              <a:rPr lang="en-US" sz="3665" spc="117">
                <a:solidFill>
                  <a:srgbClr val="142505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)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681056" y="2790877"/>
            <a:ext cx="12704810" cy="6032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08"/>
              </a:lnSpc>
            </a:pPr>
            <a:r>
              <a:rPr lang="en-US" b="true" sz="3145" spc="100">
                <a:solidFill>
                  <a:srgbClr val="142505"/>
                </a:solidFill>
                <a:latin typeface="Times New Roman MT Semi-Bold"/>
                <a:ea typeface="Times New Roman MT Semi-Bold"/>
                <a:cs typeface="Times New Roman MT Semi-Bold"/>
                <a:sym typeface="Times New Roman MT Semi-Bold"/>
              </a:rPr>
              <a:t>▪︎Algorithm Comparison</a:t>
            </a:r>
            <a:r>
              <a:rPr lang="en-US" sz="3145" spc="100">
                <a:solidFill>
                  <a:srgbClr val="142505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: Provides a standardized metric to determine which of two algorithms performs more efficiently for large datasets.</a:t>
            </a:r>
          </a:p>
          <a:p>
            <a:pPr algn="ctr">
              <a:lnSpc>
                <a:spcPts val="4308"/>
              </a:lnSpc>
            </a:pPr>
            <a:r>
              <a:rPr lang="en-US" sz="3145" spc="100">
                <a:solidFill>
                  <a:srgbClr val="142505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▪︎</a:t>
            </a:r>
            <a:r>
              <a:rPr lang="en-US" b="true" sz="3145" spc="100">
                <a:solidFill>
                  <a:srgbClr val="142505"/>
                </a:solidFill>
                <a:latin typeface="Times New Roman MT Semi-Bold"/>
                <a:ea typeface="Times New Roman MT Semi-Bold"/>
                <a:cs typeface="Times New Roman MT Semi-Bold"/>
                <a:sym typeface="Times New Roman MT Semi-Bold"/>
              </a:rPr>
              <a:t>Complexity Reduction</a:t>
            </a:r>
            <a:r>
              <a:rPr lang="en-US" sz="3145" spc="100">
                <a:solidFill>
                  <a:srgbClr val="142505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: Simplifies complex, multi-variable running-time expressions down to their clean, dominant growth term.</a:t>
            </a:r>
            <a:r>
              <a:rPr lang="en-US" b="true" sz="3145" spc="100">
                <a:solidFill>
                  <a:srgbClr val="142505"/>
                </a:solidFill>
                <a:latin typeface="Times New Roman MT Medium"/>
                <a:ea typeface="Times New Roman MT Medium"/>
                <a:cs typeface="Times New Roman MT Medium"/>
                <a:sym typeface="Times New Roman MT Medium"/>
              </a:rPr>
              <a:t>​</a:t>
            </a:r>
          </a:p>
          <a:p>
            <a:pPr algn="ctr">
              <a:lnSpc>
                <a:spcPts val="4308"/>
              </a:lnSpc>
            </a:pPr>
            <a:r>
              <a:rPr lang="en-US" b="true" sz="3145" spc="100">
                <a:solidFill>
                  <a:srgbClr val="142505"/>
                </a:solidFill>
                <a:latin typeface="Times New Roman MT Medium"/>
                <a:ea typeface="Times New Roman MT Medium"/>
                <a:cs typeface="Times New Roman MT Medium"/>
                <a:sym typeface="Times New Roman MT Medium"/>
              </a:rPr>
              <a:t>▪︎</a:t>
            </a:r>
            <a:r>
              <a:rPr lang="en-US" b="true" sz="3145" spc="100">
                <a:solidFill>
                  <a:srgbClr val="142505"/>
                </a:solidFill>
                <a:latin typeface="Times New Roman MT Semi-Bold"/>
                <a:ea typeface="Times New Roman MT Semi-Bold"/>
                <a:cs typeface="Times New Roman MT Semi-Bold"/>
                <a:sym typeface="Times New Roman MT Semi-Bold"/>
              </a:rPr>
              <a:t>Software Engineering Decisions</a:t>
            </a:r>
            <a:r>
              <a:rPr lang="en-US" sz="3145" spc="100">
                <a:solidFill>
                  <a:srgbClr val="142505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: Helps developers choose optimal data structures and sorting/searching algorithms during system architecture design.</a:t>
            </a:r>
          </a:p>
          <a:p>
            <a:pPr algn="ctr" marL="0" indent="0" lvl="0">
              <a:lnSpc>
                <a:spcPts val="4308"/>
              </a:lnSpc>
            </a:pPr>
            <a:r>
              <a:rPr lang="en-US" sz="3145" spc="100">
                <a:solidFill>
                  <a:srgbClr val="142505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▪︎</a:t>
            </a:r>
            <a:r>
              <a:rPr lang="en-US" b="true" sz="3145" spc="100">
                <a:solidFill>
                  <a:srgbClr val="142505"/>
                </a:solidFill>
                <a:latin typeface="Times New Roman MT Semi-Bold"/>
                <a:ea typeface="Times New Roman MT Semi-Bold"/>
                <a:cs typeface="Times New Roman MT Semi-Bold"/>
                <a:sym typeface="Times New Roman MT Semi-Bold"/>
              </a:rPr>
              <a:t>Hardware Independence</a:t>
            </a:r>
            <a:r>
              <a:rPr lang="en-US" sz="3145" spc="100">
                <a:solidFill>
                  <a:srgbClr val="142505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: Allows performance profiling to remain valid regardless of whether code runs on a vintage processor or a modern supercomputer.</a:t>
            </a:r>
          </a:p>
        </p:txBody>
      </p:sp>
      <p:sp>
        <p:nvSpPr>
          <p:cNvPr name="Freeform 3" id="3"/>
          <p:cNvSpPr/>
          <p:nvPr/>
        </p:nvSpPr>
        <p:spPr>
          <a:xfrm flipH="true" flipV="true" rot="7451233">
            <a:off x="-2344887" y="7555362"/>
            <a:ext cx="5908684" cy="6097141"/>
          </a:xfrm>
          <a:custGeom>
            <a:avLst/>
            <a:gdLst/>
            <a:ahLst/>
            <a:cxnLst/>
            <a:rect r="r" b="b" t="t" l="l"/>
            <a:pathLst>
              <a:path h="6097141" w="5908684">
                <a:moveTo>
                  <a:pt x="5908684" y="6097141"/>
                </a:moveTo>
                <a:lnTo>
                  <a:pt x="0" y="6097141"/>
                </a:lnTo>
                <a:lnTo>
                  <a:pt x="0" y="0"/>
                </a:lnTo>
                <a:lnTo>
                  <a:pt x="5908684" y="0"/>
                </a:lnTo>
                <a:lnTo>
                  <a:pt x="5908684" y="609714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-1210913" y="5853928"/>
            <a:ext cx="2075254" cy="2105885"/>
          </a:xfrm>
          <a:custGeom>
            <a:avLst/>
            <a:gdLst/>
            <a:ahLst/>
            <a:cxnLst/>
            <a:rect r="r" b="b" t="t" l="l"/>
            <a:pathLst>
              <a:path h="2105885" w="2075254">
                <a:moveTo>
                  <a:pt x="0" y="0"/>
                </a:moveTo>
                <a:lnTo>
                  <a:pt x="2075254" y="0"/>
                </a:lnTo>
                <a:lnTo>
                  <a:pt x="2075254" y="2105885"/>
                </a:lnTo>
                <a:lnTo>
                  <a:pt x="0" y="21058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3348766">
            <a:off x="14802365" y="-3471969"/>
            <a:ext cx="5908684" cy="6097141"/>
          </a:xfrm>
          <a:custGeom>
            <a:avLst/>
            <a:gdLst/>
            <a:ahLst/>
            <a:cxnLst/>
            <a:rect r="r" b="b" t="t" l="l"/>
            <a:pathLst>
              <a:path h="6097141" w="5908684">
                <a:moveTo>
                  <a:pt x="5908684" y="6097142"/>
                </a:moveTo>
                <a:lnTo>
                  <a:pt x="0" y="6097142"/>
                </a:lnTo>
                <a:lnTo>
                  <a:pt x="0" y="0"/>
                </a:lnTo>
                <a:lnTo>
                  <a:pt x="5908684" y="0"/>
                </a:lnTo>
                <a:lnTo>
                  <a:pt x="5908684" y="609714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5400000">
            <a:off x="17501821" y="2220722"/>
            <a:ext cx="2075254" cy="2105885"/>
          </a:xfrm>
          <a:custGeom>
            <a:avLst/>
            <a:gdLst/>
            <a:ahLst/>
            <a:cxnLst/>
            <a:rect r="r" b="b" t="t" l="l"/>
            <a:pathLst>
              <a:path h="2105885" w="2075254">
                <a:moveTo>
                  <a:pt x="0" y="0"/>
                </a:moveTo>
                <a:lnTo>
                  <a:pt x="2075254" y="0"/>
                </a:lnTo>
                <a:lnTo>
                  <a:pt x="2075254" y="2105885"/>
                </a:lnTo>
                <a:lnTo>
                  <a:pt x="0" y="21058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389912" y="8367606"/>
            <a:ext cx="5768671" cy="1919394"/>
          </a:xfrm>
          <a:custGeom>
            <a:avLst/>
            <a:gdLst/>
            <a:ahLst/>
            <a:cxnLst/>
            <a:rect r="r" b="b" t="t" l="l"/>
            <a:pathLst>
              <a:path h="1919394" w="5768671">
                <a:moveTo>
                  <a:pt x="0" y="0"/>
                </a:moveTo>
                <a:lnTo>
                  <a:pt x="5768671" y="0"/>
                </a:lnTo>
                <a:lnTo>
                  <a:pt x="5768671" y="1919394"/>
                </a:lnTo>
                <a:lnTo>
                  <a:pt x="0" y="191939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true" rot="0">
            <a:off x="879657" y="7944497"/>
            <a:ext cx="1639119" cy="1889663"/>
          </a:xfrm>
          <a:custGeom>
            <a:avLst/>
            <a:gdLst/>
            <a:ahLst/>
            <a:cxnLst/>
            <a:rect r="r" b="b" t="t" l="l"/>
            <a:pathLst>
              <a:path h="1889663" w="1639119">
                <a:moveTo>
                  <a:pt x="1639119" y="1889663"/>
                </a:moveTo>
                <a:lnTo>
                  <a:pt x="0" y="1889663"/>
                </a:lnTo>
                <a:lnTo>
                  <a:pt x="0" y="0"/>
                </a:lnTo>
                <a:lnTo>
                  <a:pt x="1639119" y="0"/>
                </a:lnTo>
                <a:lnTo>
                  <a:pt x="1639119" y="1889663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847387" y="346375"/>
            <a:ext cx="1639119" cy="1889663"/>
          </a:xfrm>
          <a:custGeom>
            <a:avLst/>
            <a:gdLst/>
            <a:ahLst/>
            <a:cxnLst/>
            <a:rect r="r" b="b" t="t" l="l"/>
            <a:pathLst>
              <a:path h="1889663" w="1639119">
                <a:moveTo>
                  <a:pt x="0" y="0"/>
                </a:moveTo>
                <a:lnTo>
                  <a:pt x="1639119" y="0"/>
                </a:lnTo>
                <a:lnTo>
                  <a:pt x="1639119" y="1889662"/>
                </a:lnTo>
                <a:lnTo>
                  <a:pt x="0" y="188966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3733274" y="0"/>
            <a:ext cx="5768671" cy="1919394"/>
          </a:xfrm>
          <a:custGeom>
            <a:avLst/>
            <a:gdLst/>
            <a:ahLst/>
            <a:cxnLst/>
            <a:rect r="r" b="b" t="t" l="l"/>
            <a:pathLst>
              <a:path h="1919394" w="5768671">
                <a:moveTo>
                  <a:pt x="0" y="0"/>
                </a:moveTo>
                <a:lnTo>
                  <a:pt x="5768671" y="0"/>
                </a:lnTo>
                <a:lnTo>
                  <a:pt x="5768671" y="1919394"/>
                </a:lnTo>
                <a:lnTo>
                  <a:pt x="0" y="191939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6923920">
            <a:off x="3158018" y="-2047815"/>
            <a:ext cx="2760252" cy="2800994"/>
          </a:xfrm>
          <a:custGeom>
            <a:avLst/>
            <a:gdLst/>
            <a:ahLst/>
            <a:cxnLst/>
            <a:rect r="r" b="b" t="t" l="l"/>
            <a:pathLst>
              <a:path h="2800994" w="2760252">
                <a:moveTo>
                  <a:pt x="0" y="0"/>
                </a:moveTo>
                <a:lnTo>
                  <a:pt x="2760252" y="0"/>
                </a:lnTo>
                <a:lnTo>
                  <a:pt x="2760252" y="2800994"/>
                </a:lnTo>
                <a:lnTo>
                  <a:pt x="0" y="28009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6923920">
            <a:off x="12892619" y="9367481"/>
            <a:ext cx="2760252" cy="2800994"/>
          </a:xfrm>
          <a:custGeom>
            <a:avLst/>
            <a:gdLst/>
            <a:ahLst/>
            <a:cxnLst/>
            <a:rect r="r" b="b" t="t" l="l"/>
            <a:pathLst>
              <a:path h="2800994" w="2760252">
                <a:moveTo>
                  <a:pt x="0" y="0"/>
                </a:moveTo>
                <a:lnTo>
                  <a:pt x="2760252" y="0"/>
                </a:lnTo>
                <a:lnTo>
                  <a:pt x="2760252" y="2800994"/>
                </a:lnTo>
                <a:lnTo>
                  <a:pt x="0" y="28009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538144" y="1334893"/>
            <a:ext cx="8675040" cy="1159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23"/>
              </a:lnSpc>
            </a:pPr>
            <a:r>
              <a:rPr lang="en-US" sz="7548" spc="347">
                <a:solidFill>
                  <a:srgbClr val="142505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APPLICATIONS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7451233">
            <a:off x="-2344887" y="7555362"/>
            <a:ext cx="5908684" cy="6097141"/>
          </a:xfrm>
          <a:custGeom>
            <a:avLst/>
            <a:gdLst/>
            <a:ahLst/>
            <a:cxnLst/>
            <a:rect r="r" b="b" t="t" l="l"/>
            <a:pathLst>
              <a:path h="6097141" w="5908684">
                <a:moveTo>
                  <a:pt x="5908684" y="6097141"/>
                </a:moveTo>
                <a:lnTo>
                  <a:pt x="0" y="6097141"/>
                </a:lnTo>
                <a:lnTo>
                  <a:pt x="0" y="0"/>
                </a:lnTo>
                <a:lnTo>
                  <a:pt x="5908684" y="0"/>
                </a:lnTo>
                <a:lnTo>
                  <a:pt x="5908684" y="609714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3348766">
            <a:off x="14802365" y="-3471969"/>
            <a:ext cx="5908684" cy="6097141"/>
          </a:xfrm>
          <a:custGeom>
            <a:avLst/>
            <a:gdLst/>
            <a:ahLst/>
            <a:cxnLst/>
            <a:rect r="r" b="b" t="t" l="l"/>
            <a:pathLst>
              <a:path h="6097141" w="5908684">
                <a:moveTo>
                  <a:pt x="5908684" y="6097142"/>
                </a:moveTo>
                <a:lnTo>
                  <a:pt x="0" y="6097142"/>
                </a:lnTo>
                <a:lnTo>
                  <a:pt x="0" y="0"/>
                </a:lnTo>
                <a:lnTo>
                  <a:pt x="5908684" y="0"/>
                </a:lnTo>
                <a:lnTo>
                  <a:pt x="5908684" y="609714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259664" y="9540301"/>
            <a:ext cx="5768671" cy="1919394"/>
          </a:xfrm>
          <a:custGeom>
            <a:avLst/>
            <a:gdLst/>
            <a:ahLst/>
            <a:cxnLst/>
            <a:rect r="r" b="b" t="t" l="l"/>
            <a:pathLst>
              <a:path h="1919394" w="5768671">
                <a:moveTo>
                  <a:pt x="0" y="0"/>
                </a:moveTo>
                <a:lnTo>
                  <a:pt x="5768672" y="0"/>
                </a:lnTo>
                <a:lnTo>
                  <a:pt x="5768672" y="1919395"/>
                </a:lnTo>
                <a:lnTo>
                  <a:pt x="0" y="19193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4520574">
            <a:off x="15375024" y="7387940"/>
            <a:ext cx="4738374" cy="4548839"/>
          </a:xfrm>
          <a:custGeom>
            <a:avLst/>
            <a:gdLst/>
            <a:ahLst/>
            <a:cxnLst/>
            <a:rect r="r" b="b" t="t" l="l"/>
            <a:pathLst>
              <a:path h="4548839" w="4738374">
                <a:moveTo>
                  <a:pt x="0" y="0"/>
                </a:moveTo>
                <a:lnTo>
                  <a:pt x="4738374" y="0"/>
                </a:lnTo>
                <a:lnTo>
                  <a:pt x="4738374" y="4548839"/>
                </a:lnTo>
                <a:lnTo>
                  <a:pt x="0" y="454883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400000">
            <a:off x="-2085229" y="-2025628"/>
            <a:ext cx="5102157" cy="4898071"/>
          </a:xfrm>
          <a:custGeom>
            <a:avLst/>
            <a:gdLst/>
            <a:ahLst/>
            <a:cxnLst/>
            <a:rect r="r" b="b" t="t" l="l"/>
            <a:pathLst>
              <a:path h="4898071" w="5102157">
                <a:moveTo>
                  <a:pt x="0" y="0"/>
                </a:moveTo>
                <a:lnTo>
                  <a:pt x="5102158" y="0"/>
                </a:lnTo>
                <a:lnTo>
                  <a:pt x="5102158" y="4898071"/>
                </a:lnTo>
                <a:lnTo>
                  <a:pt x="0" y="489807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92806" y="629430"/>
            <a:ext cx="2247403" cy="1046064"/>
          </a:xfrm>
          <a:custGeom>
            <a:avLst/>
            <a:gdLst/>
            <a:ahLst/>
            <a:cxnLst/>
            <a:rect r="r" b="b" t="t" l="l"/>
            <a:pathLst>
              <a:path h="1046064" w="2247403">
                <a:moveTo>
                  <a:pt x="0" y="0"/>
                </a:moveTo>
                <a:lnTo>
                  <a:pt x="2247404" y="0"/>
                </a:lnTo>
                <a:lnTo>
                  <a:pt x="2247404" y="1046064"/>
                </a:lnTo>
                <a:lnTo>
                  <a:pt x="0" y="104606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0">
            <a:off x="14714785" y="8464356"/>
            <a:ext cx="2087163" cy="971480"/>
          </a:xfrm>
          <a:custGeom>
            <a:avLst/>
            <a:gdLst/>
            <a:ahLst/>
            <a:cxnLst/>
            <a:rect r="r" b="b" t="t" l="l"/>
            <a:pathLst>
              <a:path h="971480" w="2087163">
                <a:moveTo>
                  <a:pt x="0" y="971480"/>
                </a:moveTo>
                <a:lnTo>
                  <a:pt x="2087164" y="971480"/>
                </a:lnTo>
                <a:lnTo>
                  <a:pt x="2087164" y="0"/>
                </a:lnTo>
                <a:lnTo>
                  <a:pt x="0" y="0"/>
                </a:lnTo>
                <a:lnTo>
                  <a:pt x="0" y="97148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-5400000">
            <a:off x="-1241738" y="3467618"/>
            <a:ext cx="2483476" cy="3015119"/>
          </a:xfrm>
          <a:custGeom>
            <a:avLst/>
            <a:gdLst/>
            <a:ahLst/>
            <a:cxnLst/>
            <a:rect r="r" b="b" t="t" l="l"/>
            <a:pathLst>
              <a:path h="3015119" w="2483476">
                <a:moveTo>
                  <a:pt x="2483476" y="0"/>
                </a:moveTo>
                <a:lnTo>
                  <a:pt x="0" y="0"/>
                </a:lnTo>
                <a:lnTo>
                  <a:pt x="0" y="3015119"/>
                </a:lnTo>
                <a:lnTo>
                  <a:pt x="2483476" y="3015119"/>
                </a:lnTo>
                <a:lnTo>
                  <a:pt x="2483476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true" rot="-5400000">
            <a:off x="16982219" y="4160340"/>
            <a:ext cx="2483476" cy="3015119"/>
          </a:xfrm>
          <a:custGeom>
            <a:avLst/>
            <a:gdLst/>
            <a:ahLst/>
            <a:cxnLst/>
            <a:rect r="r" b="b" t="t" l="l"/>
            <a:pathLst>
              <a:path h="3015119" w="2483476">
                <a:moveTo>
                  <a:pt x="0" y="3015118"/>
                </a:moveTo>
                <a:lnTo>
                  <a:pt x="2483476" y="3015118"/>
                </a:lnTo>
                <a:lnTo>
                  <a:pt x="2483476" y="0"/>
                </a:lnTo>
                <a:lnTo>
                  <a:pt x="0" y="0"/>
                </a:lnTo>
                <a:lnTo>
                  <a:pt x="0" y="3015118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240210" y="3036462"/>
            <a:ext cx="11580953" cy="6221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03"/>
              </a:lnSpc>
            </a:pPr>
            <a:r>
              <a:rPr lang="en-US" sz="2994" spc="95">
                <a:solidFill>
                  <a:srgbClr val="142505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Theta (Θ) Notation provides a tight asymptotic bound on an algorithm's running time.</a:t>
            </a:r>
          </a:p>
          <a:p>
            <a:pPr algn="ctr">
              <a:lnSpc>
                <a:spcPts val="4103"/>
              </a:lnSpc>
            </a:pPr>
            <a:r>
              <a:rPr lang="en-US" sz="2994" spc="95">
                <a:solidFill>
                  <a:srgbClr val="142505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Analyzing simple loops reveals clear growth patterns, such as a single loop taking Θ(n) time, nested loops taking Θ(n</a:t>
            </a:r>
            <a:r>
              <a:rPr lang="en-US" sz="2994" spc="95">
                <a:solidFill>
                  <a:srgbClr val="142505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2</a:t>
            </a:r>
            <a:r>
              <a:rPr lang="en-US" sz="2994" spc="95">
                <a:solidFill>
                  <a:srgbClr val="142505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) time, and triple nested loops taking Θ(n</a:t>
            </a:r>
            <a:r>
              <a:rPr lang="en-US" sz="2994" spc="95">
                <a:solidFill>
                  <a:srgbClr val="142505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3</a:t>
            </a:r>
            <a:r>
              <a:rPr lang="en-US" sz="2994" spc="95">
                <a:solidFill>
                  <a:srgbClr val="142505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) time.</a:t>
            </a:r>
          </a:p>
          <a:p>
            <a:pPr algn="ctr">
              <a:lnSpc>
                <a:spcPts val="4103"/>
              </a:lnSpc>
            </a:pPr>
            <a:r>
              <a:rPr lang="en-US" sz="2994" spc="95">
                <a:solidFill>
                  <a:srgbClr val="142505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These principles find wide applications in algorithm comparison, complexity reduction, and hardware-independent software engineering decisions.</a:t>
            </a:r>
          </a:p>
          <a:p>
            <a:pPr algn="ctr" marL="0" indent="0" lvl="0">
              <a:lnSpc>
                <a:spcPts val="4103"/>
              </a:lnSpc>
            </a:pPr>
            <a:r>
              <a:rPr lang="en-US" sz="2994" spc="95">
                <a:solidFill>
                  <a:srgbClr val="142505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Ultimately, it serves as an indispensable tool in computer science to capture the true asymptotic growth rate of computational processes and empower developers to architect scalable, high-performance systems.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6259664" y="-1070163"/>
            <a:ext cx="5768671" cy="1919394"/>
          </a:xfrm>
          <a:custGeom>
            <a:avLst/>
            <a:gdLst/>
            <a:ahLst/>
            <a:cxnLst/>
            <a:rect r="r" b="b" t="t" l="l"/>
            <a:pathLst>
              <a:path h="1919394" w="5768671">
                <a:moveTo>
                  <a:pt x="0" y="0"/>
                </a:moveTo>
                <a:lnTo>
                  <a:pt x="5768672" y="0"/>
                </a:lnTo>
                <a:lnTo>
                  <a:pt x="5768672" y="1919394"/>
                </a:lnTo>
                <a:lnTo>
                  <a:pt x="0" y="19193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549529" y="7789249"/>
            <a:ext cx="1916061" cy="1873110"/>
          </a:xfrm>
          <a:custGeom>
            <a:avLst/>
            <a:gdLst/>
            <a:ahLst/>
            <a:cxnLst/>
            <a:rect r="r" b="b" t="t" l="l"/>
            <a:pathLst>
              <a:path h="1873110" w="1916061">
                <a:moveTo>
                  <a:pt x="0" y="0"/>
                </a:moveTo>
                <a:lnTo>
                  <a:pt x="1916061" y="0"/>
                </a:lnTo>
                <a:lnTo>
                  <a:pt x="1916061" y="1873111"/>
                </a:lnTo>
                <a:lnTo>
                  <a:pt x="0" y="187311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573215" y="1488063"/>
            <a:ext cx="11141571" cy="1486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1"/>
              </a:lnSpc>
            </a:pPr>
            <a:r>
              <a:rPr lang="en-US" sz="9694" spc="445">
                <a:solidFill>
                  <a:srgbClr val="142505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CONCLUSION</a:t>
            </a:r>
          </a:p>
        </p:txBody>
      </p:sp>
      <p:sp>
        <p:nvSpPr>
          <p:cNvPr name="Freeform 15" id="15"/>
          <p:cNvSpPr/>
          <p:nvPr/>
        </p:nvSpPr>
        <p:spPr>
          <a:xfrm flipH="true" flipV="true" rot="0">
            <a:off x="15758367" y="423408"/>
            <a:ext cx="1916061" cy="1873110"/>
          </a:xfrm>
          <a:custGeom>
            <a:avLst/>
            <a:gdLst/>
            <a:ahLst/>
            <a:cxnLst/>
            <a:rect r="r" b="b" t="t" l="l"/>
            <a:pathLst>
              <a:path h="1873110" w="1916061">
                <a:moveTo>
                  <a:pt x="1916061" y="1873110"/>
                </a:moveTo>
                <a:lnTo>
                  <a:pt x="0" y="1873110"/>
                </a:lnTo>
                <a:lnTo>
                  <a:pt x="0" y="0"/>
                </a:lnTo>
                <a:lnTo>
                  <a:pt x="1916061" y="0"/>
                </a:lnTo>
                <a:lnTo>
                  <a:pt x="1916061" y="187311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840561" y="3199446"/>
            <a:ext cx="10403709" cy="2669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73"/>
              </a:lnSpc>
            </a:pPr>
            <a:r>
              <a:rPr lang="en-US" sz="17399" spc="800">
                <a:solidFill>
                  <a:srgbClr val="142505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THANK </a:t>
            </a:r>
          </a:p>
        </p:txBody>
      </p:sp>
      <p:sp>
        <p:nvSpPr>
          <p:cNvPr name="Freeform 3" id="3"/>
          <p:cNvSpPr/>
          <p:nvPr/>
        </p:nvSpPr>
        <p:spPr>
          <a:xfrm flipH="true" flipV="true" rot="7451233">
            <a:off x="-2344887" y="7555362"/>
            <a:ext cx="5908684" cy="6097141"/>
          </a:xfrm>
          <a:custGeom>
            <a:avLst/>
            <a:gdLst/>
            <a:ahLst/>
            <a:cxnLst/>
            <a:rect r="r" b="b" t="t" l="l"/>
            <a:pathLst>
              <a:path h="6097141" w="5908684">
                <a:moveTo>
                  <a:pt x="5908684" y="6097141"/>
                </a:moveTo>
                <a:lnTo>
                  <a:pt x="0" y="6097141"/>
                </a:lnTo>
                <a:lnTo>
                  <a:pt x="0" y="0"/>
                </a:lnTo>
                <a:lnTo>
                  <a:pt x="5908684" y="0"/>
                </a:lnTo>
                <a:lnTo>
                  <a:pt x="5908684" y="609714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-1210913" y="5853928"/>
            <a:ext cx="2075254" cy="2105885"/>
          </a:xfrm>
          <a:custGeom>
            <a:avLst/>
            <a:gdLst/>
            <a:ahLst/>
            <a:cxnLst/>
            <a:rect r="r" b="b" t="t" l="l"/>
            <a:pathLst>
              <a:path h="2105885" w="2075254">
                <a:moveTo>
                  <a:pt x="0" y="0"/>
                </a:moveTo>
                <a:lnTo>
                  <a:pt x="2075254" y="0"/>
                </a:lnTo>
                <a:lnTo>
                  <a:pt x="2075254" y="2105885"/>
                </a:lnTo>
                <a:lnTo>
                  <a:pt x="0" y="21058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3348766">
            <a:off x="14802365" y="-3471969"/>
            <a:ext cx="5908684" cy="6097141"/>
          </a:xfrm>
          <a:custGeom>
            <a:avLst/>
            <a:gdLst/>
            <a:ahLst/>
            <a:cxnLst/>
            <a:rect r="r" b="b" t="t" l="l"/>
            <a:pathLst>
              <a:path h="6097141" w="5908684">
                <a:moveTo>
                  <a:pt x="5908684" y="6097142"/>
                </a:moveTo>
                <a:lnTo>
                  <a:pt x="0" y="6097142"/>
                </a:lnTo>
                <a:lnTo>
                  <a:pt x="0" y="0"/>
                </a:lnTo>
                <a:lnTo>
                  <a:pt x="5908684" y="0"/>
                </a:lnTo>
                <a:lnTo>
                  <a:pt x="5908684" y="609714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5400000">
            <a:off x="17501821" y="2220722"/>
            <a:ext cx="2075254" cy="2105885"/>
          </a:xfrm>
          <a:custGeom>
            <a:avLst/>
            <a:gdLst/>
            <a:ahLst/>
            <a:cxnLst/>
            <a:rect r="r" b="b" t="t" l="l"/>
            <a:pathLst>
              <a:path h="2105885" w="2075254">
                <a:moveTo>
                  <a:pt x="0" y="0"/>
                </a:moveTo>
                <a:lnTo>
                  <a:pt x="2075254" y="0"/>
                </a:lnTo>
                <a:lnTo>
                  <a:pt x="2075254" y="2105885"/>
                </a:lnTo>
                <a:lnTo>
                  <a:pt x="0" y="21058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389912" y="8367606"/>
            <a:ext cx="5768671" cy="1919394"/>
          </a:xfrm>
          <a:custGeom>
            <a:avLst/>
            <a:gdLst/>
            <a:ahLst/>
            <a:cxnLst/>
            <a:rect r="r" b="b" t="t" l="l"/>
            <a:pathLst>
              <a:path h="1919394" w="5768671">
                <a:moveTo>
                  <a:pt x="0" y="0"/>
                </a:moveTo>
                <a:lnTo>
                  <a:pt x="5768671" y="0"/>
                </a:lnTo>
                <a:lnTo>
                  <a:pt x="5768671" y="1919394"/>
                </a:lnTo>
                <a:lnTo>
                  <a:pt x="0" y="191939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-5400000">
            <a:off x="-1241738" y="2175060"/>
            <a:ext cx="2483476" cy="3015119"/>
          </a:xfrm>
          <a:custGeom>
            <a:avLst/>
            <a:gdLst/>
            <a:ahLst/>
            <a:cxnLst/>
            <a:rect r="r" b="b" t="t" l="l"/>
            <a:pathLst>
              <a:path h="3015119" w="2483476">
                <a:moveTo>
                  <a:pt x="2483476" y="0"/>
                </a:moveTo>
                <a:lnTo>
                  <a:pt x="0" y="0"/>
                </a:lnTo>
                <a:lnTo>
                  <a:pt x="0" y="3015119"/>
                </a:lnTo>
                <a:lnTo>
                  <a:pt x="2483476" y="3015119"/>
                </a:lnTo>
                <a:lnTo>
                  <a:pt x="2483476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-5400000">
            <a:off x="16843093" y="4701429"/>
            <a:ext cx="2483476" cy="3015119"/>
          </a:xfrm>
          <a:custGeom>
            <a:avLst/>
            <a:gdLst/>
            <a:ahLst/>
            <a:cxnLst/>
            <a:rect r="r" b="b" t="t" l="l"/>
            <a:pathLst>
              <a:path h="3015119" w="2483476">
                <a:moveTo>
                  <a:pt x="0" y="3015119"/>
                </a:moveTo>
                <a:lnTo>
                  <a:pt x="2483477" y="3015119"/>
                </a:lnTo>
                <a:lnTo>
                  <a:pt x="2483477" y="0"/>
                </a:lnTo>
                <a:lnTo>
                  <a:pt x="0" y="0"/>
                </a:lnTo>
                <a:lnTo>
                  <a:pt x="0" y="3015119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true" rot="0">
            <a:off x="879657" y="7944497"/>
            <a:ext cx="1639119" cy="1889663"/>
          </a:xfrm>
          <a:custGeom>
            <a:avLst/>
            <a:gdLst/>
            <a:ahLst/>
            <a:cxnLst/>
            <a:rect r="r" b="b" t="t" l="l"/>
            <a:pathLst>
              <a:path h="1889663" w="1639119">
                <a:moveTo>
                  <a:pt x="1639119" y="1889663"/>
                </a:moveTo>
                <a:lnTo>
                  <a:pt x="0" y="1889663"/>
                </a:lnTo>
                <a:lnTo>
                  <a:pt x="0" y="0"/>
                </a:lnTo>
                <a:lnTo>
                  <a:pt x="1639119" y="0"/>
                </a:lnTo>
                <a:lnTo>
                  <a:pt x="1639119" y="1889663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5847387" y="346375"/>
            <a:ext cx="1639119" cy="1889663"/>
          </a:xfrm>
          <a:custGeom>
            <a:avLst/>
            <a:gdLst/>
            <a:ahLst/>
            <a:cxnLst/>
            <a:rect r="r" b="b" t="t" l="l"/>
            <a:pathLst>
              <a:path h="1889663" w="1639119">
                <a:moveTo>
                  <a:pt x="0" y="0"/>
                </a:moveTo>
                <a:lnTo>
                  <a:pt x="1639119" y="0"/>
                </a:lnTo>
                <a:lnTo>
                  <a:pt x="1639119" y="1889662"/>
                </a:lnTo>
                <a:lnTo>
                  <a:pt x="0" y="188966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3733274" y="0"/>
            <a:ext cx="5768671" cy="1919394"/>
          </a:xfrm>
          <a:custGeom>
            <a:avLst/>
            <a:gdLst/>
            <a:ahLst/>
            <a:cxnLst/>
            <a:rect r="r" b="b" t="t" l="l"/>
            <a:pathLst>
              <a:path h="1919394" w="5768671">
                <a:moveTo>
                  <a:pt x="0" y="0"/>
                </a:moveTo>
                <a:lnTo>
                  <a:pt x="5768671" y="0"/>
                </a:lnTo>
                <a:lnTo>
                  <a:pt x="5768671" y="1919394"/>
                </a:lnTo>
                <a:lnTo>
                  <a:pt x="0" y="191939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6923920">
            <a:off x="3158018" y="-2047815"/>
            <a:ext cx="2760252" cy="2800994"/>
          </a:xfrm>
          <a:custGeom>
            <a:avLst/>
            <a:gdLst/>
            <a:ahLst/>
            <a:cxnLst/>
            <a:rect r="r" b="b" t="t" l="l"/>
            <a:pathLst>
              <a:path h="2800994" w="2760252">
                <a:moveTo>
                  <a:pt x="0" y="0"/>
                </a:moveTo>
                <a:lnTo>
                  <a:pt x="2760252" y="0"/>
                </a:lnTo>
                <a:lnTo>
                  <a:pt x="2760252" y="2800994"/>
                </a:lnTo>
                <a:lnTo>
                  <a:pt x="0" y="28009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6923920">
            <a:off x="12892619" y="9367481"/>
            <a:ext cx="2760252" cy="2800994"/>
          </a:xfrm>
          <a:custGeom>
            <a:avLst/>
            <a:gdLst/>
            <a:ahLst/>
            <a:cxnLst/>
            <a:rect r="r" b="b" t="t" l="l"/>
            <a:pathLst>
              <a:path h="2800994" w="2760252">
                <a:moveTo>
                  <a:pt x="0" y="0"/>
                </a:moveTo>
                <a:lnTo>
                  <a:pt x="2760252" y="0"/>
                </a:lnTo>
                <a:lnTo>
                  <a:pt x="2760252" y="2800994"/>
                </a:lnTo>
                <a:lnTo>
                  <a:pt x="0" y="28009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8602597" y="5365771"/>
            <a:ext cx="7607646" cy="1716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50"/>
              </a:lnSpc>
            </a:pPr>
            <a:r>
              <a:rPr lang="en-US" sz="12723" spc="585">
                <a:solidFill>
                  <a:srgbClr val="142505"/>
                </a:solidFill>
                <a:latin typeface="Brittany"/>
                <a:ea typeface="Brittany"/>
                <a:cs typeface="Brittany"/>
                <a:sym typeface="Brittany"/>
              </a:rPr>
              <a:t>Y</a:t>
            </a:r>
            <a:r>
              <a:rPr lang="en-US" sz="12723" spc="585">
                <a:solidFill>
                  <a:srgbClr val="142505"/>
                </a:solidFill>
                <a:latin typeface="Brittany"/>
                <a:ea typeface="Brittany"/>
                <a:cs typeface="Brittany"/>
                <a:sym typeface="Brittany"/>
              </a:rPr>
              <a:t>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DAHXYuCQWnk</dc:identifier>
  <dcterms:modified xsi:type="dcterms:W3CDTF">2011-08-01T06:04:30Z</dcterms:modified>
  <cp:revision>1</cp:revision>
  <dc:title>Theta_Notation_DAA_10_Slides_Expanded.pptx</dc:title>
</cp:coreProperties>
</file>